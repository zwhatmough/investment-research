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100" b="0" i="0" u="none" strike="noStrike">
                <a:solidFill>
                  <a:srgbClr val="15251D"/>
                </a:solidFill>
                <a:latin typeface="Calibri"/>
              </a:defRPr>
            </a:pPr>
            <a:r>
              <a:rPr sz="1100" b="0" i="0" u="none" strike="noStrike">
                <a:solidFill>
                  <a:srgbClr val="15251D"/>
                </a:solidFill>
                <a:latin typeface="Calibri"/>
              </a:rPr>
              <a:t>Market growth is decelerating (% year on year)</a:t>
            </a:r>
          </a:p>
        </c:rich>
      </c:tx>
      <c:layout/>
      <c:overlay val="0"/>
    </c:title>
    <c:autoTitleDeleted val="0"/>
    <c:plotArea>
      <c:layout/>
      <c:barChart>
        <c:barDir val="col"/>
        <c:grouping val="clustered"/>
        <c:varyColors val="0"/>
        <c:ser>
          <c:idx val="0"/>
          <c:order val="0"/>
          <c:tx>
            <c:strRef>
              <c:f>Sheet1!$B$1</c:f>
              <c:strCache>
                <c:ptCount val="1"/>
                <c:pt idx="0">
                  <c:v>UK food-to-go market growth</c:v>
                </c:pt>
              </c:strCache>
            </c:strRef>
          </c:tx>
          <c:spPr>
            <a:solidFill>
              <a:srgbClr val="1E7A4C"/>
            </a:solidFill>
            <a:effectLst/>
          </c:spPr>
          <c:invertIfNegative val="0"/>
          <c:dLbls>
            <c:numFmt formatCode="0.0&quot;%&quot;" sourceLinked="0"/>
            <c:txPr>
              <a:bodyPr/>
              <a:lstStyle/>
              <a:p>
                <a:pPr>
                  <a:defRPr b="0" i="0" strike="noStrike" sz="1000" u="none">
                    <a:solidFill>
                      <a:srgbClr val="15251D"/>
                    </a:solidFill>
                    <a:latin typeface="Arial"/>
                  </a:defRPr>
                </a:pPr>
              </a:p>
            </c:txPr>
            <c:showLegendKey val="0"/>
            <c:showVal val="1"/>
            <c:showCatName val="0"/>
            <c:showSerName val="0"/>
            <c:showPercent val="0"/>
            <c:showBubbleSize val="0"/>
            <c:showLeaderLines val="0"/>
          </c:dLbls>
          <c:cat>
            <c:multiLvlStrRef>
              <c:f>Sheet1!$A$2:$A$5</c:f>
              <c:multiLvlStrCache>
                <c:ptCount val="4"/>
                <c:lvl>
                  <c:pt idx="0">
                    <c:v>2023</c:v>
                  </c:pt>
                  <c:pt idx="1">
                    <c:v>2024</c:v>
                  </c:pt>
                  <c:pt idx="2">
                    <c:v>2025</c:v>
                  </c:pt>
                  <c:pt idx="3">
                    <c:v>2026F</c:v>
                  </c:pt>
                </c:lvl>
              </c:multiLvlStrCache>
            </c:multiLvlStrRef>
          </c:cat>
          <c:val>
            <c:numRef>
              <c:f>Sheet1!$B$2:$B$5</c:f>
              <c:numCache>
                <c:formatCode>General</c:formatCode>
                <c:ptCount val="4"/>
                <c:pt idx="0">
                  <c:v>8.3</c:v>
                </c:pt>
                <c:pt idx="1">
                  <c:v>5.3</c:v>
                </c:pt>
                <c:pt idx="2">
                  <c:v>4.5</c:v>
                </c:pt>
                <c:pt idx="3">
                  <c:v>3.4</c:v>
                </c:pt>
              </c:numCache>
            </c:numRef>
          </c:val>
        </c:ser>
        <c:dLbls>
          <c:numFmt formatCode="0.0&quot;%&quot;" sourceLinked="0"/>
          <c:txPr>
            <a:bodyPr/>
            <a:lstStyle/>
            <a:p>
              <a:pPr>
                <a:defRPr b="0" i="0" strike="noStrike" sz="1000" u="none">
                  <a:solidFill>
                    <a:srgbClr val="15251D"/>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E6B64"/>
                </a:solidFill>
                <a:latin typeface="Arial"/>
              </a:defRPr>
            </a:pPr>
            <a:endParaRPr lang="en-US"/>
          </a:p>
        </c:txPr>
        <c:crossAx val="2094734552"/>
        <c:crosses val="autoZero"/>
        <c:auto val="1"/>
        <c:lblAlgn val="ctr"/>
        <c:noMultiLvlLbl val="1"/>
      </c:catAx>
      <c:valAx>
        <c:axId val="2094734552"/>
        <c:scaling>
          <c:orientation val="minMax"/>
          <c:max val="10"/>
        </c:scaling>
        <c:delete val="0"/>
        <c:axPos val="l"/>
        <c:majorGridlines>
          <c:spPr>
            <a:ln w="12700" cap="flat">
              <a:solidFill>
                <a:srgbClr val="EDF0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E6B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050" b="0" i="0" u="none" strike="noStrike">
                <a:solidFill>
                  <a:srgbClr val="15251D"/>
                </a:solidFill>
                <a:latin typeface="Calibri"/>
              </a:defRPr>
            </a:pPr>
            <a:r>
              <a:rPr sz="1050" b="0" i="0" u="none" strike="noStrike">
                <a:solidFill>
                  <a:srgbClr val="15251D"/>
                </a:solidFill>
                <a:latin typeface="Calibri"/>
              </a:rPr>
              <a:t>Lunchtime meal deal, £, accessed 31 August 2026</a:t>
            </a:r>
          </a:p>
        </c:rich>
      </c:tx>
      <c:layout/>
      <c:overlay val="0"/>
    </c:title>
    <c:autoTitleDeleted val="0"/>
    <c:plotArea>
      <c:layout/>
      <c:barChart>
        <c:barDir val="bar"/>
        <c:grouping val="clustered"/>
        <c:varyColors val="0"/>
        <c:ser>
          <c:idx val="0"/>
          <c:order val="0"/>
          <c:tx>
            <c:strRef>
              <c:f>Sheet1!$B$1</c:f>
              <c:strCache>
                <c:ptCount val="1"/>
                <c:pt idx="0">
                  <c:v>Lunchtime meal deal price</c:v>
                </c:pt>
              </c:strCache>
            </c:strRef>
          </c:tx>
          <c:spPr>
            <a:solidFill>
              <a:srgbClr val="1E7A4C"/>
            </a:solidFill>
            <a:effectLst/>
          </c:spPr>
          <c:invertIfNegative val="0"/>
          <c:dLbls>
            <c:numFmt formatCode="£0.00" sourceLinked="0"/>
            <c:txPr>
              <a:bodyPr/>
              <a:lstStyle/>
              <a:p>
                <a:pPr>
                  <a:defRPr b="0" i="0" strike="noStrike" sz="950" u="none">
                    <a:solidFill>
                      <a:srgbClr val="15251D"/>
                    </a:solidFill>
                    <a:latin typeface="Arial"/>
                  </a:defRPr>
                </a:pPr>
              </a:p>
            </c:txPr>
            <c:showLegendKey val="0"/>
            <c:showVal val="1"/>
            <c:showCatName val="0"/>
            <c:showSerName val="0"/>
            <c:showPercent val="0"/>
            <c:showBubbleSize val="0"/>
            <c:showLeaderLines val="0"/>
          </c:dLbls>
          <c:dPt>
            <c:idx val="0"/>
            <c:invertIfNegative val="0"/>
            <c:bubble3D val="0"/>
            <c:spPr>
              <a:solidFill>
                <a:srgbClr val="1E7A4C"/>
              </a:solidFill>
              <a:effectLst/>
            </c:spPr>
          </c:dPt>
          <c:dPt>
            <c:idx val="1"/>
            <c:invertIfNegative val="0"/>
            <c:bubble3D val="0"/>
            <c:spPr>
              <a:solidFill>
                <a:srgbClr val="7A9A8B"/>
              </a:solidFill>
              <a:effectLst/>
            </c:spPr>
          </c:dPt>
          <c:dPt>
            <c:idx val="2"/>
            <c:invertIfNegative val="0"/>
            <c:bubble3D val="0"/>
            <c:spPr>
              <a:solidFill>
                <a:srgbClr val="7A9A8B"/>
              </a:solidFill>
              <a:effectLst/>
            </c:spPr>
          </c:dPt>
          <c:dPt>
            <c:idx val="3"/>
            <c:invertIfNegative val="0"/>
            <c:bubble3D val="0"/>
            <c:spPr>
              <a:solidFill>
                <a:srgbClr val="7A9A8B"/>
              </a:solidFill>
              <a:effectLst/>
            </c:spPr>
          </c:dPt>
          <c:dPt>
            <c:idx val="4"/>
            <c:invertIfNegative val="0"/>
            <c:bubble3D val="0"/>
            <c:spPr>
              <a:solidFill>
                <a:srgbClr val="7A9A8B"/>
              </a:solidFill>
              <a:effectLst/>
            </c:spPr>
          </c:dPt>
          <c:dPt>
            <c:idx val="5"/>
            <c:invertIfNegative val="0"/>
            <c:bubble3D val="0"/>
            <c:spPr>
              <a:solidFill>
                <a:srgbClr val="7A9A8B"/>
              </a:solidFill>
              <a:effectLst/>
            </c:spPr>
          </c:dPt>
          <c:dPt>
            <c:idx val="6"/>
            <c:invertIfNegative val="0"/>
            <c:bubble3D val="0"/>
            <c:spPr>
              <a:solidFill>
                <a:srgbClr val="96382C"/>
              </a:solidFill>
              <a:effectLst/>
            </c:spPr>
          </c:dPt>
          <c:dPt>
            <c:idx val="7"/>
            <c:invertIfNegative val="0"/>
            <c:bubble3D val="0"/>
            <c:spPr>
              <a:solidFill>
                <a:srgbClr val="96382C"/>
              </a:solidFill>
              <a:effectLst/>
            </c:spPr>
          </c:dPt>
          <c:cat>
            <c:multiLvlStrRef>
              <c:f>Sheet1!$A$2:$A$9</c:f>
              <c:multiLvlStrCache>
                <c:ptCount val="8"/>
                <c:lvl>
                  <c:pt idx="0">
                    <c:v>Morrisons Food To Go</c:v>
                  </c:pt>
                  <c:pt idx="1">
                    <c:v>Asda Hot Food To Go</c:v>
                  </c:pt>
                  <c:pt idx="2">
                    <c:v>Greggs Lunch Deal</c:v>
                  </c:pt>
                  <c:pt idx="3">
                    <c:v>Tesco (non-Clubcard)</c:v>
                  </c:pt>
                  <c:pt idx="4">
                    <c:v>Greggs Big Deal</c:v>
                  </c:pt>
                  <c:pt idx="5">
                    <c:v>Tesco Finest</c:v>
                  </c:pt>
                  <c:pt idx="6">
                    <c:v>Subway 6" — Glasgow</c:v>
                  </c:pt>
                  <c:pt idx="7">
                    <c:v>Subway 6" — London</c:v>
                  </c:pt>
                </c:lvl>
              </c:multiLvlStrCache>
            </c:multiLvlStrRef>
          </c:cat>
          <c:val>
            <c:numRef>
              <c:f>Sheet1!$B$2:$B$9</c:f>
              <c:numCache>
                <c:formatCode>General</c:formatCode>
                <c:ptCount val="8"/>
                <c:pt idx="0">
                  <c:v>3.75</c:v>
                </c:pt>
                <c:pt idx="1">
                  <c:v>4</c:v>
                </c:pt>
                <c:pt idx="2">
                  <c:v>4.25</c:v>
                </c:pt>
                <c:pt idx="3">
                  <c:v>4.25</c:v>
                </c:pt>
                <c:pt idx="4">
                  <c:v>5.25</c:v>
                </c:pt>
                <c:pt idx="5">
                  <c:v>6</c:v>
                </c:pt>
                <c:pt idx="6">
                  <c:v>9.18</c:v>
                </c:pt>
                <c:pt idx="7">
                  <c:v>10.69</c:v>
                </c:pt>
              </c:numCache>
            </c:numRef>
          </c:val>
        </c:ser>
        <c:dLbls>
          <c:numFmt formatCode="£0.00" sourceLinked="0"/>
          <c:txPr>
            <a:bodyPr/>
            <a:lstStyle/>
            <a:p>
              <a:pPr>
                <a:defRPr b="0" i="0" strike="noStrike" sz="950" u="none">
                  <a:solidFill>
                    <a:srgbClr val="15251D"/>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5251D"/>
                </a:solidFill>
                <a:latin typeface="Arial"/>
              </a:defRPr>
            </a:pPr>
            <a:endParaRPr lang="en-US"/>
          </a:p>
        </c:txPr>
        <c:crossAx val="2094734552"/>
        <c:crosses val="autoZero"/>
        <c:auto val="1"/>
        <c:lblAlgn val="ctr"/>
        <c:noMultiLvlLbl val="1"/>
      </c:catAx>
      <c:valAx>
        <c:axId val="2094734552"/>
        <c:scaling>
          <c:orientation val="minMax"/>
          <c:max val="12"/>
        </c:scaling>
        <c:delete val="0"/>
        <c:axPos val="b"/>
        <c:majorGridlines>
          <c:spPr>
            <a:ln w="12700" cap="flat">
              <a:solidFill>
                <a:srgbClr val="EDF0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5E6B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226"/>
        </a:solidFill>
      </p:bgPr>
    </p:bg>
    <p:spTree>
      <p:nvGrpSpPr>
        <p:cNvPr id="1" name=""/>
        <p:cNvGrpSpPr/>
        <p:nvPr/>
      </p:nvGrpSpPr>
      <p:grpSpPr>
        <a:xfrm>
          <a:off x="0" y="0"/>
          <a:ext cx="0" cy="0"/>
          <a:chOff x="0" y="0"/>
          <a:chExt cx="0" cy="0"/>
        </a:xfrm>
      </p:grpSpPr>
      <p:sp>
        <p:nvSpPr>
          <p:cNvPr id="2" name="Text 0"/>
          <p:cNvSpPr txBox="1"/>
          <p:nvPr/>
        </p:nvSpPr>
        <p:spPr>
          <a:xfrm>
            <a:off x="566928" y="1874520"/>
            <a:ext cx="96012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Morrisons Market Street</a:t>
            </a:r>
            <a:endParaRPr lang="en-US" sz="4600" dirty="0"/>
          </a:p>
        </p:txBody>
      </p:sp>
      <p:sp>
        <p:nvSpPr>
          <p:cNvPr id="3" name="Text 1"/>
          <p:cNvSpPr txBox="1"/>
          <p:nvPr/>
        </p:nvSpPr>
        <p:spPr>
          <a:xfrm>
            <a:off x="566928" y="2761488"/>
            <a:ext cx="8778240" cy="502920"/>
          </a:xfrm>
          <a:prstGeom prst="rect">
            <a:avLst/>
          </a:prstGeom>
          <a:noFill/>
          <a:ln/>
        </p:spPr>
        <p:txBody>
          <a:bodyPr wrap="square" lIns="0" tIns="0" rIns="0" bIns="0" rtlCol="0" anchor="ctr"/>
          <a:lstStyle/>
          <a:p>
            <a:pPr indent="0" marL="0">
              <a:buNone/>
            </a:pPr>
            <a:r>
              <a:rPr lang="en-US" sz="2000" i="1" dirty="0">
                <a:solidFill>
                  <a:srgbClr val="9FCDB4"/>
                </a:solidFill>
                <a:latin typeface="Cambria" pitchFamily="34" charset="0"/>
                <a:ea typeface="Cambria" pitchFamily="34" charset="-122"/>
                <a:cs typeface="Cambria" pitchFamily="34" charset="-120"/>
              </a:rPr>
              <a:t>Strengthening a distinctive asset for the next phase of grocery retail</a:t>
            </a:r>
            <a:endParaRPr lang="en-US" sz="2000" dirty="0"/>
          </a:p>
        </p:txBody>
      </p:sp>
      <p:sp>
        <p:nvSpPr>
          <p:cNvPr id="4" name="Shape 2"/>
          <p:cNvSpPr/>
          <p:nvPr/>
        </p:nvSpPr>
        <p:spPr>
          <a:xfrm>
            <a:off x="566928" y="3611880"/>
            <a:ext cx="3246120" cy="310896"/>
          </a:xfrm>
          <a:prstGeom prst="roundRect">
            <a:avLst>
              <a:gd name="adj" fmla="val 50000"/>
            </a:avLst>
          </a:prstGeom>
          <a:solidFill>
            <a:srgbClr val="15503C"/>
          </a:solidFill>
          <a:ln w="12700">
            <a:solidFill>
              <a:srgbClr val="15503C"/>
            </a:solidFill>
            <a:prstDash val="solid"/>
          </a:ln>
        </p:spPr>
      </p:sp>
      <p:sp>
        <p:nvSpPr>
          <p:cNvPr id="5" name="Text 3"/>
          <p:cNvSpPr txBox="1"/>
          <p:nvPr/>
        </p:nvSpPr>
        <p:spPr>
          <a:xfrm>
            <a:off x="566928" y="3611880"/>
            <a:ext cx="3246120" cy="310896"/>
          </a:xfrm>
          <a:prstGeom prst="rect">
            <a:avLst/>
          </a:prstGeom>
          <a:noFill/>
          <a:ln/>
        </p:spPr>
        <p:txBody>
          <a:bodyPr wrap="square" lIns="0" tIns="0" rIns="0" bIns="0" rtlCol="0" anchor="ctr"/>
          <a:lstStyle/>
          <a:p>
            <a:pPr algn="ctr" indent="0" marL="0">
              <a:buNone/>
            </a:pPr>
            <a:r>
              <a:rPr lang="en-US" sz="850" b="1" spc="120" kern="0" dirty="0">
                <a:solidFill>
                  <a:srgbClr val="B9DCC9"/>
                </a:solidFill>
                <a:latin typeface="Calibri" pitchFamily="34" charset="0"/>
                <a:ea typeface="Calibri" pitchFamily="34" charset="-122"/>
                <a:cs typeface="Calibri" pitchFamily="34" charset="-120"/>
              </a:rPr>
              <a:t>INDEPENDENT STRATEGY &amp; OPERATIONS REVIEW</a:t>
            </a:r>
            <a:endParaRPr lang="en-US" sz="850" dirty="0"/>
          </a:p>
        </p:txBody>
      </p:sp>
      <p:sp>
        <p:nvSpPr>
          <p:cNvPr id="6" name="Text 4"/>
          <p:cNvSpPr txBox="1"/>
          <p:nvPr/>
        </p:nvSpPr>
        <p:spPr>
          <a:xfrm>
            <a:off x="566928" y="4160520"/>
            <a:ext cx="5486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Zak Whatmough  ·  August 2026</a:t>
            </a:r>
            <a:endParaRPr lang="en-US" sz="1200" dirty="0"/>
          </a:p>
        </p:txBody>
      </p:sp>
      <p:sp>
        <p:nvSpPr>
          <p:cNvPr id="7" name="Text 5"/>
          <p:cNvSpPr txBox="1"/>
          <p:nvPr/>
        </p:nvSpPr>
        <p:spPr>
          <a:xfrm>
            <a:off x="566928" y="5870448"/>
            <a:ext cx="7863840" cy="566928"/>
          </a:xfrm>
          <a:prstGeom prst="rect">
            <a:avLst/>
          </a:prstGeom>
          <a:noFill/>
          <a:ln/>
        </p:spPr>
        <p:txBody>
          <a:bodyPr wrap="square" lIns="0" tIns="0" rIns="0" bIns="0" rtlCol="0" anchor="ctr"/>
          <a:lstStyle/>
          <a:p>
            <a:pPr indent="0" marL="0">
              <a:lnSpc>
                <a:spcPts val="1200"/>
              </a:lnSpc>
              <a:buNone/>
            </a:pPr>
            <a:r>
              <a:rPr lang="en-US" sz="850" dirty="0">
                <a:solidFill>
                  <a:srgbClr val="7FA893"/>
                </a:solidFill>
                <a:latin typeface="Calibri" pitchFamily="34" charset="0"/>
                <a:ea typeface="Calibri" pitchFamily="34" charset="-122"/>
                <a:cs typeface="Calibri" pitchFamily="34" charset="-120"/>
              </a:rPr>
              <a:t>Independent analysis. Not affiliated with or endorsed by Wm Morrison Supermarkets Limited. Built from publicly available information and personal professional observations. No confidential company information is used.</a:t>
            </a:r>
            <a:endParaRPr lang="en-US" sz="850" dirty="0"/>
          </a:p>
        </p:txBody>
      </p:sp>
      <p:sp>
        <p:nvSpPr>
          <p:cNvPr id="8" name="Text 6"/>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7FA893"/>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EXECUTIVE SUMMARY</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Morrisons owns the last staffed counter estate in UK grocery, and cannot show which counters work</a:t>
            </a:r>
            <a:endParaRPr lang="en-US" sz="2100" dirty="0"/>
          </a:p>
        </p:txBody>
      </p:sp>
      <p:sp>
        <p:nvSpPr>
          <p:cNvPr id="4" name="Shape 2"/>
          <p:cNvSpPr/>
          <p:nvPr/>
        </p:nvSpPr>
        <p:spPr>
          <a:xfrm>
            <a:off x="566928" y="1664208"/>
            <a:ext cx="11057839" cy="841248"/>
          </a:xfrm>
          <a:prstGeom prst="roundRect">
            <a:avLst>
              <a:gd name="adj" fmla="val 6522"/>
            </a:avLst>
          </a:prstGeom>
          <a:solidFill>
            <a:srgbClr val="F4F6F4"/>
          </a:solidFill>
          <a:ln w="9525">
            <a:solidFill>
              <a:srgbClr val="F4F6F4"/>
            </a:solidFill>
            <a:prstDash val="solid"/>
          </a:ln>
        </p:spPr>
      </p:sp>
      <p:sp>
        <p:nvSpPr>
          <p:cNvPr id="5" name="Text 3"/>
          <p:cNvSpPr txBox="1"/>
          <p:nvPr/>
        </p:nvSpPr>
        <p:spPr>
          <a:xfrm>
            <a:off x="768096" y="1810512"/>
            <a:ext cx="10655503" cy="566928"/>
          </a:xfrm>
          <a:prstGeom prst="rect">
            <a:avLst/>
          </a:prstGeom>
          <a:noFill/>
          <a:ln/>
        </p:spPr>
        <p:txBody>
          <a:bodyPr wrap="square" lIns="0" tIns="0" rIns="0" bIns="0" rtlCol="0" anchor="t"/>
          <a:lstStyle/>
          <a:p>
            <a:pPr indent="0" marL="0">
              <a:lnSpc>
                <a:spcPts val="1500"/>
              </a:lnSpc>
              <a:buNone/>
            </a:pPr>
            <a:r>
              <a:rPr lang="en-US" sz="1150" dirty="0">
                <a:solidFill>
                  <a:srgbClr val="15251D"/>
                </a:solidFill>
                <a:latin typeface="Calibri" pitchFamily="34" charset="0"/>
                <a:ea typeface="Calibri" pitchFamily="34" charset="-122"/>
                <a:cs typeface="Calibri" pitchFamily="34" charset="-120"/>
              </a:rPr>
              <a:t>In March 2025 Morrisons closed 70 Market Street meat and fish counters as “simply uneconomic”. In July 2026 it started reopening them, calling them “part of our DNA… a real differentiator”. Both decisions covered the whole estate, on a question Morrisons’ own CEO says varies store by store. What made the reversal possible was an improvement in “waste yield” that has never been quantified in public. In its own words, the company has said counter viability comes down to the production decision.</a:t>
            </a:r>
            <a:endParaRPr lang="en-US" sz="1150" dirty="0"/>
          </a:p>
        </p:txBody>
      </p:sp>
      <p:sp>
        <p:nvSpPr>
          <p:cNvPr id="6" name="Text 4"/>
          <p:cNvSpPr txBox="1"/>
          <p:nvPr/>
        </p:nvSpPr>
        <p:spPr>
          <a:xfrm>
            <a:off x="566928" y="2688336"/>
            <a:ext cx="11057839" cy="274320"/>
          </a:xfrm>
          <a:prstGeom prst="rect">
            <a:avLst/>
          </a:prstGeom>
          <a:noFill/>
          <a:ln/>
        </p:spPr>
        <p:txBody>
          <a:bodyPr wrap="square" lIns="0" tIns="0" rIns="0" bIns="0" rtlCol="0" anchor="t"/>
          <a:lstStyle/>
          <a:p>
            <a:pPr indent="0" marL="0">
              <a:lnSpc>
                <a:spcPts val="1500"/>
              </a:lnSpc>
              <a:buNone/>
            </a:pPr>
            <a:r>
              <a:rPr lang="en-US" sz="1100" b="1" dirty="0">
                <a:solidFill>
                  <a:srgbClr val="1E7A4C"/>
                </a:solidFill>
                <a:latin typeface="Calibri" pitchFamily="34" charset="0"/>
                <a:ea typeface="Calibri" pitchFamily="34" charset="-122"/>
                <a:cs typeface="Calibri" pitchFamily="34" charset="-120"/>
              </a:rPr>
              <a:t>Four moves, in sequence. The first three close a loop on counter economics: know what you have and what sold, sell more of it at full value, then recover the rest without pulling colleagues off the counter.</a:t>
            </a:r>
            <a:endParaRPr lang="en-US" sz="1100" dirty="0"/>
          </a:p>
        </p:txBody>
      </p:sp>
      <p:sp>
        <p:nvSpPr>
          <p:cNvPr id="7" name="Shape 5"/>
          <p:cNvSpPr/>
          <p:nvPr/>
        </p:nvSpPr>
        <p:spPr>
          <a:xfrm>
            <a:off x="566928" y="3054096"/>
            <a:ext cx="2599868" cy="2852928"/>
          </a:xfrm>
          <a:prstGeom prst="roundRect">
            <a:avLst>
              <a:gd name="adj" fmla="val 2110"/>
            </a:avLst>
          </a:prstGeom>
          <a:solidFill>
            <a:srgbClr val="FFFFFF"/>
          </a:solidFill>
          <a:ln w="9525">
            <a:solidFill>
              <a:srgbClr val="D9DFDB"/>
            </a:solidFill>
            <a:prstDash val="solid"/>
          </a:ln>
        </p:spPr>
      </p:sp>
      <p:sp>
        <p:nvSpPr>
          <p:cNvPr id="8" name="Shape 6"/>
          <p:cNvSpPr/>
          <p:nvPr/>
        </p:nvSpPr>
        <p:spPr>
          <a:xfrm>
            <a:off x="786384" y="3255264"/>
            <a:ext cx="420624" cy="420624"/>
          </a:xfrm>
          <a:prstGeom prst="ellipse">
            <a:avLst/>
          </a:prstGeom>
          <a:solidFill>
            <a:srgbClr val="1E7A4C"/>
          </a:solidFill>
          <a:ln w="12700">
            <a:solidFill>
              <a:srgbClr val="1E7A4C"/>
            </a:solidFill>
            <a:prstDash val="solid"/>
          </a:ln>
        </p:spPr>
      </p:sp>
      <p:sp>
        <p:nvSpPr>
          <p:cNvPr id="9" name="Text 7"/>
          <p:cNvSpPr txBox="1"/>
          <p:nvPr/>
        </p:nvSpPr>
        <p:spPr>
          <a:xfrm>
            <a:off x="786384" y="32552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10" name="Text 8"/>
          <p:cNvSpPr txBox="1"/>
          <p:nvPr/>
        </p:nvSpPr>
        <p:spPr>
          <a:xfrm>
            <a:off x="786384" y="3822192"/>
            <a:ext cx="2160956" cy="749808"/>
          </a:xfrm>
          <a:prstGeom prst="rect">
            <a:avLst/>
          </a:prstGeom>
          <a:noFill/>
          <a:ln/>
        </p:spPr>
        <p:txBody>
          <a:bodyPr wrap="square" lIns="0" tIns="0" rIns="0" bIns="0" rtlCol="0" anchor="t"/>
          <a:lstStyle/>
          <a:p>
            <a:pPr indent="0" marL="0">
              <a:lnSpc>
                <a:spcPts val="1600"/>
              </a:lnSpc>
              <a:buNone/>
            </a:pPr>
            <a:r>
              <a:rPr lang="en-US" sz="1250" b="1" dirty="0">
                <a:solidFill>
                  <a:srgbClr val="15251D"/>
                </a:solidFill>
                <a:latin typeface="Cambria" pitchFamily="34" charset="0"/>
                <a:ea typeface="Cambria" pitchFamily="34" charset="-122"/>
                <a:cs typeface="Cambria" pitchFamily="34" charset="-120"/>
              </a:rPr>
              <a:t>Close the two data gaps under every counter decision</a:t>
            </a:r>
            <a:endParaRPr lang="en-US" sz="1250" dirty="0"/>
          </a:p>
        </p:txBody>
      </p:sp>
      <p:sp>
        <p:nvSpPr>
          <p:cNvPr id="11" name="Text 9"/>
          <p:cNvSpPr txBox="1"/>
          <p:nvPr/>
        </p:nvSpPr>
        <p:spPr>
          <a:xfrm>
            <a:off x="786384" y="4608576"/>
            <a:ext cx="2160956" cy="841248"/>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Log stock out of the freezer as it is taken, and log production and sales as they happen. Nothing else works without this.</a:t>
            </a:r>
            <a:endParaRPr lang="en-US" sz="1000" dirty="0"/>
          </a:p>
        </p:txBody>
      </p:sp>
      <p:sp>
        <p:nvSpPr>
          <p:cNvPr id="12" name="Text 10"/>
          <p:cNvSpPr txBox="1"/>
          <p:nvPr/>
        </p:nvSpPr>
        <p:spPr>
          <a:xfrm>
            <a:off x="786384" y="5577840"/>
            <a:ext cx="2160956" cy="219456"/>
          </a:xfrm>
          <a:prstGeom prst="rect">
            <a:avLst/>
          </a:prstGeom>
          <a:noFill/>
          <a:ln/>
        </p:spPr>
        <p:txBody>
          <a:bodyPr wrap="square" lIns="0" tIns="0" rIns="0" bIns="0" rtlCol="0" anchor="t"/>
          <a:lstStyle/>
          <a:p>
            <a:pPr indent="0" marL="0">
              <a:lnSpc>
                <a:spcPts val="1500"/>
              </a:lnSpc>
              <a:buNone/>
            </a:pPr>
            <a:r>
              <a:rPr lang="en-US" sz="800" b="1" spc="90" kern="0" dirty="0">
                <a:solidFill>
                  <a:srgbClr val="1E7A4C"/>
                </a:solidFill>
                <a:latin typeface="Calibri" pitchFamily="34" charset="0"/>
                <a:ea typeface="Calibri" pitchFamily="34" charset="-122"/>
                <a:cs typeface="Calibri" pitchFamily="34" charset="-120"/>
              </a:rPr>
              <a:t>ENDS GUESSING</a:t>
            </a:r>
            <a:endParaRPr lang="en-US" sz="800" dirty="0"/>
          </a:p>
        </p:txBody>
      </p:sp>
      <p:sp>
        <p:nvSpPr>
          <p:cNvPr id="13" name="Shape 11"/>
          <p:cNvSpPr/>
          <p:nvPr/>
        </p:nvSpPr>
        <p:spPr>
          <a:xfrm>
            <a:off x="3386252" y="3054096"/>
            <a:ext cx="2599868" cy="2852928"/>
          </a:xfrm>
          <a:prstGeom prst="roundRect">
            <a:avLst>
              <a:gd name="adj" fmla="val 2110"/>
            </a:avLst>
          </a:prstGeom>
          <a:solidFill>
            <a:srgbClr val="FFFFFF"/>
          </a:solidFill>
          <a:ln w="9525">
            <a:solidFill>
              <a:srgbClr val="D9DFDB"/>
            </a:solidFill>
            <a:prstDash val="solid"/>
          </a:ln>
        </p:spPr>
      </p:sp>
      <p:sp>
        <p:nvSpPr>
          <p:cNvPr id="14" name="Shape 12"/>
          <p:cNvSpPr/>
          <p:nvPr/>
        </p:nvSpPr>
        <p:spPr>
          <a:xfrm>
            <a:off x="3605708" y="3255264"/>
            <a:ext cx="420624" cy="420624"/>
          </a:xfrm>
          <a:prstGeom prst="ellipse">
            <a:avLst/>
          </a:prstGeom>
          <a:solidFill>
            <a:srgbClr val="1E7A4C"/>
          </a:solidFill>
          <a:ln w="12700">
            <a:solidFill>
              <a:srgbClr val="1E7A4C"/>
            </a:solidFill>
            <a:prstDash val="solid"/>
          </a:ln>
        </p:spPr>
      </p:sp>
      <p:sp>
        <p:nvSpPr>
          <p:cNvPr id="15" name="Text 13"/>
          <p:cNvSpPr txBox="1"/>
          <p:nvPr/>
        </p:nvSpPr>
        <p:spPr>
          <a:xfrm>
            <a:off x="3605708" y="32552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6" name="Text 14"/>
          <p:cNvSpPr txBox="1"/>
          <p:nvPr/>
        </p:nvSpPr>
        <p:spPr>
          <a:xfrm>
            <a:off x="3605708" y="3822192"/>
            <a:ext cx="2160956" cy="749808"/>
          </a:xfrm>
          <a:prstGeom prst="rect">
            <a:avLst/>
          </a:prstGeom>
          <a:noFill/>
          <a:ln/>
        </p:spPr>
        <p:txBody>
          <a:bodyPr wrap="square" lIns="0" tIns="0" rIns="0" bIns="0" rtlCol="0" anchor="t"/>
          <a:lstStyle/>
          <a:p>
            <a:pPr indent="0" marL="0">
              <a:lnSpc>
                <a:spcPts val="1600"/>
              </a:lnSpc>
              <a:buNone/>
            </a:pPr>
            <a:r>
              <a:rPr lang="en-US" sz="1250" b="1" dirty="0">
                <a:solidFill>
                  <a:srgbClr val="15251D"/>
                </a:solidFill>
                <a:latin typeface="Cambria" pitchFamily="34" charset="0"/>
                <a:ea typeface="Cambria" pitchFamily="34" charset="-122"/>
                <a:cs typeface="Cambria" pitchFamily="34" charset="-120"/>
              </a:rPr>
              <a:t>Build a tiered made-to-order Market Street counter</a:t>
            </a:r>
            <a:endParaRPr lang="en-US" sz="1250" dirty="0"/>
          </a:p>
        </p:txBody>
      </p:sp>
      <p:sp>
        <p:nvSpPr>
          <p:cNvPr id="17" name="Text 15"/>
          <p:cNvSpPr txBox="1"/>
          <p:nvPr/>
        </p:nvSpPr>
        <p:spPr>
          <a:xfrm>
            <a:off x="3605708" y="4608576"/>
            <a:ext cx="2160956" cy="841248"/>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Carved in front of the customer from deli meat. Priced by what goes in it, bundled with hot-counter sides.</a:t>
            </a:r>
            <a:endParaRPr lang="en-US" sz="1000" dirty="0"/>
          </a:p>
        </p:txBody>
      </p:sp>
      <p:sp>
        <p:nvSpPr>
          <p:cNvPr id="18" name="Text 16"/>
          <p:cNvSpPr txBox="1"/>
          <p:nvPr/>
        </p:nvSpPr>
        <p:spPr>
          <a:xfrm>
            <a:off x="3605708" y="5577840"/>
            <a:ext cx="2160956" cy="219456"/>
          </a:xfrm>
          <a:prstGeom prst="rect">
            <a:avLst/>
          </a:prstGeom>
          <a:noFill/>
          <a:ln/>
        </p:spPr>
        <p:txBody>
          <a:bodyPr wrap="square" lIns="0" tIns="0" rIns="0" bIns="0" rtlCol="0" anchor="t"/>
          <a:lstStyle/>
          <a:p>
            <a:pPr indent="0" marL="0">
              <a:lnSpc>
                <a:spcPts val="1500"/>
              </a:lnSpc>
              <a:buNone/>
            </a:pPr>
            <a:r>
              <a:rPr lang="en-US" sz="800" b="1" spc="90" kern="0" dirty="0">
                <a:solidFill>
                  <a:srgbClr val="1E7A4C"/>
                </a:solidFill>
                <a:latin typeface="Calibri" pitchFamily="34" charset="0"/>
                <a:ea typeface="Calibri" pitchFamily="34" charset="-122"/>
                <a:cs typeface="Calibri" pitchFamily="34" charset="-120"/>
              </a:rPr>
              <a:t>FIXES UTILISATION</a:t>
            </a:r>
            <a:endParaRPr lang="en-US" sz="800" dirty="0"/>
          </a:p>
        </p:txBody>
      </p:sp>
      <p:sp>
        <p:nvSpPr>
          <p:cNvPr id="19" name="Shape 17"/>
          <p:cNvSpPr/>
          <p:nvPr/>
        </p:nvSpPr>
        <p:spPr>
          <a:xfrm>
            <a:off x="6205576" y="3054096"/>
            <a:ext cx="2599868" cy="2852928"/>
          </a:xfrm>
          <a:prstGeom prst="roundRect">
            <a:avLst>
              <a:gd name="adj" fmla="val 2110"/>
            </a:avLst>
          </a:prstGeom>
          <a:solidFill>
            <a:srgbClr val="FFFFFF"/>
          </a:solidFill>
          <a:ln w="9525">
            <a:solidFill>
              <a:srgbClr val="D9DFDB"/>
            </a:solidFill>
            <a:prstDash val="solid"/>
          </a:ln>
        </p:spPr>
      </p:sp>
      <p:sp>
        <p:nvSpPr>
          <p:cNvPr id="20" name="Shape 18"/>
          <p:cNvSpPr/>
          <p:nvPr/>
        </p:nvSpPr>
        <p:spPr>
          <a:xfrm>
            <a:off x="6425032" y="3255264"/>
            <a:ext cx="420624" cy="420624"/>
          </a:xfrm>
          <a:prstGeom prst="ellipse">
            <a:avLst/>
          </a:prstGeom>
          <a:solidFill>
            <a:srgbClr val="1E7A4C"/>
          </a:solidFill>
          <a:ln w="12700">
            <a:solidFill>
              <a:srgbClr val="1E7A4C"/>
            </a:solidFill>
            <a:prstDash val="solid"/>
          </a:ln>
        </p:spPr>
      </p:sp>
      <p:sp>
        <p:nvSpPr>
          <p:cNvPr id="21" name="Text 19"/>
          <p:cNvSpPr txBox="1"/>
          <p:nvPr/>
        </p:nvSpPr>
        <p:spPr>
          <a:xfrm>
            <a:off x="6425032" y="32552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22" name="Text 20"/>
          <p:cNvSpPr txBox="1"/>
          <p:nvPr/>
        </p:nvSpPr>
        <p:spPr>
          <a:xfrm>
            <a:off x="6425032" y="3822192"/>
            <a:ext cx="2160956" cy="749808"/>
          </a:xfrm>
          <a:prstGeom prst="rect">
            <a:avLst/>
          </a:prstGeom>
          <a:noFill/>
          <a:ln/>
        </p:spPr>
        <p:txBody>
          <a:bodyPr wrap="square" lIns="0" tIns="0" rIns="0" bIns="0" rtlCol="0" anchor="t"/>
          <a:lstStyle/>
          <a:p>
            <a:pPr indent="0" marL="0">
              <a:lnSpc>
                <a:spcPts val="1600"/>
              </a:lnSpc>
              <a:buNone/>
            </a:pPr>
            <a:r>
              <a:rPr lang="en-US" sz="1250" b="1" dirty="0">
                <a:solidFill>
                  <a:srgbClr val="15251D"/>
                </a:solidFill>
                <a:latin typeface="Cambria" pitchFamily="34" charset="0"/>
                <a:ea typeface="Cambria" pitchFamily="34" charset="-122"/>
                <a:cs typeface="Cambria" pitchFamily="34" charset="-120"/>
              </a:rPr>
              <a:t>Automate reductions and get counter tasks onto phones</a:t>
            </a:r>
            <a:endParaRPr lang="en-US" sz="1250" dirty="0"/>
          </a:p>
        </p:txBody>
      </p:sp>
      <p:sp>
        <p:nvSpPr>
          <p:cNvPr id="23" name="Text 21"/>
          <p:cNvSpPr txBox="1"/>
          <p:nvPr/>
        </p:nvSpPr>
        <p:spPr>
          <a:xfrm>
            <a:off x="6425032" y="4608576"/>
            <a:ext cx="2160956" cy="841248"/>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Markdown proposed by system rather than done by hand. Extend the phone-based execution model Morrisons already runs.</a:t>
            </a:r>
            <a:endParaRPr lang="en-US" sz="1000" dirty="0"/>
          </a:p>
        </p:txBody>
      </p:sp>
      <p:sp>
        <p:nvSpPr>
          <p:cNvPr id="24" name="Text 22"/>
          <p:cNvSpPr txBox="1"/>
          <p:nvPr/>
        </p:nvSpPr>
        <p:spPr>
          <a:xfrm>
            <a:off x="6425032" y="5577840"/>
            <a:ext cx="2160956" cy="219456"/>
          </a:xfrm>
          <a:prstGeom prst="rect">
            <a:avLst/>
          </a:prstGeom>
          <a:noFill/>
          <a:ln/>
        </p:spPr>
        <p:txBody>
          <a:bodyPr wrap="square" lIns="0" tIns="0" rIns="0" bIns="0" rtlCol="0" anchor="t"/>
          <a:lstStyle/>
          <a:p>
            <a:pPr indent="0" marL="0">
              <a:lnSpc>
                <a:spcPts val="1500"/>
              </a:lnSpc>
              <a:buNone/>
            </a:pPr>
            <a:r>
              <a:rPr lang="en-US" sz="800" b="1" spc="90" kern="0" dirty="0">
                <a:solidFill>
                  <a:srgbClr val="1E7A4C"/>
                </a:solidFill>
                <a:latin typeface="Calibri" pitchFamily="34" charset="0"/>
                <a:ea typeface="Calibri" pitchFamily="34" charset="-122"/>
                <a:cs typeface="Calibri" pitchFamily="34" charset="-120"/>
              </a:rPr>
              <a:t>RETURNS SELLING HOURS</a:t>
            </a:r>
            <a:endParaRPr lang="en-US" sz="800" dirty="0"/>
          </a:p>
        </p:txBody>
      </p:sp>
      <p:sp>
        <p:nvSpPr>
          <p:cNvPr id="25" name="Shape 23"/>
          <p:cNvSpPr/>
          <p:nvPr/>
        </p:nvSpPr>
        <p:spPr>
          <a:xfrm>
            <a:off x="9024899" y="3054096"/>
            <a:ext cx="2599868" cy="2852928"/>
          </a:xfrm>
          <a:prstGeom prst="roundRect">
            <a:avLst>
              <a:gd name="adj" fmla="val 2110"/>
            </a:avLst>
          </a:prstGeom>
          <a:solidFill>
            <a:srgbClr val="FFFFFF"/>
          </a:solidFill>
          <a:ln w="9525">
            <a:solidFill>
              <a:srgbClr val="D9DFDB"/>
            </a:solidFill>
            <a:prstDash val="solid"/>
          </a:ln>
        </p:spPr>
      </p:sp>
      <p:sp>
        <p:nvSpPr>
          <p:cNvPr id="26" name="Shape 24"/>
          <p:cNvSpPr/>
          <p:nvPr/>
        </p:nvSpPr>
        <p:spPr>
          <a:xfrm>
            <a:off x="9244355" y="3255264"/>
            <a:ext cx="420624" cy="420624"/>
          </a:xfrm>
          <a:prstGeom prst="ellipse">
            <a:avLst/>
          </a:prstGeom>
          <a:solidFill>
            <a:srgbClr val="1E7A4C"/>
          </a:solidFill>
          <a:ln w="12700">
            <a:solidFill>
              <a:srgbClr val="1E7A4C"/>
            </a:solidFill>
            <a:prstDash val="solid"/>
          </a:ln>
        </p:spPr>
      </p:sp>
      <p:sp>
        <p:nvSpPr>
          <p:cNvPr id="27" name="Text 25"/>
          <p:cNvSpPr txBox="1"/>
          <p:nvPr/>
        </p:nvSpPr>
        <p:spPr>
          <a:xfrm>
            <a:off x="9244355" y="32552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28" name="Text 26"/>
          <p:cNvSpPr txBox="1"/>
          <p:nvPr/>
        </p:nvSpPr>
        <p:spPr>
          <a:xfrm>
            <a:off x="9244355" y="3822192"/>
            <a:ext cx="2160956" cy="749808"/>
          </a:xfrm>
          <a:prstGeom prst="rect">
            <a:avLst/>
          </a:prstGeom>
          <a:noFill/>
          <a:ln/>
        </p:spPr>
        <p:txBody>
          <a:bodyPr wrap="square" lIns="0" tIns="0" rIns="0" bIns="0" rtlCol="0" anchor="t"/>
          <a:lstStyle/>
          <a:p>
            <a:pPr indent="0" marL="0">
              <a:lnSpc>
                <a:spcPts val="1600"/>
              </a:lnSpc>
              <a:buNone/>
            </a:pPr>
            <a:r>
              <a:rPr lang="en-US" sz="1250" b="1" dirty="0">
                <a:solidFill>
                  <a:srgbClr val="15251D"/>
                </a:solidFill>
                <a:latin typeface="Cambria" pitchFamily="34" charset="0"/>
                <a:ea typeface="Cambria" pitchFamily="34" charset="-122"/>
                <a:cs typeface="Cambria" pitchFamily="34" charset="-120"/>
              </a:rPr>
              <a:t>Decide counter format store by store</a:t>
            </a:r>
            <a:endParaRPr lang="en-US" sz="1250" dirty="0"/>
          </a:p>
        </p:txBody>
      </p:sp>
      <p:sp>
        <p:nvSpPr>
          <p:cNvPr id="29" name="Text 27"/>
          <p:cNvSpPr txBox="1"/>
          <p:nvPr/>
        </p:nvSpPr>
        <p:spPr>
          <a:xfrm>
            <a:off x="9244355" y="4608576"/>
            <a:ext cx="2160956" cy="841248"/>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A published framework covering catchment, footfall and counter yield, reviewed annually.</a:t>
            </a:r>
            <a:endParaRPr lang="en-US" sz="1000" dirty="0"/>
          </a:p>
        </p:txBody>
      </p:sp>
      <p:sp>
        <p:nvSpPr>
          <p:cNvPr id="30" name="Text 28"/>
          <p:cNvSpPr txBox="1"/>
          <p:nvPr/>
        </p:nvSpPr>
        <p:spPr>
          <a:xfrm>
            <a:off x="9244355" y="5577840"/>
            <a:ext cx="2160956" cy="219456"/>
          </a:xfrm>
          <a:prstGeom prst="rect">
            <a:avLst/>
          </a:prstGeom>
          <a:noFill/>
          <a:ln/>
        </p:spPr>
        <p:txBody>
          <a:bodyPr wrap="square" lIns="0" tIns="0" rIns="0" bIns="0" rtlCol="0" anchor="t"/>
          <a:lstStyle/>
          <a:p>
            <a:pPr indent="0" marL="0">
              <a:lnSpc>
                <a:spcPts val="1500"/>
              </a:lnSpc>
              <a:buNone/>
            </a:pPr>
            <a:r>
              <a:rPr lang="en-US" sz="800" b="1" spc="90" kern="0" dirty="0">
                <a:solidFill>
                  <a:srgbClr val="1E7A4C"/>
                </a:solidFill>
                <a:latin typeface="Calibri" pitchFamily="34" charset="0"/>
                <a:ea typeface="Calibri" pitchFamily="34" charset="-122"/>
                <a:cs typeface="Calibri" pitchFamily="34" charset="-120"/>
              </a:rPr>
              <a:t>PREVENTS THE NEXT REVERSAL</a:t>
            </a:r>
            <a:endParaRPr lang="en-US" sz="800" dirty="0"/>
          </a:p>
        </p:txBody>
      </p:sp>
      <p:sp>
        <p:nvSpPr>
          <p:cNvPr id="31" name="Text 29"/>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Morrisons Corporate; The Grocer; Retail Gazette; ECR Retail Loss; IGD; Lumina Intelligence; analysis</a:t>
            </a:r>
            <a:endParaRPr lang="en-US" sz="800" dirty="0"/>
          </a:p>
        </p:txBody>
      </p:sp>
      <p:sp>
        <p:nvSpPr>
          <p:cNvPr id="32" name="Text 30"/>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WHY MARKET STREET MATTERS</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Every major competitor has left staffed fresh counters. Morrisons is the only one that went back</a:t>
            </a:r>
            <a:endParaRPr lang="en-US" sz="2100" dirty="0"/>
          </a:p>
        </p:txBody>
      </p:sp>
      <p:sp>
        <p:nvSpPr>
          <p:cNvPr id="4" name="Shape 2"/>
          <p:cNvSpPr/>
          <p:nvPr/>
        </p:nvSpPr>
        <p:spPr>
          <a:xfrm>
            <a:off x="566928" y="3310128"/>
            <a:ext cx="11057839" cy="10973"/>
          </a:xfrm>
          <a:prstGeom prst="rect">
            <a:avLst/>
          </a:prstGeom>
          <a:solidFill>
            <a:srgbClr val="D9DFDB"/>
          </a:solidFill>
          <a:ln w="12700">
            <a:solidFill>
              <a:srgbClr val="D9DFDB"/>
            </a:solidFill>
            <a:prstDash val="solid"/>
          </a:ln>
        </p:spPr>
      </p:sp>
      <p:sp>
        <p:nvSpPr>
          <p:cNvPr id="5" name="Shape 3"/>
          <p:cNvSpPr/>
          <p:nvPr/>
        </p:nvSpPr>
        <p:spPr>
          <a:xfrm>
            <a:off x="1410691" y="3232404"/>
            <a:ext cx="155448" cy="155448"/>
          </a:xfrm>
          <a:prstGeom prst="ellipse">
            <a:avLst/>
          </a:prstGeom>
          <a:solidFill>
            <a:srgbClr val="9AA8A1"/>
          </a:solidFill>
          <a:ln w="19050">
            <a:solidFill>
              <a:srgbClr val="FFFFFF"/>
            </a:solidFill>
            <a:prstDash val="solid"/>
          </a:ln>
        </p:spPr>
      </p:sp>
      <p:sp>
        <p:nvSpPr>
          <p:cNvPr id="6" name="Shape 4"/>
          <p:cNvSpPr/>
          <p:nvPr/>
        </p:nvSpPr>
        <p:spPr>
          <a:xfrm>
            <a:off x="667512" y="1847088"/>
            <a:ext cx="1641805" cy="1371600"/>
          </a:xfrm>
          <a:prstGeom prst="roundRect">
            <a:avLst>
              <a:gd name="adj" fmla="val 4000"/>
            </a:avLst>
          </a:prstGeom>
          <a:solidFill>
            <a:srgbClr val="F4F6F4"/>
          </a:solidFill>
          <a:ln w="9525">
            <a:solidFill>
              <a:srgbClr val="F4F6F4"/>
            </a:solidFill>
            <a:prstDash val="solid"/>
          </a:ln>
        </p:spPr>
      </p:sp>
      <p:sp>
        <p:nvSpPr>
          <p:cNvPr id="7" name="Text 5"/>
          <p:cNvSpPr txBox="1"/>
          <p:nvPr/>
        </p:nvSpPr>
        <p:spPr>
          <a:xfrm>
            <a:off x="813816" y="1975104"/>
            <a:ext cx="1349197" cy="237744"/>
          </a:xfrm>
          <a:prstGeom prst="rect">
            <a:avLst/>
          </a:prstGeom>
          <a:noFill/>
          <a:ln/>
        </p:spPr>
        <p:txBody>
          <a:bodyPr wrap="square" lIns="0" tIns="0" rIns="0" bIns="0" rtlCol="0" anchor="t"/>
          <a:lstStyle/>
          <a:p>
            <a:pPr indent="0" marL="0">
              <a:lnSpc>
                <a:spcPts val="1500"/>
              </a:lnSpc>
              <a:buNone/>
            </a:pPr>
            <a:r>
              <a:rPr lang="en-US" sz="1200" b="1" dirty="0">
                <a:solidFill>
                  <a:srgbClr val="5E6B64"/>
                </a:solidFill>
                <a:latin typeface="Cambria" pitchFamily="34" charset="0"/>
                <a:ea typeface="Cambria" pitchFamily="34" charset="-122"/>
                <a:cs typeface="Cambria" pitchFamily="34" charset="-120"/>
              </a:rPr>
              <a:t>2019</a:t>
            </a:r>
            <a:endParaRPr lang="en-US" sz="1200" dirty="0"/>
          </a:p>
        </p:txBody>
      </p:sp>
      <p:sp>
        <p:nvSpPr>
          <p:cNvPr id="8" name="Text 6"/>
          <p:cNvSpPr txBox="1"/>
          <p:nvPr/>
        </p:nvSpPr>
        <p:spPr>
          <a:xfrm>
            <a:off x="813816" y="2231136"/>
            <a:ext cx="1349197" cy="237744"/>
          </a:xfrm>
          <a:prstGeom prst="rect">
            <a:avLst/>
          </a:prstGeom>
          <a:noFill/>
          <a:ln/>
        </p:spPr>
        <p:txBody>
          <a:bodyPr wrap="square" lIns="0" tIns="0" rIns="0" bIns="0" rtlCol="0" anchor="t"/>
          <a:lstStyle/>
          <a:p>
            <a:pPr indent="0" marL="0">
              <a:lnSpc>
                <a:spcPts val="1500"/>
              </a:lnSpc>
              <a:buNone/>
            </a:pPr>
            <a:r>
              <a:rPr lang="en-US" sz="1150" b="1" dirty="0">
                <a:solidFill>
                  <a:srgbClr val="15251D"/>
                </a:solidFill>
                <a:latin typeface="Calibri" pitchFamily="34" charset="0"/>
                <a:ea typeface="Calibri" pitchFamily="34" charset="-122"/>
                <a:cs typeface="Calibri" pitchFamily="34" charset="-120"/>
              </a:rPr>
              <a:t>Tesco</a:t>
            </a:r>
            <a:endParaRPr lang="en-US" sz="1150" dirty="0"/>
          </a:p>
        </p:txBody>
      </p:sp>
      <p:sp>
        <p:nvSpPr>
          <p:cNvPr id="9" name="Text 7"/>
          <p:cNvSpPr txBox="1"/>
          <p:nvPr/>
        </p:nvSpPr>
        <p:spPr>
          <a:xfrm>
            <a:off x="813816" y="2505456"/>
            <a:ext cx="1349197" cy="658368"/>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~90 stores lose meat, fish</a:t>
            </a:r>
            <a:endParaRPr lang="en-US" sz="850" dirty="0"/>
          </a:p>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and deli counters</a:t>
            </a:r>
            <a:endParaRPr lang="en-US" sz="850" dirty="0"/>
          </a:p>
        </p:txBody>
      </p:sp>
      <p:sp>
        <p:nvSpPr>
          <p:cNvPr id="10" name="Shape 8"/>
          <p:cNvSpPr/>
          <p:nvPr/>
        </p:nvSpPr>
        <p:spPr>
          <a:xfrm>
            <a:off x="3253664" y="3232404"/>
            <a:ext cx="155448" cy="155448"/>
          </a:xfrm>
          <a:prstGeom prst="ellipse">
            <a:avLst/>
          </a:prstGeom>
          <a:solidFill>
            <a:srgbClr val="9AA8A1"/>
          </a:solidFill>
          <a:ln w="19050">
            <a:solidFill>
              <a:srgbClr val="FFFFFF"/>
            </a:solidFill>
            <a:prstDash val="solid"/>
          </a:ln>
        </p:spPr>
      </p:sp>
      <p:sp>
        <p:nvSpPr>
          <p:cNvPr id="11" name="Shape 9"/>
          <p:cNvSpPr/>
          <p:nvPr/>
        </p:nvSpPr>
        <p:spPr>
          <a:xfrm>
            <a:off x="2510485" y="3584448"/>
            <a:ext cx="1641805" cy="1371600"/>
          </a:xfrm>
          <a:prstGeom prst="roundRect">
            <a:avLst>
              <a:gd name="adj" fmla="val 4000"/>
            </a:avLst>
          </a:prstGeom>
          <a:solidFill>
            <a:srgbClr val="F4F6F4"/>
          </a:solidFill>
          <a:ln w="9525">
            <a:solidFill>
              <a:srgbClr val="F4F6F4"/>
            </a:solidFill>
            <a:prstDash val="solid"/>
          </a:ln>
        </p:spPr>
      </p:sp>
      <p:sp>
        <p:nvSpPr>
          <p:cNvPr id="12" name="Text 10"/>
          <p:cNvSpPr txBox="1"/>
          <p:nvPr/>
        </p:nvSpPr>
        <p:spPr>
          <a:xfrm>
            <a:off x="2656789" y="3712464"/>
            <a:ext cx="1349197" cy="237744"/>
          </a:xfrm>
          <a:prstGeom prst="rect">
            <a:avLst/>
          </a:prstGeom>
          <a:noFill/>
          <a:ln/>
        </p:spPr>
        <p:txBody>
          <a:bodyPr wrap="square" lIns="0" tIns="0" rIns="0" bIns="0" rtlCol="0" anchor="t"/>
          <a:lstStyle/>
          <a:p>
            <a:pPr indent="0" marL="0">
              <a:lnSpc>
                <a:spcPts val="1500"/>
              </a:lnSpc>
              <a:buNone/>
            </a:pPr>
            <a:r>
              <a:rPr lang="en-US" sz="1200" b="1" dirty="0">
                <a:solidFill>
                  <a:srgbClr val="5E6B64"/>
                </a:solidFill>
                <a:latin typeface="Cambria" pitchFamily="34" charset="0"/>
                <a:ea typeface="Cambria" pitchFamily="34" charset="-122"/>
                <a:cs typeface="Cambria" pitchFamily="34" charset="-120"/>
              </a:rPr>
              <a:t>2020</a:t>
            </a:r>
            <a:endParaRPr lang="en-US" sz="1200" dirty="0"/>
          </a:p>
        </p:txBody>
      </p:sp>
      <p:sp>
        <p:nvSpPr>
          <p:cNvPr id="13" name="Text 11"/>
          <p:cNvSpPr txBox="1"/>
          <p:nvPr/>
        </p:nvSpPr>
        <p:spPr>
          <a:xfrm>
            <a:off x="2656789" y="3968496"/>
            <a:ext cx="1349197" cy="237744"/>
          </a:xfrm>
          <a:prstGeom prst="rect">
            <a:avLst/>
          </a:prstGeom>
          <a:noFill/>
          <a:ln/>
        </p:spPr>
        <p:txBody>
          <a:bodyPr wrap="square" lIns="0" tIns="0" rIns="0" bIns="0" rtlCol="0" anchor="t"/>
          <a:lstStyle/>
          <a:p>
            <a:pPr indent="0" marL="0">
              <a:lnSpc>
                <a:spcPts val="1500"/>
              </a:lnSpc>
              <a:buNone/>
            </a:pPr>
            <a:r>
              <a:rPr lang="en-US" sz="1150" b="1" dirty="0">
                <a:solidFill>
                  <a:srgbClr val="15251D"/>
                </a:solidFill>
                <a:latin typeface="Calibri" pitchFamily="34" charset="0"/>
                <a:ea typeface="Calibri" pitchFamily="34" charset="-122"/>
                <a:cs typeface="Calibri" pitchFamily="34" charset="-120"/>
              </a:rPr>
              <a:t>Sainsbury’s</a:t>
            </a:r>
            <a:endParaRPr lang="en-US" sz="1150" dirty="0"/>
          </a:p>
        </p:txBody>
      </p:sp>
      <p:sp>
        <p:nvSpPr>
          <p:cNvPr id="14" name="Text 12"/>
          <p:cNvSpPr txBox="1"/>
          <p:nvPr/>
        </p:nvSpPr>
        <p:spPr>
          <a:xfrm>
            <a:off x="2656789" y="4242816"/>
            <a:ext cx="1349197" cy="658368"/>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All 420 counters closed.</a:t>
            </a:r>
            <a:endParaRPr lang="en-US" sz="850" dirty="0"/>
          </a:p>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£60m operating cost saving</a:t>
            </a:r>
            <a:endParaRPr lang="en-US" sz="850" dirty="0"/>
          </a:p>
        </p:txBody>
      </p:sp>
      <p:sp>
        <p:nvSpPr>
          <p:cNvPr id="15" name="Shape 13"/>
          <p:cNvSpPr/>
          <p:nvPr/>
        </p:nvSpPr>
        <p:spPr>
          <a:xfrm>
            <a:off x="5096637" y="3232404"/>
            <a:ext cx="155448" cy="155448"/>
          </a:xfrm>
          <a:prstGeom prst="ellipse">
            <a:avLst/>
          </a:prstGeom>
          <a:solidFill>
            <a:srgbClr val="9AA8A1"/>
          </a:solidFill>
          <a:ln w="19050">
            <a:solidFill>
              <a:srgbClr val="FFFFFF"/>
            </a:solidFill>
            <a:prstDash val="solid"/>
          </a:ln>
        </p:spPr>
      </p:sp>
      <p:sp>
        <p:nvSpPr>
          <p:cNvPr id="16" name="Shape 14"/>
          <p:cNvSpPr/>
          <p:nvPr/>
        </p:nvSpPr>
        <p:spPr>
          <a:xfrm>
            <a:off x="4353458" y="1847088"/>
            <a:ext cx="1641805" cy="1371600"/>
          </a:xfrm>
          <a:prstGeom prst="roundRect">
            <a:avLst>
              <a:gd name="adj" fmla="val 4000"/>
            </a:avLst>
          </a:prstGeom>
          <a:solidFill>
            <a:srgbClr val="F4F6F4"/>
          </a:solidFill>
          <a:ln w="9525">
            <a:solidFill>
              <a:srgbClr val="F4F6F4"/>
            </a:solidFill>
            <a:prstDash val="solid"/>
          </a:ln>
        </p:spPr>
      </p:sp>
      <p:sp>
        <p:nvSpPr>
          <p:cNvPr id="17" name="Text 15"/>
          <p:cNvSpPr txBox="1"/>
          <p:nvPr/>
        </p:nvSpPr>
        <p:spPr>
          <a:xfrm>
            <a:off x="4499762" y="1975104"/>
            <a:ext cx="1349197" cy="237744"/>
          </a:xfrm>
          <a:prstGeom prst="rect">
            <a:avLst/>
          </a:prstGeom>
          <a:noFill/>
          <a:ln/>
        </p:spPr>
        <p:txBody>
          <a:bodyPr wrap="square" lIns="0" tIns="0" rIns="0" bIns="0" rtlCol="0" anchor="t"/>
          <a:lstStyle/>
          <a:p>
            <a:pPr indent="0" marL="0">
              <a:lnSpc>
                <a:spcPts val="1500"/>
              </a:lnSpc>
              <a:buNone/>
            </a:pPr>
            <a:r>
              <a:rPr lang="en-US" sz="1200" b="1" dirty="0">
                <a:solidFill>
                  <a:srgbClr val="5E6B64"/>
                </a:solidFill>
                <a:latin typeface="Cambria" pitchFamily="34" charset="0"/>
                <a:ea typeface="Cambria" pitchFamily="34" charset="-122"/>
                <a:cs typeface="Cambria" pitchFamily="34" charset="-120"/>
              </a:rPr>
              <a:t>2020</a:t>
            </a:r>
            <a:endParaRPr lang="en-US" sz="1200" dirty="0"/>
          </a:p>
        </p:txBody>
      </p:sp>
      <p:sp>
        <p:nvSpPr>
          <p:cNvPr id="18" name="Text 16"/>
          <p:cNvSpPr txBox="1"/>
          <p:nvPr/>
        </p:nvSpPr>
        <p:spPr>
          <a:xfrm>
            <a:off x="4499762" y="2231136"/>
            <a:ext cx="1349197" cy="237744"/>
          </a:xfrm>
          <a:prstGeom prst="rect">
            <a:avLst/>
          </a:prstGeom>
          <a:noFill/>
          <a:ln/>
        </p:spPr>
        <p:txBody>
          <a:bodyPr wrap="square" lIns="0" tIns="0" rIns="0" bIns="0" rtlCol="0" anchor="t"/>
          <a:lstStyle/>
          <a:p>
            <a:pPr indent="0" marL="0">
              <a:lnSpc>
                <a:spcPts val="1500"/>
              </a:lnSpc>
              <a:buNone/>
            </a:pPr>
            <a:r>
              <a:rPr lang="en-US" sz="1150" b="1" dirty="0">
                <a:solidFill>
                  <a:srgbClr val="15251D"/>
                </a:solidFill>
                <a:latin typeface="Calibri" pitchFamily="34" charset="0"/>
                <a:ea typeface="Calibri" pitchFamily="34" charset="-122"/>
                <a:cs typeface="Calibri" pitchFamily="34" charset="-120"/>
              </a:rPr>
              <a:t>Asda</a:t>
            </a:r>
            <a:endParaRPr lang="en-US" sz="1150" dirty="0"/>
          </a:p>
        </p:txBody>
      </p:sp>
      <p:sp>
        <p:nvSpPr>
          <p:cNvPr id="19" name="Text 17"/>
          <p:cNvSpPr txBox="1"/>
          <p:nvPr/>
        </p:nvSpPr>
        <p:spPr>
          <a:xfrm>
            <a:off x="4499762" y="2505456"/>
            <a:ext cx="1349197" cy="658368"/>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All meat and fish counters</a:t>
            </a:r>
            <a:endParaRPr lang="en-US" sz="850" dirty="0"/>
          </a:p>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 self-service hot stations</a:t>
            </a:r>
            <a:endParaRPr lang="en-US" sz="850" dirty="0"/>
          </a:p>
        </p:txBody>
      </p:sp>
      <p:sp>
        <p:nvSpPr>
          <p:cNvPr id="20" name="Shape 18"/>
          <p:cNvSpPr/>
          <p:nvPr/>
        </p:nvSpPr>
        <p:spPr>
          <a:xfrm>
            <a:off x="6939610" y="3232404"/>
            <a:ext cx="155448" cy="155448"/>
          </a:xfrm>
          <a:prstGeom prst="ellipse">
            <a:avLst/>
          </a:prstGeom>
          <a:solidFill>
            <a:srgbClr val="9AA8A1"/>
          </a:solidFill>
          <a:ln w="19050">
            <a:solidFill>
              <a:srgbClr val="FFFFFF"/>
            </a:solidFill>
            <a:prstDash val="solid"/>
          </a:ln>
        </p:spPr>
      </p:sp>
      <p:sp>
        <p:nvSpPr>
          <p:cNvPr id="21" name="Shape 19"/>
          <p:cNvSpPr/>
          <p:nvPr/>
        </p:nvSpPr>
        <p:spPr>
          <a:xfrm>
            <a:off x="6196432" y="3584448"/>
            <a:ext cx="1641805" cy="1371600"/>
          </a:xfrm>
          <a:prstGeom prst="roundRect">
            <a:avLst>
              <a:gd name="adj" fmla="val 4000"/>
            </a:avLst>
          </a:prstGeom>
          <a:solidFill>
            <a:srgbClr val="F4F6F4"/>
          </a:solidFill>
          <a:ln w="9525">
            <a:solidFill>
              <a:srgbClr val="F4F6F4"/>
            </a:solidFill>
            <a:prstDash val="solid"/>
          </a:ln>
        </p:spPr>
      </p:sp>
      <p:sp>
        <p:nvSpPr>
          <p:cNvPr id="22" name="Text 20"/>
          <p:cNvSpPr txBox="1"/>
          <p:nvPr/>
        </p:nvSpPr>
        <p:spPr>
          <a:xfrm>
            <a:off x="6342736" y="3712464"/>
            <a:ext cx="1349197" cy="237744"/>
          </a:xfrm>
          <a:prstGeom prst="rect">
            <a:avLst/>
          </a:prstGeom>
          <a:noFill/>
          <a:ln/>
        </p:spPr>
        <p:txBody>
          <a:bodyPr wrap="square" lIns="0" tIns="0" rIns="0" bIns="0" rtlCol="0" anchor="t"/>
          <a:lstStyle/>
          <a:p>
            <a:pPr indent="0" marL="0">
              <a:lnSpc>
                <a:spcPts val="1500"/>
              </a:lnSpc>
              <a:buNone/>
            </a:pPr>
            <a:r>
              <a:rPr lang="en-US" sz="1200" b="1" dirty="0">
                <a:solidFill>
                  <a:srgbClr val="5E6B64"/>
                </a:solidFill>
                <a:latin typeface="Cambria" pitchFamily="34" charset="0"/>
                <a:ea typeface="Cambria" pitchFamily="34" charset="-122"/>
                <a:cs typeface="Cambria" pitchFamily="34" charset="-120"/>
              </a:rPr>
              <a:t>2022</a:t>
            </a:r>
            <a:endParaRPr lang="en-US" sz="1200" dirty="0"/>
          </a:p>
        </p:txBody>
      </p:sp>
      <p:sp>
        <p:nvSpPr>
          <p:cNvPr id="23" name="Text 21"/>
          <p:cNvSpPr txBox="1"/>
          <p:nvPr/>
        </p:nvSpPr>
        <p:spPr>
          <a:xfrm>
            <a:off x="6342736" y="3968496"/>
            <a:ext cx="1349197" cy="237744"/>
          </a:xfrm>
          <a:prstGeom prst="rect">
            <a:avLst/>
          </a:prstGeom>
          <a:noFill/>
          <a:ln/>
        </p:spPr>
        <p:txBody>
          <a:bodyPr wrap="square" lIns="0" tIns="0" rIns="0" bIns="0" rtlCol="0" anchor="t"/>
          <a:lstStyle/>
          <a:p>
            <a:pPr indent="0" marL="0">
              <a:lnSpc>
                <a:spcPts val="1500"/>
              </a:lnSpc>
              <a:buNone/>
            </a:pPr>
            <a:r>
              <a:rPr lang="en-US" sz="1150" b="1" dirty="0">
                <a:solidFill>
                  <a:srgbClr val="15251D"/>
                </a:solidFill>
                <a:latin typeface="Calibri" pitchFamily="34" charset="0"/>
                <a:ea typeface="Calibri" pitchFamily="34" charset="-122"/>
                <a:cs typeface="Calibri" pitchFamily="34" charset="-120"/>
              </a:rPr>
              <a:t>Tesco</a:t>
            </a:r>
            <a:endParaRPr lang="en-US" sz="1150" dirty="0"/>
          </a:p>
        </p:txBody>
      </p:sp>
      <p:sp>
        <p:nvSpPr>
          <p:cNvPr id="24" name="Text 22"/>
          <p:cNvSpPr txBox="1"/>
          <p:nvPr/>
        </p:nvSpPr>
        <p:spPr>
          <a:xfrm>
            <a:off x="6342736" y="4242816"/>
            <a:ext cx="1349197" cy="658368"/>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A further 317 stores lose</a:t>
            </a:r>
            <a:endParaRPr lang="en-US" sz="850" dirty="0"/>
          </a:p>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counters; 279 retain</a:t>
            </a:r>
            <a:endParaRPr lang="en-US" sz="850" dirty="0"/>
          </a:p>
        </p:txBody>
      </p:sp>
      <p:sp>
        <p:nvSpPr>
          <p:cNvPr id="25" name="Shape 23"/>
          <p:cNvSpPr/>
          <p:nvPr/>
        </p:nvSpPr>
        <p:spPr>
          <a:xfrm>
            <a:off x="8782583" y="3232404"/>
            <a:ext cx="155448" cy="155448"/>
          </a:xfrm>
          <a:prstGeom prst="ellipse">
            <a:avLst/>
          </a:prstGeom>
          <a:solidFill>
            <a:srgbClr val="1E7A4C"/>
          </a:solidFill>
          <a:ln w="19050">
            <a:solidFill>
              <a:srgbClr val="FFFFFF"/>
            </a:solidFill>
            <a:prstDash val="solid"/>
          </a:ln>
        </p:spPr>
      </p:sp>
      <p:sp>
        <p:nvSpPr>
          <p:cNvPr id="26" name="Shape 24"/>
          <p:cNvSpPr/>
          <p:nvPr/>
        </p:nvSpPr>
        <p:spPr>
          <a:xfrm>
            <a:off x="8039405" y="1847088"/>
            <a:ext cx="1641805" cy="1371600"/>
          </a:xfrm>
          <a:prstGeom prst="roundRect">
            <a:avLst>
              <a:gd name="adj" fmla="val 4000"/>
            </a:avLst>
          </a:prstGeom>
          <a:solidFill>
            <a:srgbClr val="E5EFE9"/>
          </a:solidFill>
          <a:ln w="9525">
            <a:solidFill>
              <a:srgbClr val="E5EFE9"/>
            </a:solidFill>
            <a:prstDash val="solid"/>
          </a:ln>
        </p:spPr>
      </p:sp>
      <p:sp>
        <p:nvSpPr>
          <p:cNvPr id="27" name="Text 25"/>
          <p:cNvSpPr txBox="1"/>
          <p:nvPr/>
        </p:nvSpPr>
        <p:spPr>
          <a:xfrm>
            <a:off x="8185709" y="1975104"/>
            <a:ext cx="1349197" cy="237744"/>
          </a:xfrm>
          <a:prstGeom prst="rect">
            <a:avLst/>
          </a:prstGeom>
          <a:noFill/>
          <a:ln/>
        </p:spPr>
        <p:txBody>
          <a:bodyPr wrap="square" lIns="0" tIns="0" rIns="0" bIns="0" rtlCol="0" anchor="t"/>
          <a:lstStyle/>
          <a:p>
            <a:pPr indent="0" marL="0">
              <a:lnSpc>
                <a:spcPts val="1500"/>
              </a:lnSpc>
              <a:buNone/>
            </a:pPr>
            <a:r>
              <a:rPr lang="en-US" sz="1200" b="1" dirty="0">
                <a:solidFill>
                  <a:srgbClr val="1E7A4C"/>
                </a:solidFill>
                <a:latin typeface="Cambria" pitchFamily="34" charset="0"/>
                <a:ea typeface="Cambria" pitchFamily="34" charset="-122"/>
                <a:cs typeface="Cambria" pitchFamily="34" charset="-120"/>
              </a:rPr>
              <a:t>2025</a:t>
            </a:r>
            <a:endParaRPr lang="en-US" sz="1200" dirty="0"/>
          </a:p>
        </p:txBody>
      </p:sp>
      <p:sp>
        <p:nvSpPr>
          <p:cNvPr id="28" name="Text 26"/>
          <p:cNvSpPr txBox="1"/>
          <p:nvPr/>
        </p:nvSpPr>
        <p:spPr>
          <a:xfrm>
            <a:off x="8185709" y="2231136"/>
            <a:ext cx="1349197" cy="237744"/>
          </a:xfrm>
          <a:prstGeom prst="rect">
            <a:avLst/>
          </a:prstGeom>
          <a:noFill/>
          <a:ln/>
        </p:spPr>
        <p:txBody>
          <a:bodyPr wrap="square" lIns="0" tIns="0" rIns="0" bIns="0" rtlCol="0" anchor="t"/>
          <a:lstStyle/>
          <a:p>
            <a:pPr indent="0" marL="0">
              <a:lnSpc>
                <a:spcPts val="1500"/>
              </a:lnSpc>
              <a:buNone/>
            </a:pPr>
            <a:r>
              <a:rPr lang="en-US" sz="1150" b="1" dirty="0">
                <a:solidFill>
                  <a:srgbClr val="15251D"/>
                </a:solidFill>
                <a:latin typeface="Calibri" pitchFamily="34" charset="0"/>
                <a:ea typeface="Calibri" pitchFamily="34" charset="-122"/>
                <a:cs typeface="Calibri" pitchFamily="34" charset="-120"/>
              </a:rPr>
              <a:t>Morrisons</a:t>
            </a:r>
            <a:endParaRPr lang="en-US" sz="1150" dirty="0"/>
          </a:p>
        </p:txBody>
      </p:sp>
      <p:sp>
        <p:nvSpPr>
          <p:cNvPr id="29" name="Text 27"/>
          <p:cNvSpPr txBox="1"/>
          <p:nvPr/>
        </p:nvSpPr>
        <p:spPr>
          <a:xfrm>
            <a:off x="8185709" y="2505456"/>
            <a:ext cx="1349197" cy="658368"/>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70 counters closed as</a:t>
            </a:r>
            <a:endParaRPr lang="en-US" sz="850" dirty="0"/>
          </a:p>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“simply uneconomic”</a:t>
            </a:r>
            <a:endParaRPr lang="en-US" sz="850" dirty="0"/>
          </a:p>
        </p:txBody>
      </p:sp>
      <p:sp>
        <p:nvSpPr>
          <p:cNvPr id="30" name="Shape 28"/>
          <p:cNvSpPr/>
          <p:nvPr/>
        </p:nvSpPr>
        <p:spPr>
          <a:xfrm>
            <a:off x="10625557" y="3232404"/>
            <a:ext cx="155448" cy="155448"/>
          </a:xfrm>
          <a:prstGeom prst="ellipse">
            <a:avLst/>
          </a:prstGeom>
          <a:solidFill>
            <a:srgbClr val="1E7A4C"/>
          </a:solidFill>
          <a:ln w="19050">
            <a:solidFill>
              <a:srgbClr val="FFFFFF"/>
            </a:solidFill>
            <a:prstDash val="solid"/>
          </a:ln>
        </p:spPr>
      </p:sp>
      <p:sp>
        <p:nvSpPr>
          <p:cNvPr id="31" name="Shape 29"/>
          <p:cNvSpPr/>
          <p:nvPr/>
        </p:nvSpPr>
        <p:spPr>
          <a:xfrm>
            <a:off x="9882378" y="3584448"/>
            <a:ext cx="1641805" cy="1371600"/>
          </a:xfrm>
          <a:prstGeom prst="roundRect">
            <a:avLst>
              <a:gd name="adj" fmla="val 4000"/>
            </a:avLst>
          </a:prstGeom>
          <a:solidFill>
            <a:srgbClr val="E5EFE9"/>
          </a:solidFill>
          <a:ln w="9525">
            <a:solidFill>
              <a:srgbClr val="E5EFE9"/>
            </a:solidFill>
            <a:prstDash val="solid"/>
          </a:ln>
        </p:spPr>
      </p:sp>
      <p:sp>
        <p:nvSpPr>
          <p:cNvPr id="32" name="Text 30"/>
          <p:cNvSpPr txBox="1"/>
          <p:nvPr/>
        </p:nvSpPr>
        <p:spPr>
          <a:xfrm>
            <a:off x="10028682" y="3712464"/>
            <a:ext cx="1349197" cy="237744"/>
          </a:xfrm>
          <a:prstGeom prst="rect">
            <a:avLst/>
          </a:prstGeom>
          <a:noFill/>
          <a:ln/>
        </p:spPr>
        <p:txBody>
          <a:bodyPr wrap="square" lIns="0" tIns="0" rIns="0" bIns="0" rtlCol="0" anchor="t"/>
          <a:lstStyle/>
          <a:p>
            <a:pPr indent="0" marL="0">
              <a:lnSpc>
                <a:spcPts val="1500"/>
              </a:lnSpc>
              <a:buNone/>
            </a:pPr>
            <a:r>
              <a:rPr lang="en-US" sz="1200" b="1" dirty="0">
                <a:solidFill>
                  <a:srgbClr val="1E7A4C"/>
                </a:solidFill>
                <a:latin typeface="Cambria" pitchFamily="34" charset="0"/>
                <a:ea typeface="Cambria" pitchFamily="34" charset="-122"/>
                <a:cs typeface="Cambria" pitchFamily="34" charset="-120"/>
              </a:rPr>
              <a:t>2026</a:t>
            </a:r>
            <a:endParaRPr lang="en-US" sz="1200" dirty="0"/>
          </a:p>
        </p:txBody>
      </p:sp>
      <p:sp>
        <p:nvSpPr>
          <p:cNvPr id="33" name="Text 31"/>
          <p:cNvSpPr txBox="1"/>
          <p:nvPr/>
        </p:nvSpPr>
        <p:spPr>
          <a:xfrm>
            <a:off x="10028682" y="3968496"/>
            <a:ext cx="1349197" cy="237744"/>
          </a:xfrm>
          <a:prstGeom prst="rect">
            <a:avLst/>
          </a:prstGeom>
          <a:noFill/>
          <a:ln/>
        </p:spPr>
        <p:txBody>
          <a:bodyPr wrap="square" lIns="0" tIns="0" rIns="0" bIns="0" rtlCol="0" anchor="t"/>
          <a:lstStyle/>
          <a:p>
            <a:pPr indent="0" marL="0">
              <a:lnSpc>
                <a:spcPts val="1500"/>
              </a:lnSpc>
              <a:buNone/>
            </a:pPr>
            <a:r>
              <a:rPr lang="en-US" sz="1150" b="1" dirty="0">
                <a:solidFill>
                  <a:srgbClr val="15251D"/>
                </a:solidFill>
                <a:latin typeface="Calibri" pitchFamily="34" charset="0"/>
                <a:ea typeface="Calibri" pitchFamily="34" charset="-122"/>
                <a:cs typeface="Calibri" pitchFamily="34" charset="-120"/>
              </a:rPr>
              <a:t>Morrisons</a:t>
            </a:r>
            <a:endParaRPr lang="en-US" sz="1150" dirty="0"/>
          </a:p>
        </p:txBody>
      </p:sp>
      <p:sp>
        <p:nvSpPr>
          <p:cNvPr id="34" name="Text 32"/>
          <p:cNvSpPr txBox="1"/>
          <p:nvPr/>
        </p:nvSpPr>
        <p:spPr>
          <a:xfrm>
            <a:off x="10028682" y="4242816"/>
            <a:ext cx="1349197" cy="658368"/>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Phased reinstatement begins.</a:t>
            </a:r>
            <a:endParaRPr lang="en-US" sz="850" dirty="0"/>
          </a:p>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The only reversal in the market</a:t>
            </a:r>
            <a:endParaRPr lang="en-US" sz="850" dirty="0"/>
          </a:p>
        </p:txBody>
      </p:sp>
      <p:sp>
        <p:nvSpPr>
          <p:cNvPr id="35" name="Shape 33"/>
          <p:cNvSpPr/>
          <p:nvPr/>
        </p:nvSpPr>
        <p:spPr>
          <a:xfrm>
            <a:off x="566928" y="5248656"/>
            <a:ext cx="11057839" cy="987552"/>
          </a:xfrm>
          <a:prstGeom prst="roundRect">
            <a:avLst>
              <a:gd name="adj" fmla="val 5556"/>
            </a:avLst>
          </a:prstGeom>
          <a:solidFill>
            <a:srgbClr val="FFFFFF"/>
          </a:solidFill>
          <a:ln w="9525">
            <a:solidFill>
              <a:srgbClr val="1E7A4C"/>
            </a:solidFill>
            <a:prstDash val="solid"/>
          </a:ln>
        </p:spPr>
      </p:sp>
      <p:sp>
        <p:nvSpPr>
          <p:cNvPr id="36" name="Shape 34"/>
          <p:cNvSpPr/>
          <p:nvPr/>
        </p:nvSpPr>
        <p:spPr>
          <a:xfrm>
            <a:off x="786384" y="5376672"/>
            <a:ext cx="882396" cy="219456"/>
          </a:xfrm>
          <a:prstGeom prst="roundRect">
            <a:avLst>
              <a:gd name="adj" fmla="val 50000"/>
            </a:avLst>
          </a:prstGeom>
          <a:solidFill>
            <a:srgbClr val="F4F6F4"/>
          </a:solidFill>
          <a:ln w="12700">
            <a:solidFill>
              <a:srgbClr val="F4F6F4"/>
            </a:solidFill>
            <a:prstDash val="solid"/>
          </a:ln>
        </p:spPr>
      </p:sp>
      <p:sp>
        <p:nvSpPr>
          <p:cNvPr id="37" name="Text 35"/>
          <p:cNvSpPr txBox="1"/>
          <p:nvPr/>
        </p:nvSpPr>
        <p:spPr>
          <a:xfrm>
            <a:off x="786384" y="5376672"/>
            <a:ext cx="882396" cy="219456"/>
          </a:xfrm>
          <a:prstGeom prst="rect">
            <a:avLst/>
          </a:prstGeom>
          <a:noFill/>
          <a:ln/>
        </p:spPr>
        <p:txBody>
          <a:bodyPr wrap="square" lIns="0" tIns="0" rIns="0" bIns="0" rtlCol="0" anchor="ctr"/>
          <a:lstStyle/>
          <a:p>
            <a:pPr algn="ctr" indent="0" marL="0">
              <a:buNone/>
            </a:pPr>
            <a:r>
              <a:rPr lang="en-US" sz="750" b="1" spc="80" kern="0" dirty="0">
                <a:solidFill>
                  <a:srgbClr val="15251D"/>
                </a:solidFill>
                <a:latin typeface="Calibri" pitchFamily="34" charset="0"/>
                <a:ea typeface="Calibri" pitchFamily="34" charset="-122"/>
                <a:cs typeface="Calibri" pitchFamily="34" charset="-120"/>
              </a:rPr>
              <a:t>INFERENCE</a:t>
            </a:r>
            <a:endParaRPr lang="en-US" sz="750" dirty="0"/>
          </a:p>
        </p:txBody>
      </p:sp>
      <p:sp>
        <p:nvSpPr>
          <p:cNvPr id="38" name="Text 36"/>
          <p:cNvSpPr txBox="1"/>
          <p:nvPr/>
        </p:nvSpPr>
        <p:spPr>
          <a:xfrm>
            <a:off x="786384" y="5669280"/>
            <a:ext cx="10618927" cy="512064"/>
          </a:xfrm>
          <a:prstGeom prst="rect">
            <a:avLst/>
          </a:prstGeom>
          <a:noFill/>
          <a:ln/>
        </p:spPr>
        <p:txBody>
          <a:bodyPr wrap="square" lIns="0" tIns="0" rIns="0" bIns="0" rtlCol="0" anchor="t"/>
          <a:lstStyle/>
          <a:p>
            <a:pPr indent="0" marL="0">
              <a:lnSpc>
                <a:spcPts val="1350"/>
              </a:lnSpc>
              <a:buNone/>
            </a:pPr>
            <a:r>
              <a:rPr lang="en-US" sz="1050" dirty="0">
                <a:solidFill>
                  <a:srgbClr val="15251D"/>
                </a:solidFill>
                <a:latin typeface="Calibri" pitchFamily="34" charset="0"/>
                <a:ea typeface="Calibri" pitchFamily="34" charset="-122"/>
                <a:cs typeface="Calibri" pitchFamily="34" charset="-120"/>
              </a:rPr>
              <a:t>Waitrose held the line. Aldi, Lidl, Co-op and M&amp;S never had counters. That leaves Morrisons as the only mainstream grocer running a staffed fresh-counter estate at scale, and the only one to have publicly re-committed to it. The differentiation is real and nobody is contesting it. The problem is that Morrisons defends it on customer sentiment rather than productivity, which is exactly what will be questioned at the next cost review.</a:t>
            </a:r>
            <a:endParaRPr lang="en-US" sz="1050" dirty="0"/>
          </a:p>
        </p:txBody>
      </p:sp>
      <p:sp>
        <p:nvSpPr>
          <p:cNvPr id="39" name="Text 37"/>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Morrisons Corporate (Mar 2025); Retail Gazette and Grocery Gazette (Jul 2026); Meat Management; Retail Week; Heart/SeafoodSource; City AM; analysis</a:t>
            </a:r>
            <a:endParaRPr lang="en-US" sz="800" dirty="0"/>
          </a:p>
        </p:txBody>
      </p:sp>
      <p:sp>
        <p:nvSpPr>
          <p:cNvPr id="40" name="Text 38"/>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THE STRATEGIC TENSION</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Morrisons closed 70 counters, then reopened them 16 months later. Both decisions covered the whole estate</a:t>
            </a:r>
            <a:endParaRPr lang="en-US" sz="2100" dirty="0"/>
          </a:p>
        </p:txBody>
      </p:sp>
      <p:sp>
        <p:nvSpPr>
          <p:cNvPr id="4" name="Shape 2"/>
          <p:cNvSpPr/>
          <p:nvPr/>
        </p:nvSpPr>
        <p:spPr>
          <a:xfrm>
            <a:off x="566928" y="1737360"/>
            <a:ext cx="5117440" cy="2395728"/>
          </a:xfrm>
          <a:prstGeom prst="roundRect">
            <a:avLst>
              <a:gd name="adj" fmla="val 2290"/>
            </a:avLst>
          </a:prstGeom>
          <a:solidFill>
            <a:srgbClr val="F4F6F4"/>
          </a:solidFill>
          <a:ln w="9525">
            <a:solidFill>
              <a:srgbClr val="F4F6F4"/>
            </a:solidFill>
            <a:prstDash val="solid"/>
          </a:ln>
        </p:spPr>
      </p:sp>
      <p:sp>
        <p:nvSpPr>
          <p:cNvPr id="5" name="Text 3"/>
          <p:cNvSpPr txBox="1"/>
          <p:nvPr/>
        </p:nvSpPr>
        <p:spPr>
          <a:xfrm>
            <a:off x="786384" y="1901952"/>
            <a:ext cx="4678528" cy="219456"/>
          </a:xfrm>
          <a:prstGeom prst="rect">
            <a:avLst/>
          </a:prstGeom>
          <a:noFill/>
          <a:ln/>
        </p:spPr>
        <p:txBody>
          <a:bodyPr wrap="square" lIns="0" tIns="0" rIns="0" bIns="0" rtlCol="0" anchor="t"/>
          <a:lstStyle/>
          <a:p>
            <a:pPr indent="0" marL="0">
              <a:lnSpc>
                <a:spcPts val="1500"/>
              </a:lnSpc>
              <a:buNone/>
            </a:pPr>
            <a:r>
              <a:rPr lang="en-US" sz="900" b="1" spc="120" kern="0" dirty="0">
                <a:solidFill>
                  <a:srgbClr val="96382C"/>
                </a:solidFill>
                <a:latin typeface="Calibri" pitchFamily="34" charset="0"/>
                <a:ea typeface="Calibri" pitchFamily="34" charset="-122"/>
                <a:cs typeface="Calibri" pitchFamily="34" charset="-120"/>
              </a:rPr>
              <a:t>MARCH 2025 — CLOSE</a:t>
            </a:r>
            <a:endParaRPr lang="en-US" sz="900" dirty="0"/>
          </a:p>
        </p:txBody>
      </p:sp>
      <p:sp>
        <p:nvSpPr>
          <p:cNvPr id="6" name="Text 4"/>
          <p:cNvSpPr txBox="1"/>
          <p:nvPr/>
        </p:nvSpPr>
        <p:spPr>
          <a:xfrm>
            <a:off x="786384" y="2176272"/>
            <a:ext cx="4678528" cy="713232"/>
          </a:xfrm>
          <a:prstGeom prst="rect">
            <a:avLst/>
          </a:prstGeom>
          <a:noFill/>
          <a:ln/>
        </p:spPr>
        <p:txBody>
          <a:bodyPr wrap="square" lIns="0" tIns="0" rIns="0" bIns="0" rtlCol="0" anchor="t"/>
          <a:lstStyle/>
          <a:p>
            <a:pPr indent="0" marL="0">
              <a:lnSpc>
                <a:spcPts val="1700"/>
              </a:lnSpc>
              <a:buNone/>
            </a:pPr>
            <a:r>
              <a:rPr lang="en-US" sz="1300" i="1" dirty="0">
                <a:solidFill>
                  <a:srgbClr val="15251D"/>
                </a:solidFill>
                <a:latin typeface="Cambria" pitchFamily="34" charset="0"/>
                <a:ea typeface="Cambria" pitchFamily="34" charset="-122"/>
                <a:cs typeface="Cambria" pitchFamily="34" charset="-120"/>
              </a:rPr>
              <a:t>“The costs of operations are significantly out of line with usage, volumes or the value that customers place on them.”</a:t>
            </a:r>
            <a:endParaRPr lang="en-US" sz="1300" dirty="0"/>
          </a:p>
        </p:txBody>
      </p:sp>
      <p:sp>
        <p:nvSpPr>
          <p:cNvPr id="7" name="Text 5"/>
          <p:cNvSpPr txBox="1"/>
          <p:nvPr/>
        </p:nvSpPr>
        <p:spPr>
          <a:xfrm>
            <a:off x="841248" y="2999232"/>
            <a:ext cx="4623664" cy="1005840"/>
          </a:xfrm>
          <a:prstGeom prst="rect">
            <a:avLst/>
          </a:prstGeom>
          <a:noFill/>
          <a:ln/>
        </p:spPr>
        <p:txBody>
          <a:bodyPr wrap="square" lIns="0" tIns="0" rIns="0" bIns="0" rtlCol="0" anchor="t"/>
          <a:lstStyle/>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35 meat and 35 fish counters closed</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All 18 Market Kitchens closed</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52 cafés, 13 florists, 4 pharmacies</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~365 colleagues placed at risk</a:t>
            </a:r>
            <a:endParaRPr lang="en-US" sz="1050" dirty="0"/>
          </a:p>
        </p:txBody>
      </p:sp>
      <p:sp>
        <p:nvSpPr>
          <p:cNvPr id="8" name="Shape 6"/>
          <p:cNvSpPr/>
          <p:nvPr/>
        </p:nvSpPr>
        <p:spPr>
          <a:xfrm>
            <a:off x="6507328" y="1737360"/>
            <a:ext cx="5117440" cy="2395728"/>
          </a:xfrm>
          <a:prstGeom prst="roundRect">
            <a:avLst>
              <a:gd name="adj" fmla="val 2290"/>
            </a:avLst>
          </a:prstGeom>
          <a:solidFill>
            <a:srgbClr val="E5EFE9"/>
          </a:solidFill>
          <a:ln w="9525">
            <a:solidFill>
              <a:srgbClr val="E5EFE9"/>
            </a:solidFill>
            <a:prstDash val="solid"/>
          </a:ln>
        </p:spPr>
      </p:sp>
      <p:sp>
        <p:nvSpPr>
          <p:cNvPr id="9" name="Text 7"/>
          <p:cNvSpPr txBox="1"/>
          <p:nvPr/>
        </p:nvSpPr>
        <p:spPr>
          <a:xfrm>
            <a:off x="6726784" y="1901952"/>
            <a:ext cx="4678528" cy="219456"/>
          </a:xfrm>
          <a:prstGeom prst="rect">
            <a:avLst/>
          </a:prstGeom>
          <a:noFill/>
          <a:ln/>
        </p:spPr>
        <p:txBody>
          <a:bodyPr wrap="square" lIns="0" tIns="0" rIns="0" bIns="0" rtlCol="0" anchor="t"/>
          <a:lstStyle/>
          <a:p>
            <a:pPr indent="0" marL="0">
              <a:lnSpc>
                <a:spcPts val="1500"/>
              </a:lnSpc>
              <a:buNone/>
            </a:pPr>
            <a:r>
              <a:rPr lang="en-US" sz="900" b="1" spc="120" kern="0" dirty="0">
                <a:solidFill>
                  <a:srgbClr val="1E7A4C"/>
                </a:solidFill>
                <a:latin typeface="Calibri" pitchFamily="34" charset="0"/>
                <a:ea typeface="Calibri" pitchFamily="34" charset="-122"/>
                <a:cs typeface="Calibri" pitchFamily="34" charset="-120"/>
              </a:rPr>
              <a:t>JULY 2026 — REOPEN</a:t>
            </a:r>
            <a:endParaRPr lang="en-US" sz="900" dirty="0"/>
          </a:p>
        </p:txBody>
      </p:sp>
      <p:sp>
        <p:nvSpPr>
          <p:cNvPr id="10" name="Text 8"/>
          <p:cNvSpPr txBox="1"/>
          <p:nvPr/>
        </p:nvSpPr>
        <p:spPr>
          <a:xfrm>
            <a:off x="6726784" y="2176272"/>
            <a:ext cx="4678528" cy="713232"/>
          </a:xfrm>
          <a:prstGeom prst="rect">
            <a:avLst/>
          </a:prstGeom>
          <a:noFill/>
          <a:ln/>
        </p:spPr>
        <p:txBody>
          <a:bodyPr wrap="square" lIns="0" tIns="0" rIns="0" bIns="0" rtlCol="0" anchor="t"/>
          <a:lstStyle/>
          <a:p>
            <a:pPr indent="0" marL="0">
              <a:lnSpc>
                <a:spcPts val="1700"/>
              </a:lnSpc>
              <a:buNone/>
            </a:pPr>
            <a:r>
              <a:rPr lang="en-US" sz="1300" i="1" dirty="0">
                <a:solidFill>
                  <a:srgbClr val="15251D"/>
                </a:solidFill>
                <a:latin typeface="Cambria" pitchFamily="34" charset="0"/>
                <a:ea typeface="Cambria" pitchFamily="34" charset="-122"/>
                <a:cs typeface="Cambria" pitchFamily="34" charset="-120"/>
              </a:rPr>
              <a:t>“Our Market Street counters are part of our DNA. They are at the heart of our offer and a real differentiator for Morrisons.”</a:t>
            </a:r>
            <a:endParaRPr lang="en-US" sz="1300" dirty="0"/>
          </a:p>
        </p:txBody>
      </p:sp>
      <p:sp>
        <p:nvSpPr>
          <p:cNvPr id="11" name="Text 9"/>
          <p:cNvSpPr txBox="1"/>
          <p:nvPr/>
        </p:nvSpPr>
        <p:spPr>
          <a:xfrm>
            <a:off x="6781648" y="2999232"/>
            <a:ext cx="4623664" cy="1005840"/>
          </a:xfrm>
          <a:prstGeom prst="rect">
            <a:avLst/>
          </a:prstGeom>
          <a:noFill/>
          <a:ln/>
        </p:spPr>
        <p:txBody>
          <a:bodyPr wrap="square" lIns="0" tIns="0" rIns="0" bIns="0" rtlCol="0" anchor="t"/>
          <a:lstStyle/>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Phased reinstatement, store by store</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Enabled by “improved waste yield”</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Flatbeds and grab-and-go added</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Digital ordering screens on pizza counters</a:t>
            </a:r>
            <a:endParaRPr lang="en-US" sz="1050" dirty="0"/>
          </a:p>
        </p:txBody>
      </p:sp>
      <p:sp>
        <p:nvSpPr>
          <p:cNvPr id="12" name="Shape 10"/>
          <p:cNvSpPr/>
          <p:nvPr/>
        </p:nvSpPr>
        <p:spPr>
          <a:xfrm>
            <a:off x="5830672" y="2761488"/>
            <a:ext cx="530352" cy="329184"/>
          </a:xfrm>
          <a:prstGeom prst="rightArrow">
            <a:avLst/>
          </a:prstGeom>
          <a:solidFill>
            <a:srgbClr val="C3CCC7"/>
          </a:solidFill>
          <a:ln w="12700">
            <a:solidFill>
              <a:srgbClr val="C3CCC7"/>
            </a:solidFill>
            <a:prstDash val="solid"/>
          </a:ln>
        </p:spPr>
      </p:sp>
      <p:sp>
        <p:nvSpPr>
          <p:cNvPr id="13" name="Shape 11"/>
          <p:cNvSpPr/>
          <p:nvPr/>
        </p:nvSpPr>
        <p:spPr>
          <a:xfrm>
            <a:off x="566928" y="4425696"/>
            <a:ext cx="11057839" cy="1810512"/>
          </a:xfrm>
          <a:prstGeom prst="roundRect">
            <a:avLst>
              <a:gd name="adj" fmla="val 3030"/>
            </a:avLst>
          </a:prstGeom>
          <a:solidFill>
            <a:srgbClr val="FFFFFF"/>
          </a:solidFill>
          <a:ln w="9525">
            <a:solidFill>
              <a:srgbClr val="8A6410"/>
            </a:solidFill>
            <a:prstDash val="solid"/>
          </a:ln>
        </p:spPr>
      </p:sp>
      <p:sp>
        <p:nvSpPr>
          <p:cNvPr id="14" name="Shape 12"/>
          <p:cNvSpPr/>
          <p:nvPr/>
        </p:nvSpPr>
        <p:spPr>
          <a:xfrm>
            <a:off x="786384" y="4572000"/>
            <a:ext cx="1037844" cy="219456"/>
          </a:xfrm>
          <a:prstGeom prst="roundRect">
            <a:avLst>
              <a:gd name="adj" fmla="val 50000"/>
            </a:avLst>
          </a:prstGeom>
          <a:solidFill>
            <a:srgbClr val="E5EFE9"/>
          </a:solidFill>
          <a:ln w="12700">
            <a:solidFill>
              <a:srgbClr val="E5EFE9"/>
            </a:solidFill>
            <a:prstDash val="solid"/>
          </a:ln>
        </p:spPr>
      </p:sp>
      <p:sp>
        <p:nvSpPr>
          <p:cNvPr id="15" name="Text 13"/>
          <p:cNvSpPr txBox="1"/>
          <p:nvPr/>
        </p:nvSpPr>
        <p:spPr>
          <a:xfrm>
            <a:off x="786384" y="4572000"/>
            <a:ext cx="1037844" cy="219456"/>
          </a:xfrm>
          <a:prstGeom prst="rect">
            <a:avLst/>
          </a:prstGeom>
          <a:noFill/>
          <a:ln/>
        </p:spPr>
        <p:txBody>
          <a:bodyPr wrap="square" lIns="0" tIns="0" rIns="0" bIns="0" rtlCol="0" anchor="ctr"/>
          <a:lstStyle/>
          <a:p>
            <a:pPr algn="ctr" indent="0" marL="0">
              <a:buNone/>
            </a:pPr>
            <a:r>
              <a:rPr lang="en-US" sz="750" b="1" spc="80" kern="0" dirty="0">
                <a:solidFill>
                  <a:srgbClr val="1E7A4C"/>
                </a:solidFill>
                <a:latin typeface="Calibri" pitchFamily="34" charset="0"/>
                <a:ea typeface="Calibri" pitchFamily="34" charset="-122"/>
                <a:cs typeface="Calibri" pitchFamily="34" charset="-120"/>
              </a:rPr>
              <a:t>PUBLIC FACT</a:t>
            </a:r>
            <a:endParaRPr lang="en-US" sz="750" dirty="0"/>
          </a:p>
        </p:txBody>
      </p:sp>
      <p:sp>
        <p:nvSpPr>
          <p:cNvPr id="16" name="Text 14"/>
          <p:cNvSpPr txBox="1"/>
          <p:nvPr/>
        </p:nvSpPr>
        <p:spPr>
          <a:xfrm>
            <a:off x="786384" y="4882896"/>
            <a:ext cx="10618927" cy="292608"/>
          </a:xfrm>
          <a:prstGeom prst="rect">
            <a:avLst/>
          </a:prstGeom>
          <a:noFill/>
          <a:ln/>
        </p:spPr>
        <p:txBody>
          <a:bodyPr wrap="square" lIns="0" tIns="0" rIns="0" bIns="0" rtlCol="0" anchor="t"/>
          <a:lstStyle/>
          <a:p>
            <a:pPr indent="0" marL="0">
              <a:lnSpc>
                <a:spcPts val="1500"/>
              </a:lnSpc>
              <a:buNone/>
            </a:pPr>
            <a:r>
              <a:rPr lang="en-US" sz="1350" i="1" dirty="0">
                <a:solidFill>
                  <a:srgbClr val="15251D"/>
                </a:solidFill>
                <a:latin typeface="Cambria" pitchFamily="34" charset="0"/>
                <a:ea typeface="Cambria" pitchFamily="34" charset="-122"/>
                <a:cs typeface="Cambria" pitchFamily="34" charset="-120"/>
              </a:rPr>
              <a:t>“Whereas at some stores fresh counters are thriving… many are sad-looking and ignored.”  —  Rami Baitiéh, Chief Executive</a:t>
            </a:r>
            <a:endParaRPr lang="en-US" sz="1350" dirty="0"/>
          </a:p>
        </p:txBody>
      </p:sp>
      <p:sp>
        <p:nvSpPr>
          <p:cNvPr id="17" name="Text 15"/>
          <p:cNvSpPr txBox="1"/>
          <p:nvPr/>
        </p:nvSpPr>
        <p:spPr>
          <a:xfrm>
            <a:off x="786384" y="5248656"/>
            <a:ext cx="10618927" cy="859536"/>
          </a:xfrm>
          <a:prstGeom prst="rect">
            <a:avLst/>
          </a:prstGeom>
          <a:noFill/>
          <a:ln/>
        </p:spPr>
        <p:txBody>
          <a:bodyPr wrap="square" lIns="0" tIns="0" rIns="0" bIns="0" rtlCol="0" anchor="t"/>
          <a:lstStyle/>
          <a:p>
            <a:pPr indent="0" marL="0">
              <a:lnSpc>
                <a:spcPts val="1400"/>
              </a:lnSpc>
              <a:buNone/>
            </a:pPr>
            <a:r>
              <a:rPr lang="en-US" sz="1050" dirty="0">
                <a:solidFill>
                  <a:srgbClr val="15251D"/>
                </a:solidFill>
                <a:latin typeface="Calibri" pitchFamily="34" charset="0"/>
                <a:ea typeface="Calibri" pitchFamily="34" charset="-122"/>
                <a:cs typeface="Calibri" pitchFamily="34" charset="-120"/>
              </a:rPr>
              <a:t>So Morrisons has said on the record that counter performance varies sharply by store, then twice made one decision for the whole estate. The closure went too wide. The reversal rests on sentiment rather than evidence. Behind both sits the same absence: no published measure of what a counter actually yields. That is what this review is about. Not whether Market Street should exist, but how Morrisons decides where and how it should.</a:t>
            </a:r>
            <a:endParaRPr lang="en-US" sz="1050" dirty="0"/>
          </a:p>
        </p:txBody>
      </p:sp>
      <p:sp>
        <p:nvSpPr>
          <p:cNvPr id="18" name="Text 16"/>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Morrisons Corporate (24 Mar 2025); The Grocer; Retail Gazette (3 Jul 2026); Grocery Gazette; analysis</a:t>
            </a:r>
            <a:endParaRPr lang="en-US" sz="800" dirty="0"/>
          </a:p>
        </p:txBody>
      </p:sp>
      <p:sp>
        <p:nvSpPr>
          <p:cNvPr id="19" name="Text 17"/>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PERSPECTIVE FROM THE SHOP FLOOR</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This review started on the counter. What follows are observations, treated as hypotheses to test</a:t>
            </a:r>
            <a:endParaRPr lang="en-US" sz="2100" dirty="0"/>
          </a:p>
        </p:txBody>
      </p:sp>
      <p:sp>
        <p:nvSpPr>
          <p:cNvPr id="4" name="Shape 2"/>
          <p:cNvSpPr/>
          <p:nvPr/>
        </p:nvSpPr>
        <p:spPr>
          <a:xfrm>
            <a:off x="566928" y="1737360"/>
            <a:ext cx="11057839" cy="713232"/>
          </a:xfrm>
          <a:prstGeom prst="roundRect">
            <a:avLst>
              <a:gd name="adj" fmla="val 7692"/>
            </a:avLst>
          </a:prstGeom>
          <a:solidFill>
            <a:srgbClr val="F6EEDC"/>
          </a:solidFill>
          <a:ln w="9525">
            <a:solidFill>
              <a:srgbClr val="F6EEDC"/>
            </a:solidFill>
            <a:prstDash val="solid"/>
          </a:ln>
        </p:spPr>
      </p:sp>
      <p:sp>
        <p:nvSpPr>
          <p:cNvPr id="5" name="Text 3"/>
          <p:cNvSpPr txBox="1"/>
          <p:nvPr/>
        </p:nvSpPr>
        <p:spPr>
          <a:xfrm>
            <a:off x="786384" y="1865376"/>
            <a:ext cx="10618927" cy="502920"/>
          </a:xfrm>
          <a:prstGeom prst="rect">
            <a:avLst/>
          </a:prstGeom>
          <a:noFill/>
          <a:ln/>
        </p:spPr>
        <p:txBody>
          <a:bodyPr wrap="square" lIns="0" tIns="0" rIns="0" bIns="0" rtlCol="0" anchor="t"/>
          <a:lstStyle/>
          <a:p>
            <a:pPr indent="0" marL="0">
              <a:lnSpc>
                <a:spcPts val="1400"/>
              </a:lnSpc>
              <a:buNone/>
            </a:pPr>
            <a:r>
              <a:rPr lang="en-US" sz="1050" i="1" dirty="0">
                <a:solidFill>
                  <a:srgbClr val="15251D"/>
                </a:solidFill>
                <a:latin typeface="Calibri" pitchFamily="34" charset="0"/>
                <a:ea typeface="Calibri" pitchFamily="34" charset="-122"/>
                <a:cs typeface="Calibri" pitchFamily="34" charset="-120"/>
              </a:rPr>
              <a:t>I work on Market Street in Glasgow, around the deli and food-to-go, alongside an Economics degree. This case study came out of that. It pairs what I have seen on the counter with public company and industry research. It uses no confidential Morrisons information and describes no internal system.</a:t>
            </a:r>
            <a:endParaRPr lang="en-US" sz="1050" dirty="0"/>
          </a:p>
        </p:txBody>
      </p:sp>
      <p:sp>
        <p:nvSpPr>
          <p:cNvPr id="6" name="Shape 4"/>
          <p:cNvSpPr/>
          <p:nvPr/>
        </p:nvSpPr>
        <p:spPr>
          <a:xfrm>
            <a:off x="566928" y="2651760"/>
            <a:ext cx="3515258" cy="2066544"/>
          </a:xfrm>
          <a:prstGeom prst="roundRect">
            <a:avLst>
              <a:gd name="adj" fmla="val 2655"/>
            </a:avLst>
          </a:prstGeom>
          <a:solidFill>
            <a:srgbClr val="FFFFFF"/>
          </a:solidFill>
          <a:ln w="9525">
            <a:solidFill>
              <a:srgbClr val="D9DFDB"/>
            </a:solidFill>
            <a:prstDash val="solid"/>
          </a:ln>
        </p:spPr>
      </p:sp>
      <p:sp>
        <p:nvSpPr>
          <p:cNvPr id="7" name="Shape 5"/>
          <p:cNvSpPr/>
          <p:nvPr/>
        </p:nvSpPr>
        <p:spPr>
          <a:xfrm>
            <a:off x="768096" y="2834640"/>
            <a:ext cx="1892808" cy="219456"/>
          </a:xfrm>
          <a:prstGeom prst="roundRect">
            <a:avLst>
              <a:gd name="adj" fmla="val 50000"/>
            </a:avLst>
          </a:prstGeom>
          <a:solidFill>
            <a:srgbClr val="F6EEDC"/>
          </a:solidFill>
          <a:ln w="12700">
            <a:solidFill>
              <a:srgbClr val="F6EEDC"/>
            </a:solidFill>
            <a:prstDash val="solid"/>
          </a:ln>
        </p:spPr>
      </p:sp>
      <p:sp>
        <p:nvSpPr>
          <p:cNvPr id="8" name="Text 6"/>
          <p:cNvSpPr txBox="1"/>
          <p:nvPr/>
        </p:nvSpPr>
        <p:spPr>
          <a:xfrm>
            <a:off x="768096" y="2834640"/>
            <a:ext cx="1892808" cy="219456"/>
          </a:xfrm>
          <a:prstGeom prst="rect">
            <a:avLst/>
          </a:prstGeom>
          <a:noFill/>
          <a:ln/>
        </p:spPr>
        <p:txBody>
          <a:bodyPr wrap="square" lIns="0" tIns="0" rIns="0" bIns="0" rtlCol="0" anchor="ctr"/>
          <a:lstStyle/>
          <a:p>
            <a:pPr algn="ctr" indent="0" marL="0">
              <a:buNone/>
            </a:pPr>
            <a:r>
              <a:rPr lang="en-US" sz="750" b="1" spc="80" kern="0" dirty="0">
                <a:solidFill>
                  <a:srgbClr val="8A6410"/>
                </a:solidFill>
                <a:latin typeface="Calibri" pitchFamily="34" charset="0"/>
                <a:ea typeface="Calibri" pitchFamily="34" charset="-122"/>
                <a:cs typeface="Calibri" pitchFamily="34" charset="-120"/>
              </a:rPr>
              <a:t>FIRST-HAND OBSERVATION</a:t>
            </a:r>
            <a:endParaRPr lang="en-US" sz="750" dirty="0"/>
          </a:p>
        </p:txBody>
      </p:sp>
      <p:sp>
        <p:nvSpPr>
          <p:cNvPr id="9" name="Text 7"/>
          <p:cNvSpPr txBox="1"/>
          <p:nvPr/>
        </p:nvSpPr>
        <p:spPr>
          <a:xfrm>
            <a:off x="768096" y="3182112"/>
            <a:ext cx="3112922" cy="548640"/>
          </a:xfrm>
          <a:prstGeom prst="rect">
            <a:avLst/>
          </a:prstGeom>
          <a:noFill/>
          <a:ln/>
        </p:spPr>
        <p:txBody>
          <a:bodyPr wrap="square" lIns="0" tIns="0" rIns="0" bIns="0" rtlCol="0" anchor="t"/>
          <a:lstStyle/>
          <a:p>
            <a:pPr indent="0" marL="0">
              <a:lnSpc>
                <a:spcPts val="1700"/>
              </a:lnSpc>
              <a:buNone/>
            </a:pPr>
            <a:r>
              <a:rPr lang="en-US" sz="1300" b="1" dirty="0">
                <a:solidFill>
                  <a:srgbClr val="15251D"/>
                </a:solidFill>
                <a:latin typeface="Cambria" pitchFamily="34" charset="0"/>
                <a:ea typeface="Cambria" pitchFamily="34" charset="-122"/>
                <a:cs typeface="Cambria" pitchFamily="34" charset="-120"/>
              </a:rPr>
              <a:t>Production is decided by judgement</a:t>
            </a:r>
            <a:endParaRPr lang="en-US" sz="1300" dirty="0"/>
          </a:p>
        </p:txBody>
      </p:sp>
      <p:sp>
        <p:nvSpPr>
          <p:cNvPr id="10" name="Text 8"/>
          <p:cNvSpPr txBox="1"/>
          <p:nvPr/>
        </p:nvSpPr>
        <p:spPr>
          <a:xfrm>
            <a:off x="768096" y="3730752"/>
            <a:ext cx="3112922" cy="914400"/>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How much to make is set mostly by colleague experience, without a clear view of what sold the day before.</a:t>
            </a:r>
            <a:endParaRPr lang="en-US" sz="1000" dirty="0"/>
          </a:p>
        </p:txBody>
      </p:sp>
      <p:sp>
        <p:nvSpPr>
          <p:cNvPr id="11" name="Shape 9"/>
          <p:cNvSpPr/>
          <p:nvPr/>
        </p:nvSpPr>
        <p:spPr>
          <a:xfrm>
            <a:off x="566928" y="5029200"/>
            <a:ext cx="3515258" cy="1207008"/>
          </a:xfrm>
          <a:prstGeom prst="roundRect">
            <a:avLst>
              <a:gd name="adj" fmla="val 4545"/>
            </a:avLst>
          </a:prstGeom>
          <a:solidFill>
            <a:srgbClr val="F4F6F4"/>
          </a:solidFill>
          <a:ln w="9525">
            <a:solidFill>
              <a:srgbClr val="F4F6F4"/>
            </a:solidFill>
            <a:prstDash val="solid"/>
          </a:ln>
        </p:spPr>
      </p:sp>
      <p:sp>
        <p:nvSpPr>
          <p:cNvPr id="12" name="Shape 10"/>
          <p:cNvSpPr/>
          <p:nvPr/>
        </p:nvSpPr>
        <p:spPr>
          <a:xfrm>
            <a:off x="768096" y="5157216"/>
            <a:ext cx="960120" cy="219456"/>
          </a:xfrm>
          <a:prstGeom prst="roundRect">
            <a:avLst>
              <a:gd name="adj" fmla="val 50000"/>
            </a:avLst>
          </a:prstGeom>
          <a:solidFill>
            <a:srgbClr val="F4F6F4"/>
          </a:solidFill>
          <a:ln w="12700">
            <a:solidFill>
              <a:srgbClr val="F4F6F4"/>
            </a:solidFill>
            <a:prstDash val="solid"/>
          </a:ln>
        </p:spPr>
      </p:sp>
      <p:sp>
        <p:nvSpPr>
          <p:cNvPr id="13" name="Text 11"/>
          <p:cNvSpPr txBox="1"/>
          <p:nvPr/>
        </p:nvSpPr>
        <p:spPr>
          <a:xfrm>
            <a:off x="768096" y="5157216"/>
            <a:ext cx="960120" cy="219456"/>
          </a:xfrm>
          <a:prstGeom prst="rect">
            <a:avLst/>
          </a:prstGeom>
          <a:noFill/>
          <a:ln/>
        </p:spPr>
        <p:txBody>
          <a:bodyPr wrap="square" lIns="0" tIns="0" rIns="0" bIns="0" rtlCol="0" anchor="ctr"/>
          <a:lstStyle/>
          <a:p>
            <a:pPr algn="ctr" indent="0" marL="0">
              <a:buNone/>
            </a:pPr>
            <a:r>
              <a:rPr lang="en-US" sz="750" b="1" spc="80" kern="0" dirty="0">
                <a:solidFill>
                  <a:srgbClr val="5E6B64"/>
                </a:solidFill>
                <a:latin typeface="Calibri" pitchFamily="34" charset="0"/>
                <a:ea typeface="Calibri" pitchFamily="34" charset="-122"/>
                <a:cs typeface="Calibri" pitchFamily="34" charset="-120"/>
              </a:rPr>
              <a:t>HYPOTHESIS</a:t>
            </a:r>
            <a:endParaRPr lang="en-US" sz="750" dirty="0"/>
          </a:p>
        </p:txBody>
      </p:sp>
      <p:sp>
        <p:nvSpPr>
          <p:cNvPr id="14" name="Text 12"/>
          <p:cNvSpPr txBox="1"/>
          <p:nvPr/>
        </p:nvSpPr>
        <p:spPr>
          <a:xfrm>
            <a:off x="768096" y="5449824"/>
            <a:ext cx="3112922" cy="640080"/>
          </a:xfrm>
          <a:prstGeom prst="rect">
            <a:avLst/>
          </a:prstGeom>
          <a:noFill/>
          <a:ln/>
        </p:spPr>
        <p:txBody>
          <a:bodyPr wrap="square" lIns="0" tIns="0" rIns="0" bIns="0" rtlCol="0" anchor="t"/>
          <a:lstStyle/>
          <a:p>
            <a:pPr indent="0" marL="0">
              <a:lnSpc>
                <a:spcPts val="1300"/>
              </a:lnSpc>
              <a:buNone/>
            </a:pPr>
            <a:r>
              <a:rPr lang="en-US" sz="1000" dirty="0">
                <a:solidFill>
                  <a:srgbClr val="15251D"/>
                </a:solidFill>
                <a:latin typeface="Calibri" pitchFamily="34" charset="0"/>
                <a:ea typeface="Calibri" pitchFamily="34" charset="-122"/>
                <a:cs typeface="Calibri" pitchFamily="34" charset="-120"/>
              </a:rPr>
              <a:t>If production is not tied to demand, yield and waste change with who is on shift.</a:t>
            </a:r>
            <a:endParaRPr lang="en-US" sz="1000" dirty="0"/>
          </a:p>
        </p:txBody>
      </p:sp>
      <p:sp>
        <p:nvSpPr>
          <p:cNvPr id="15" name="Shape 13"/>
          <p:cNvSpPr/>
          <p:nvPr/>
        </p:nvSpPr>
        <p:spPr>
          <a:xfrm>
            <a:off x="4338218" y="2651760"/>
            <a:ext cx="3515258" cy="2066544"/>
          </a:xfrm>
          <a:prstGeom prst="roundRect">
            <a:avLst>
              <a:gd name="adj" fmla="val 2655"/>
            </a:avLst>
          </a:prstGeom>
          <a:solidFill>
            <a:srgbClr val="FFFFFF"/>
          </a:solidFill>
          <a:ln w="9525">
            <a:solidFill>
              <a:srgbClr val="D9DFDB"/>
            </a:solidFill>
            <a:prstDash val="solid"/>
          </a:ln>
        </p:spPr>
      </p:sp>
      <p:sp>
        <p:nvSpPr>
          <p:cNvPr id="16" name="Shape 14"/>
          <p:cNvSpPr/>
          <p:nvPr/>
        </p:nvSpPr>
        <p:spPr>
          <a:xfrm>
            <a:off x="4539386" y="2834640"/>
            <a:ext cx="1892808" cy="219456"/>
          </a:xfrm>
          <a:prstGeom prst="roundRect">
            <a:avLst>
              <a:gd name="adj" fmla="val 50000"/>
            </a:avLst>
          </a:prstGeom>
          <a:solidFill>
            <a:srgbClr val="F6EEDC"/>
          </a:solidFill>
          <a:ln w="12700">
            <a:solidFill>
              <a:srgbClr val="F6EEDC"/>
            </a:solidFill>
            <a:prstDash val="solid"/>
          </a:ln>
        </p:spPr>
      </p:sp>
      <p:sp>
        <p:nvSpPr>
          <p:cNvPr id="17" name="Text 15"/>
          <p:cNvSpPr txBox="1"/>
          <p:nvPr/>
        </p:nvSpPr>
        <p:spPr>
          <a:xfrm>
            <a:off x="4539386" y="2834640"/>
            <a:ext cx="1892808" cy="219456"/>
          </a:xfrm>
          <a:prstGeom prst="rect">
            <a:avLst/>
          </a:prstGeom>
          <a:noFill/>
          <a:ln/>
        </p:spPr>
        <p:txBody>
          <a:bodyPr wrap="square" lIns="0" tIns="0" rIns="0" bIns="0" rtlCol="0" anchor="ctr"/>
          <a:lstStyle/>
          <a:p>
            <a:pPr algn="ctr" indent="0" marL="0">
              <a:buNone/>
            </a:pPr>
            <a:r>
              <a:rPr lang="en-US" sz="750" b="1" spc="80" kern="0" dirty="0">
                <a:solidFill>
                  <a:srgbClr val="8A6410"/>
                </a:solidFill>
                <a:latin typeface="Calibri" pitchFamily="34" charset="0"/>
                <a:ea typeface="Calibri" pitchFamily="34" charset="-122"/>
                <a:cs typeface="Calibri" pitchFamily="34" charset="-120"/>
              </a:rPr>
              <a:t>FIRST-HAND OBSERVATION</a:t>
            </a:r>
            <a:endParaRPr lang="en-US" sz="750" dirty="0"/>
          </a:p>
        </p:txBody>
      </p:sp>
      <p:sp>
        <p:nvSpPr>
          <p:cNvPr id="18" name="Text 16"/>
          <p:cNvSpPr txBox="1"/>
          <p:nvPr/>
        </p:nvSpPr>
        <p:spPr>
          <a:xfrm>
            <a:off x="4539386" y="3182112"/>
            <a:ext cx="3112922" cy="548640"/>
          </a:xfrm>
          <a:prstGeom prst="rect">
            <a:avLst/>
          </a:prstGeom>
          <a:noFill/>
          <a:ln/>
        </p:spPr>
        <p:txBody>
          <a:bodyPr wrap="square" lIns="0" tIns="0" rIns="0" bIns="0" rtlCol="0" anchor="t"/>
          <a:lstStyle/>
          <a:p>
            <a:pPr indent="0" marL="0">
              <a:lnSpc>
                <a:spcPts val="1700"/>
              </a:lnSpc>
              <a:buNone/>
            </a:pPr>
            <a:r>
              <a:rPr lang="en-US" sz="1300" b="1" dirty="0">
                <a:solidFill>
                  <a:srgbClr val="15251D"/>
                </a:solidFill>
                <a:latin typeface="Cambria" pitchFamily="34" charset="0"/>
                <a:ea typeface="Cambria" pitchFamily="34" charset="-122"/>
                <a:cs typeface="Cambria" pitchFamily="34" charset="-120"/>
              </a:rPr>
              <a:t>Back-of-house stock is hard to see</a:t>
            </a:r>
            <a:endParaRPr lang="en-US" sz="1300" dirty="0"/>
          </a:p>
        </p:txBody>
      </p:sp>
      <p:sp>
        <p:nvSpPr>
          <p:cNvPr id="19" name="Text 17"/>
          <p:cNvSpPr txBox="1"/>
          <p:nvPr/>
        </p:nvSpPr>
        <p:spPr>
          <a:xfrm>
            <a:off x="4539386" y="3730752"/>
            <a:ext cx="3112922" cy="914400"/>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Bulk ingredient stock behind the counter is hard to keep track of, because it is not a scannable retail item.</a:t>
            </a:r>
            <a:endParaRPr lang="en-US" sz="1000" dirty="0"/>
          </a:p>
        </p:txBody>
      </p:sp>
      <p:sp>
        <p:nvSpPr>
          <p:cNvPr id="20" name="Shape 18"/>
          <p:cNvSpPr/>
          <p:nvPr/>
        </p:nvSpPr>
        <p:spPr>
          <a:xfrm>
            <a:off x="4338218" y="5029200"/>
            <a:ext cx="3515258" cy="1207008"/>
          </a:xfrm>
          <a:prstGeom prst="roundRect">
            <a:avLst>
              <a:gd name="adj" fmla="val 4545"/>
            </a:avLst>
          </a:prstGeom>
          <a:solidFill>
            <a:srgbClr val="F4F6F4"/>
          </a:solidFill>
          <a:ln w="9525">
            <a:solidFill>
              <a:srgbClr val="F4F6F4"/>
            </a:solidFill>
            <a:prstDash val="solid"/>
          </a:ln>
        </p:spPr>
      </p:sp>
      <p:sp>
        <p:nvSpPr>
          <p:cNvPr id="21" name="Shape 19"/>
          <p:cNvSpPr/>
          <p:nvPr/>
        </p:nvSpPr>
        <p:spPr>
          <a:xfrm>
            <a:off x="4539386" y="5157216"/>
            <a:ext cx="960120" cy="219456"/>
          </a:xfrm>
          <a:prstGeom prst="roundRect">
            <a:avLst>
              <a:gd name="adj" fmla="val 50000"/>
            </a:avLst>
          </a:prstGeom>
          <a:solidFill>
            <a:srgbClr val="F4F6F4"/>
          </a:solidFill>
          <a:ln w="12700">
            <a:solidFill>
              <a:srgbClr val="F4F6F4"/>
            </a:solidFill>
            <a:prstDash val="solid"/>
          </a:ln>
        </p:spPr>
      </p:sp>
      <p:sp>
        <p:nvSpPr>
          <p:cNvPr id="22" name="Text 20"/>
          <p:cNvSpPr txBox="1"/>
          <p:nvPr/>
        </p:nvSpPr>
        <p:spPr>
          <a:xfrm>
            <a:off x="4539386" y="5157216"/>
            <a:ext cx="960120" cy="219456"/>
          </a:xfrm>
          <a:prstGeom prst="rect">
            <a:avLst/>
          </a:prstGeom>
          <a:noFill/>
          <a:ln/>
        </p:spPr>
        <p:txBody>
          <a:bodyPr wrap="square" lIns="0" tIns="0" rIns="0" bIns="0" rtlCol="0" anchor="ctr"/>
          <a:lstStyle/>
          <a:p>
            <a:pPr algn="ctr" indent="0" marL="0">
              <a:buNone/>
            </a:pPr>
            <a:r>
              <a:rPr lang="en-US" sz="750" b="1" spc="80" kern="0" dirty="0">
                <a:solidFill>
                  <a:srgbClr val="5E6B64"/>
                </a:solidFill>
                <a:latin typeface="Calibri" pitchFamily="34" charset="0"/>
                <a:ea typeface="Calibri" pitchFamily="34" charset="-122"/>
                <a:cs typeface="Calibri" pitchFamily="34" charset="-120"/>
              </a:rPr>
              <a:t>HYPOTHESIS</a:t>
            </a:r>
            <a:endParaRPr lang="en-US" sz="750" dirty="0"/>
          </a:p>
        </p:txBody>
      </p:sp>
      <p:sp>
        <p:nvSpPr>
          <p:cNvPr id="23" name="Text 21"/>
          <p:cNvSpPr txBox="1"/>
          <p:nvPr/>
        </p:nvSpPr>
        <p:spPr>
          <a:xfrm>
            <a:off x="4539386" y="5449824"/>
            <a:ext cx="3112922" cy="640080"/>
          </a:xfrm>
          <a:prstGeom prst="rect">
            <a:avLst/>
          </a:prstGeom>
          <a:noFill/>
          <a:ln/>
        </p:spPr>
        <p:txBody>
          <a:bodyPr wrap="square" lIns="0" tIns="0" rIns="0" bIns="0" rtlCol="0" anchor="t"/>
          <a:lstStyle/>
          <a:p>
            <a:pPr indent="0" marL="0">
              <a:lnSpc>
                <a:spcPts val="1300"/>
              </a:lnSpc>
              <a:buNone/>
            </a:pPr>
            <a:r>
              <a:rPr lang="en-US" sz="1000" dirty="0">
                <a:solidFill>
                  <a:srgbClr val="15251D"/>
                </a:solidFill>
                <a:latin typeface="Calibri" pitchFamily="34" charset="0"/>
                <a:ea typeface="Calibri" pitchFamily="34" charset="-122"/>
                <a:cs typeface="Calibri" pitchFamily="34" charset="-120"/>
              </a:rPr>
              <a:t>Stock-outs and excess inventory can coexist in the same department.</a:t>
            </a:r>
            <a:endParaRPr lang="en-US" sz="1000" dirty="0"/>
          </a:p>
        </p:txBody>
      </p:sp>
      <p:sp>
        <p:nvSpPr>
          <p:cNvPr id="24" name="Shape 22"/>
          <p:cNvSpPr/>
          <p:nvPr/>
        </p:nvSpPr>
        <p:spPr>
          <a:xfrm>
            <a:off x="8109509" y="2651760"/>
            <a:ext cx="3515258" cy="2066544"/>
          </a:xfrm>
          <a:prstGeom prst="roundRect">
            <a:avLst>
              <a:gd name="adj" fmla="val 2655"/>
            </a:avLst>
          </a:prstGeom>
          <a:solidFill>
            <a:srgbClr val="FFFFFF"/>
          </a:solidFill>
          <a:ln w="9525">
            <a:solidFill>
              <a:srgbClr val="D9DFDB"/>
            </a:solidFill>
            <a:prstDash val="solid"/>
          </a:ln>
        </p:spPr>
      </p:sp>
      <p:sp>
        <p:nvSpPr>
          <p:cNvPr id="25" name="Shape 23"/>
          <p:cNvSpPr/>
          <p:nvPr/>
        </p:nvSpPr>
        <p:spPr>
          <a:xfrm>
            <a:off x="8310677" y="2834640"/>
            <a:ext cx="1892808" cy="219456"/>
          </a:xfrm>
          <a:prstGeom prst="roundRect">
            <a:avLst>
              <a:gd name="adj" fmla="val 50000"/>
            </a:avLst>
          </a:prstGeom>
          <a:solidFill>
            <a:srgbClr val="F6EEDC"/>
          </a:solidFill>
          <a:ln w="12700">
            <a:solidFill>
              <a:srgbClr val="F6EEDC"/>
            </a:solidFill>
            <a:prstDash val="solid"/>
          </a:ln>
        </p:spPr>
      </p:sp>
      <p:sp>
        <p:nvSpPr>
          <p:cNvPr id="26" name="Text 24"/>
          <p:cNvSpPr txBox="1"/>
          <p:nvPr/>
        </p:nvSpPr>
        <p:spPr>
          <a:xfrm>
            <a:off x="8310677" y="2834640"/>
            <a:ext cx="1892808" cy="219456"/>
          </a:xfrm>
          <a:prstGeom prst="rect">
            <a:avLst/>
          </a:prstGeom>
          <a:noFill/>
          <a:ln/>
        </p:spPr>
        <p:txBody>
          <a:bodyPr wrap="square" lIns="0" tIns="0" rIns="0" bIns="0" rtlCol="0" anchor="ctr"/>
          <a:lstStyle/>
          <a:p>
            <a:pPr algn="ctr" indent="0" marL="0">
              <a:buNone/>
            </a:pPr>
            <a:r>
              <a:rPr lang="en-US" sz="750" b="1" spc="80" kern="0" dirty="0">
                <a:solidFill>
                  <a:srgbClr val="8A6410"/>
                </a:solidFill>
                <a:latin typeface="Calibri" pitchFamily="34" charset="0"/>
                <a:ea typeface="Calibri" pitchFamily="34" charset="-122"/>
                <a:cs typeface="Calibri" pitchFamily="34" charset="-120"/>
              </a:rPr>
              <a:t>FIRST-HAND OBSERVATION</a:t>
            </a:r>
            <a:endParaRPr lang="en-US" sz="750" dirty="0"/>
          </a:p>
        </p:txBody>
      </p:sp>
      <p:sp>
        <p:nvSpPr>
          <p:cNvPr id="27" name="Text 25"/>
          <p:cNvSpPr txBox="1"/>
          <p:nvPr/>
        </p:nvSpPr>
        <p:spPr>
          <a:xfrm>
            <a:off x="8310677" y="3182112"/>
            <a:ext cx="3112922" cy="548640"/>
          </a:xfrm>
          <a:prstGeom prst="rect">
            <a:avLst/>
          </a:prstGeom>
          <a:noFill/>
          <a:ln/>
        </p:spPr>
        <p:txBody>
          <a:bodyPr wrap="square" lIns="0" tIns="0" rIns="0" bIns="0" rtlCol="0" anchor="t"/>
          <a:lstStyle/>
          <a:p>
            <a:pPr indent="0" marL="0">
              <a:lnSpc>
                <a:spcPts val="1700"/>
              </a:lnSpc>
              <a:buNone/>
            </a:pPr>
            <a:r>
              <a:rPr lang="en-US" sz="1300" b="1" dirty="0">
                <a:solidFill>
                  <a:srgbClr val="15251D"/>
                </a:solidFill>
                <a:latin typeface="Cambria" pitchFamily="34" charset="0"/>
                <a:ea typeface="Cambria" pitchFamily="34" charset="-122"/>
                <a:cs typeface="Cambria" pitchFamily="34" charset="-120"/>
              </a:rPr>
              <a:t>Customers state the demand out loud</a:t>
            </a:r>
            <a:endParaRPr lang="en-US" sz="1300" dirty="0"/>
          </a:p>
        </p:txBody>
      </p:sp>
      <p:sp>
        <p:nvSpPr>
          <p:cNvPr id="28" name="Text 26"/>
          <p:cNvSpPr txBox="1"/>
          <p:nvPr/>
        </p:nvSpPr>
        <p:spPr>
          <a:xfrm>
            <a:off x="8310677" y="3730752"/>
            <a:ext cx="3112922" cy="914400"/>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Customers buying deli meat sometimes say, without being asked, that it is for a sandwich. The store’s own packaged sandwiches contain none of that meat.</a:t>
            </a:r>
            <a:endParaRPr lang="en-US" sz="1000" dirty="0"/>
          </a:p>
        </p:txBody>
      </p:sp>
      <p:sp>
        <p:nvSpPr>
          <p:cNvPr id="29" name="Shape 27"/>
          <p:cNvSpPr/>
          <p:nvPr/>
        </p:nvSpPr>
        <p:spPr>
          <a:xfrm>
            <a:off x="8109509" y="5029200"/>
            <a:ext cx="3515258" cy="1207008"/>
          </a:xfrm>
          <a:prstGeom prst="roundRect">
            <a:avLst>
              <a:gd name="adj" fmla="val 4545"/>
            </a:avLst>
          </a:prstGeom>
          <a:solidFill>
            <a:srgbClr val="F4F6F4"/>
          </a:solidFill>
          <a:ln w="9525">
            <a:solidFill>
              <a:srgbClr val="F4F6F4"/>
            </a:solidFill>
            <a:prstDash val="solid"/>
          </a:ln>
        </p:spPr>
      </p:sp>
      <p:sp>
        <p:nvSpPr>
          <p:cNvPr id="30" name="Shape 28"/>
          <p:cNvSpPr/>
          <p:nvPr/>
        </p:nvSpPr>
        <p:spPr>
          <a:xfrm>
            <a:off x="8310677" y="5157216"/>
            <a:ext cx="960120" cy="219456"/>
          </a:xfrm>
          <a:prstGeom prst="roundRect">
            <a:avLst>
              <a:gd name="adj" fmla="val 50000"/>
            </a:avLst>
          </a:prstGeom>
          <a:solidFill>
            <a:srgbClr val="F4F6F4"/>
          </a:solidFill>
          <a:ln w="12700">
            <a:solidFill>
              <a:srgbClr val="F4F6F4"/>
            </a:solidFill>
            <a:prstDash val="solid"/>
          </a:ln>
        </p:spPr>
      </p:sp>
      <p:sp>
        <p:nvSpPr>
          <p:cNvPr id="31" name="Text 29"/>
          <p:cNvSpPr txBox="1"/>
          <p:nvPr/>
        </p:nvSpPr>
        <p:spPr>
          <a:xfrm>
            <a:off x="8310677" y="5157216"/>
            <a:ext cx="960120" cy="219456"/>
          </a:xfrm>
          <a:prstGeom prst="rect">
            <a:avLst/>
          </a:prstGeom>
          <a:noFill/>
          <a:ln/>
        </p:spPr>
        <p:txBody>
          <a:bodyPr wrap="square" lIns="0" tIns="0" rIns="0" bIns="0" rtlCol="0" anchor="ctr"/>
          <a:lstStyle/>
          <a:p>
            <a:pPr algn="ctr" indent="0" marL="0">
              <a:buNone/>
            </a:pPr>
            <a:r>
              <a:rPr lang="en-US" sz="750" b="1" spc="80" kern="0" dirty="0">
                <a:solidFill>
                  <a:srgbClr val="5E6B64"/>
                </a:solidFill>
                <a:latin typeface="Calibri" pitchFamily="34" charset="0"/>
                <a:ea typeface="Calibri" pitchFamily="34" charset="-122"/>
                <a:cs typeface="Calibri" pitchFamily="34" charset="-120"/>
              </a:rPr>
              <a:t>HYPOTHESIS</a:t>
            </a:r>
            <a:endParaRPr lang="en-US" sz="750" dirty="0"/>
          </a:p>
        </p:txBody>
      </p:sp>
      <p:sp>
        <p:nvSpPr>
          <p:cNvPr id="32" name="Text 30"/>
          <p:cNvSpPr txBox="1"/>
          <p:nvPr/>
        </p:nvSpPr>
        <p:spPr>
          <a:xfrm>
            <a:off x="8310677" y="5449824"/>
            <a:ext cx="3112922" cy="640080"/>
          </a:xfrm>
          <a:prstGeom prst="rect">
            <a:avLst/>
          </a:prstGeom>
          <a:noFill/>
          <a:ln/>
        </p:spPr>
        <p:txBody>
          <a:bodyPr wrap="square" lIns="0" tIns="0" rIns="0" bIns="0" rtlCol="0" anchor="t"/>
          <a:lstStyle/>
          <a:p>
            <a:pPr indent="0" marL="0">
              <a:lnSpc>
                <a:spcPts val="1300"/>
              </a:lnSpc>
              <a:buNone/>
            </a:pPr>
            <a:r>
              <a:rPr lang="en-US" sz="1000" dirty="0">
                <a:solidFill>
                  <a:srgbClr val="15251D"/>
                </a:solidFill>
                <a:latin typeface="Calibri" pitchFamily="34" charset="0"/>
                <a:ea typeface="Calibri" pitchFamily="34" charset="-122"/>
                <a:cs typeface="Calibri" pitchFamily="34" charset="-120"/>
              </a:rPr>
              <a:t>There may be demand for a fresh assembled product the store already holds every input for.</a:t>
            </a:r>
            <a:endParaRPr lang="en-US" sz="1000" dirty="0"/>
          </a:p>
        </p:txBody>
      </p:sp>
      <p:sp>
        <p:nvSpPr>
          <p:cNvPr id="33" name="Text 31"/>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First-hand observation, Morrisons Market Street, Glasgow, 2026. Single-store observations. Validation across a broader sample of stores would be required to establish any of these as company-wide.</a:t>
            </a:r>
            <a:endParaRPr lang="en-US" sz="800" dirty="0"/>
          </a:p>
        </p:txBody>
      </p:sp>
      <p:sp>
        <p:nvSpPr>
          <p:cNvPr id="34" name="Text 32"/>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PROBLEM STRUCTURE</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The observations reduce to one decision no system supports: how much to produce today</a:t>
            </a:r>
            <a:endParaRPr lang="en-US" sz="2100" dirty="0"/>
          </a:p>
        </p:txBody>
      </p:sp>
      <p:sp>
        <p:nvSpPr>
          <p:cNvPr id="4" name="Shape 2"/>
          <p:cNvSpPr/>
          <p:nvPr/>
        </p:nvSpPr>
        <p:spPr>
          <a:xfrm>
            <a:off x="566928" y="2834640"/>
            <a:ext cx="2651760" cy="1261872"/>
          </a:xfrm>
          <a:prstGeom prst="roundRect">
            <a:avLst>
              <a:gd name="adj" fmla="val 4348"/>
            </a:avLst>
          </a:prstGeom>
          <a:solidFill>
            <a:srgbClr val="0E3226"/>
          </a:solidFill>
          <a:ln w="9525">
            <a:solidFill>
              <a:srgbClr val="0E3226"/>
            </a:solidFill>
            <a:prstDash val="solid"/>
          </a:ln>
        </p:spPr>
      </p:sp>
      <p:sp>
        <p:nvSpPr>
          <p:cNvPr id="5" name="Text 3"/>
          <p:cNvSpPr txBox="1"/>
          <p:nvPr/>
        </p:nvSpPr>
        <p:spPr>
          <a:xfrm>
            <a:off x="768096" y="3054096"/>
            <a:ext cx="2249424" cy="603504"/>
          </a:xfrm>
          <a:prstGeom prst="rect">
            <a:avLst/>
          </a:prstGeom>
          <a:noFill/>
          <a:ln/>
        </p:spPr>
        <p:txBody>
          <a:bodyPr wrap="square" lIns="0" tIns="0" rIns="0" bIns="0" rtlCol="0" anchor="t"/>
          <a:lstStyle/>
          <a:p>
            <a:pPr indent="0" marL="0">
              <a:lnSpc>
                <a:spcPts val="1800"/>
              </a:lnSpc>
              <a:buNone/>
            </a:pPr>
            <a:r>
              <a:rPr lang="en-US" sz="1350" b="1" dirty="0">
                <a:solidFill>
                  <a:srgbClr val="FFFFFF"/>
                </a:solidFill>
                <a:latin typeface="Cambria" pitchFamily="34" charset="0"/>
                <a:ea typeface="Cambria" pitchFamily="34" charset="-122"/>
                <a:cs typeface="Cambria" pitchFamily="34" charset="-120"/>
              </a:rPr>
              <a:t>THE COUNTER</a:t>
            </a:r>
            <a:endParaRPr lang="en-US" sz="1350" dirty="0"/>
          </a:p>
          <a:p>
            <a:pPr indent="0" marL="0">
              <a:lnSpc>
                <a:spcPts val="1800"/>
              </a:lnSpc>
              <a:buNone/>
            </a:pPr>
            <a:r>
              <a:rPr lang="en-US" sz="1350" b="1" dirty="0">
                <a:solidFill>
                  <a:srgbClr val="FFFFFF"/>
                </a:solidFill>
                <a:latin typeface="Cambria" pitchFamily="34" charset="0"/>
                <a:ea typeface="Cambria" pitchFamily="34" charset="-122"/>
                <a:cs typeface="Cambria" pitchFamily="34" charset="-120"/>
              </a:rPr>
              <a:t>PRODUCTION DECISION</a:t>
            </a:r>
            <a:endParaRPr lang="en-US" sz="1350" dirty="0"/>
          </a:p>
        </p:txBody>
      </p:sp>
      <p:sp>
        <p:nvSpPr>
          <p:cNvPr id="6" name="Text 4"/>
          <p:cNvSpPr txBox="1"/>
          <p:nvPr/>
        </p:nvSpPr>
        <p:spPr>
          <a:xfrm>
            <a:off x="768096" y="3657600"/>
            <a:ext cx="2249424" cy="274320"/>
          </a:xfrm>
          <a:prstGeom prst="rect">
            <a:avLst/>
          </a:prstGeom>
          <a:noFill/>
          <a:ln/>
        </p:spPr>
        <p:txBody>
          <a:bodyPr wrap="square" lIns="0" tIns="0" rIns="0" bIns="0" rtlCol="0" anchor="t"/>
          <a:lstStyle/>
          <a:p>
            <a:pPr indent="0" marL="0">
              <a:lnSpc>
                <a:spcPts val="1500"/>
              </a:lnSpc>
              <a:buNone/>
            </a:pPr>
            <a:r>
              <a:rPr lang="en-US" sz="950" dirty="0">
                <a:solidFill>
                  <a:srgbClr val="9FCDB4"/>
                </a:solidFill>
                <a:latin typeface="Calibri" pitchFamily="34" charset="0"/>
                <a:ea typeface="Calibri" pitchFamily="34" charset="-122"/>
                <a:cs typeface="Calibri" pitchFamily="34" charset="-120"/>
              </a:rPr>
              <a:t>How much to make, today, in this store</a:t>
            </a:r>
            <a:endParaRPr lang="en-US" sz="950" dirty="0"/>
          </a:p>
        </p:txBody>
      </p:sp>
      <p:sp>
        <p:nvSpPr>
          <p:cNvPr id="7" name="Shape 5"/>
          <p:cNvSpPr/>
          <p:nvPr/>
        </p:nvSpPr>
        <p:spPr>
          <a:xfrm>
            <a:off x="3218688" y="2322576"/>
            <a:ext cx="411480" cy="10973"/>
          </a:xfrm>
          <a:prstGeom prst="rect">
            <a:avLst/>
          </a:prstGeom>
          <a:solidFill>
            <a:srgbClr val="C3CCC7"/>
          </a:solidFill>
          <a:ln w="12700">
            <a:solidFill>
              <a:srgbClr val="C3CCC7"/>
            </a:solidFill>
            <a:prstDash val="solid"/>
          </a:ln>
        </p:spPr>
      </p:sp>
      <p:sp>
        <p:nvSpPr>
          <p:cNvPr id="8" name="Shape 6"/>
          <p:cNvSpPr/>
          <p:nvPr/>
        </p:nvSpPr>
        <p:spPr>
          <a:xfrm>
            <a:off x="3630168" y="1773936"/>
            <a:ext cx="7994599" cy="1097280"/>
          </a:xfrm>
          <a:prstGeom prst="roundRect">
            <a:avLst>
              <a:gd name="adj" fmla="val 5000"/>
            </a:avLst>
          </a:prstGeom>
          <a:solidFill>
            <a:srgbClr val="FFFFFF"/>
          </a:solidFill>
          <a:ln w="9525">
            <a:solidFill>
              <a:srgbClr val="D9DFDB"/>
            </a:solidFill>
            <a:prstDash val="solid"/>
          </a:ln>
        </p:spPr>
      </p:sp>
      <p:sp>
        <p:nvSpPr>
          <p:cNvPr id="9" name="Text 7"/>
          <p:cNvSpPr txBox="1"/>
          <p:nvPr/>
        </p:nvSpPr>
        <p:spPr>
          <a:xfrm>
            <a:off x="3849624" y="1920240"/>
            <a:ext cx="2743200" cy="274320"/>
          </a:xfrm>
          <a:prstGeom prst="rect">
            <a:avLst/>
          </a:prstGeom>
          <a:noFill/>
          <a:ln/>
        </p:spPr>
        <p:txBody>
          <a:bodyPr wrap="square" lIns="0" tIns="0" rIns="0" bIns="0" rtlCol="0" anchor="t"/>
          <a:lstStyle/>
          <a:p>
            <a:pPr indent="0" marL="0">
              <a:lnSpc>
                <a:spcPts val="1500"/>
              </a:lnSpc>
              <a:buNone/>
            </a:pPr>
            <a:r>
              <a:rPr lang="en-US" sz="1350" b="1" dirty="0">
                <a:solidFill>
                  <a:srgbClr val="1E7A4C"/>
                </a:solidFill>
                <a:latin typeface="Cambria" pitchFamily="34" charset="0"/>
                <a:ea typeface="Cambria" pitchFamily="34" charset="-122"/>
                <a:cs typeface="Cambria" pitchFamily="34" charset="-120"/>
              </a:rPr>
              <a:t>Yield and availability</a:t>
            </a:r>
            <a:endParaRPr lang="en-US" sz="1350" dirty="0"/>
          </a:p>
        </p:txBody>
      </p:sp>
      <p:sp>
        <p:nvSpPr>
          <p:cNvPr id="10" name="Text 8"/>
          <p:cNvSpPr txBox="1"/>
          <p:nvPr/>
        </p:nvSpPr>
        <p:spPr>
          <a:xfrm>
            <a:off x="3849624" y="2249424"/>
            <a:ext cx="3931920" cy="603504"/>
          </a:xfrm>
          <a:prstGeom prst="rect">
            <a:avLst/>
          </a:prstGeom>
          <a:noFill/>
          <a:ln/>
        </p:spPr>
        <p:txBody>
          <a:bodyPr wrap="square" lIns="0" tIns="0" rIns="0" bIns="0" rtlCol="0" anchor="t"/>
          <a:lstStyle/>
          <a:p>
            <a:pPr indent="0" marL="0">
              <a:lnSpc>
                <a:spcPts val="1300"/>
              </a:lnSpc>
              <a:buNone/>
            </a:pPr>
            <a:r>
              <a:rPr lang="en-US" sz="1000" dirty="0">
                <a:solidFill>
                  <a:srgbClr val="15251D"/>
                </a:solidFill>
                <a:latin typeface="Calibri" pitchFamily="34" charset="0"/>
                <a:ea typeface="Calibri" pitchFamily="34" charset="-122"/>
                <a:cs typeface="Calibri" pitchFamily="34" charset="-120"/>
              </a:rPr>
              <a:t>This fails in both directions. Too much becomes markdown, then waste. Too little empties the counter before closing and the sale is gone.</a:t>
            </a:r>
            <a:endParaRPr lang="en-US" sz="1000" dirty="0"/>
          </a:p>
        </p:txBody>
      </p:sp>
      <p:sp>
        <p:nvSpPr>
          <p:cNvPr id="11" name="Shape 9"/>
          <p:cNvSpPr/>
          <p:nvPr/>
        </p:nvSpPr>
        <p:spPr>
          <a:xfrm>
            <a:off x="7973568" y="1920240"/>
            <a:ext cx="3422599" cy="804672"/>
          </a:xfrm>
          <a:prstGeom prst="roundRect">
            <a:avLst>
              <a:gd name="adj" fmla="val 6818"/>
            </a:avLst>
          </a:prstGeom>
          <a:solidFill>
            <a:srgbClr val="F4F6F4"/>
          </a:solidFill>
          <a:ln w="9525">
            <a:solidFill>
              <a:srgbClr val="F4F6F4"/>
            </a:solidFill>
            <a:prstDash val="solid"/>
          </a:ln>
        </p:spPr>
      </p:sp>
      <p:sp>
        <p:nvSpPr>
          <p:cNvPr id="12" name="Text 10"/>
          <p:cNvSpPr txBox="1"/>
          <p:nvPr/>
        </p:nvSpPr>
        <p:spPr>
          <a:xfrm>
            <a:off x="8156448" y="2066544"/>
            <a:ext cx="3056839" cy="512064"/>
          </a:xfrm>
          <a:prstGeom prst="rect">
            <a:avLst/>
          </a:prstGeom>
          <a:noFill/>
          <a:ln/>
        </p:spPr>
        <p:txBody>
          <a:bodyPr wrap="square" lIns="0" tIns="0" rIns="0" bIns="0" rtlCol="0" anchor="t"/>
          <a:lstStyle/>
          <a:p>
            <a:pPr indent="0" marL="0">
              <a:lnSpc>
                <a:spcPts val="1250"/>
              </a:lnSpc>
              <a:buNone/>
            </a:pPr>
            <a:r>
              <a:rPr lang="en-US" sz="950" i="1" dirty="0">
                <a:solidFill>
                  <a:srgbClr val="5E6B64"/>
                </a:solidFill>
                <a:latin typeface="Calibri" pitchFamily="34" charset="0"/>
                <a:ea typeface="Calibri" pitchFamily="34" charset="-122"/>
                <a:cs typeface="Calibri" pitchFamily="34" charset="-120"/>
              </a:rPr>
              <a:t>Morrisons states counter reinstatement was enabled by improved waste yield; £2.1bn of UK grocery sales is at risk annually from stock gaps</a:t>
            </a:r>
            <a:endParaRPr lang="en-US" sz="950" dirty="0"/>
          </a:p>
        </p:txBody>
      </p:sp>
      <p:sp>
        <p:nvSpPr>
          <p:cNvPr id="13" name="Shape 11"/>
          <p:cNvSpPr/>
          <p:nvPr/>
        </p:nvSpPr>
        <p:spPr>
          <a:xfrm>
            <a:off x="3218688" y="3566160"/>
            <a:ext cx="411480" cy="10973"/>
          </a:xfrm>
          <a:prstGeom prst="rect">
            <a:avLst/>
          </a:prstGeom>
          <a:solidFill>
            <a:srgbClr val="C3CCC7"/>
          </a:solidFill>
          <a:ln w="12700">
            <a:solidFill>
              <a:srgbClr val="C3CCC7"/>
            </a:solidFill>
            <a:prstDash val="solid"/>
          </a:ln>
        </p:spPr>
      </p:sp>
      <p:sp>
        <p:nvSpPr>
          <p:cNvPr id="14" name="Shape 12"/>
          <p:cNvSpPr/>
          <p:nvPr/>
        </p:nvSpPr>
        <p:spPr>
          <a:xfrm>
            <a:off x="3630168" y="3017520"/>
            <a:ext cx="7994599" cy="1097280"/>
          </a:xfrm>
          <a:prstGeom prst="roundRect">
            <a:avLst>
              <a:gd name="adj" fmla="val 5000"/>
            </a:avLst>
          </a:prstGeom>
          <a:solidFill>
            <a:srgbClr val="FFFFFF"/>
          </a:solidFill>
          <a:ln w="9525">
            <a:solidFill>
              <a:srgbClr val="D9DFDB"/>
            </a:solidFill>
            <a:prstDash val="solid"/>
          </a:ln>
        </p:spPr>
      </p:sp>
      <p:sp>
        <p:nvSpPr>
          <p:cNvPr id="15" name="Text 13"/>
          <p:cNvSpPr txBox="1"/>
          <p:nvPr/>
        </p:nvSpPr>
        <p:spPr>
          <a:xfrm>
            <a:off x="3849624" y="3163824"/>
            <a:ext cx="2743200" cy="274320"/>
          </a:xfrm>
          <a:prstGeom prst="rect">
            <a:avLst/>
          </a:prstGeom>
          <a:noFill/>
          <a:ln/>
        </p:spPr>
        <p:txBody>
          <a:bodyPr wrap="square" lIns="0" tIns="0" rIns="0" bIns="0" rtlCol="0" anchor="t"/>
          <a:lstStyle/>
          <a:p>
            <a:pPr indent="0" marL="0">
              <a:lnSpc>
                <a:spcPts val="1500"/>
              </a:lnSpc>
              <a:buNone/>
            </a:pPr>
            <a:r>
              <a:rPr lang="en-US" sz="1350" b="1" dirty="0">
                <a:solidFill>
                  <a:srgbClr val="1E7A4C"/>
                </a:solidFill>
                <a:latin typeface="Cambria" pitchFamily="34" charset="0"/>
                <a:ea typeface="Cambria" pitchFamily="34" charset="-122"/>
                <a:cs typeface="Cambria" pitchFamily="34" charset="-120"/>
              </a:rPr>
              <a:t>Counter utilisation</a:t>
            </a:r>
            <a:endParaRPr lang="en-US" sz="1350" dirty="0"/>
          </a:p>
        </p:txBody>
      </p:sp>
      <p:sp>
        <p:nvSpPr>
          <p:cNvPr id="16" name="Text 14"/>
          <p:cNvSpPr txBox="1"/>
          <p:nvPr/>
        </p:nvSpPr>
        <p:spPr>
          <a:xfrm>
            <a:off x="3849624" y="3493008"/>
            <a:ext cx="3931920" cy="603504"/>
          </a:xfrm>
          <a:prstGeom prst="rect">
            <a:avLst/>
          </a:prstGeom>
          <a:noFill/>
          <a:ln/>
        </p:spPr>
        <p:txBody>
          <a:bodyPr wrap="square" lIns="0" tIns="0" rIns="0" bIns="0" rtlCol="0" anchor="t"/>
          <a:lstStyle/>
          <a:p>
            <a:pPr indent="0" marL="0">
              <a:lnSpc>
                <a:spcPts val="1300"/>
              </a:lnSpc>
              <a:buNone/>
            </a:pPr>
            <a:r>
              <a:rPr lang="en-US" sz="1000" dirty="0">
                <a:solidFill>
                  <a:srgbClr val="15251D"/>
                </a:solidFill>
                <a:latin typeface="Calibri" pitchFamily="34" charset="0"/>
                <a:ea typeface="Calibri" pitchFamily="34" charset="-122"/>
                <a:cs typeface="Calibri" pitchFamily="34" charset="-120"/>
              </a:rPr>
              <a:t>A counter staffed all day but busy only in short windows has fixed labour against thin volume.</a:t>
            </a:r>
            <a:endParaRPr lang="en-US" sz="1000" dirty="0"/>
          </a:p>
        </p:txBody>
      </p:sp>
      <p:sp>
        <p:nvSpPr>
          <p:cNvPr id="17" name="Shape 15"/>
          <p:cNvSpPr/>
          <p:nvPr/>
        </p:nvSpPr>
        <p:spPr>
          <a:xfrm>
            <a:off x="7973568" y="3163824"/>
            <a:ext cx="3422599" cy="804672"/>
          </a:xfrm>
          <a:prstGeom prst="roundRect">
            <a:avLst>
              <a:gd name="adj" fmla="val 6818"/>
            </a:avLst>
          </a:prstGeom>
          <a:solidFill>
            <a:srgbClr val="F4F6F4"/>
          </a:solidFill>
          <a:ln w="9525">
            <a:solidFill>
              <a:srgbClr val="F4F6F4"/>
            </a:solidFill>
            <a:prstDash val="solid"/>
          </a:ln>
        </p:spPr>
      </p:sp>
      <p:sp>
        <p:nvSpPr>
          <p:cNvPr id="18" name="Text 16"/>
          <p:cNvSpPr txBox="1"/>
          <p:nvPr/>
        </p:nvSpPr>
        <p:spPr>
          <a:xfrm>
            <a:off x="8156448" y="3310128"/>
            <a:ext cx="3056839" cy="512064"/>
          </a:xfrm>
          <a:prstGeom prst="rect">
            <a:avLst/>
          </a:prstGeom>
          <a:noFill/>
          <a:ln/>
        </p:spPr>
        <p:txBody>
          <a:bodyPr wrap="square" lIns="0" tIns="0" rIns="0" bIns="0" rtlCol="0" anchor="t"/>
          <a:lstStyle/>
          <a:p>
            <a:pPr indent="0" marL="0">
              <a:lnSpc>
                <a:spcPts val="1250"/>
              </a:lnSpc>
              <a:buNone/>
            </a:pPr>
            <a:r>
              <a:rPr lang="en-US" sz="950" i="1" dirty="0">
                <a:solidFill>
                  <a:srgbClr val="5E6B64"/>
                </a:solidFill>
                <a:latin typeface="Calibri" pitchFamily="34" charset="0"/>
                <a:ea typeface="Calibri" pitchFamily="34" charset="-122"/>
                <a:cs typeface="Calibri" pitchFamily="34" charset="-120"/>
              </a:rPr>
              <a:t>The stated reason for the 2025 closures was cost against usage and volume</a:t>
            </a:r>
            <a:endParaRPr lang="en-US" sz="950" dirty="0"/>
          </a:p>
        </p:txBody>
      </p:sp>
      <p:sp>
        <p:nvSpPr>
          <p:cNvPr id="19" name="Shape 17"/>
          <p:cNvSpPr/>
          <p:nvPr/>
        </p:nvSpPr>
        <p:spPr>
          <a:xfrm>
            <a:off x="3218688" y="4809744"/>
            <a:ext cx="411480" cy="10973"/>
          </a:xfrm>
          <a:prstGeom prst="rect">
            <a:avLst/>
          </a:prstGeom>
          <a:solidFill>
            <a:srgbClr val="C3CCC7"/>
          </a:solidFill>
          <a:ln w="12700">
            <a:solidFill>
              <a:srgbClr val="C3CCC7"/>
            </a:solidFill>
            <a:prstDash val="solid"/>
          </a:ln>
        </p:spPr>
      </p:sp>
      <p:sp>
        <p:nvSpPr>
          <p:cNvPr id="20" name="Shape 18"/>
          <p:cNvSpPr/>
          <p:nvPr/>
        </p:nvSpPr>
        <p:spPr>
          <a:xfrm>
            <a:off x="3630168" y="4261104"/>
            <a:ext cx="7994599" cy="1097280"/>
          </a:xfrm>
          <a:prstGeom prst="roundRect">
            <a:avLst>
              <a:gd name="adj" fmla="val 5000"/>
            </a:avLst>
          </a:prstGeom>
          <a:solidFill>
            <a:srgbClr val="FFFFFF"/>
          </a:solidFill>
          <a:ln w="9525">
            <a:solidFill>
              <a:srgbClr val="D9DFDB"/>
            </a:solidFill>
            <a:prstDash val="solid"/>
          </a:ln>
        </p:spPr>
      </p:sp>
      <p:sp>
        <p:nvSpPr>
          <p:cNvPr id="21" name="Text 19"/>
          <p:cNvSpPr txBox="1"/>
          <p:nvPr/>
        </p:nvSpPr>
        <p:spPr>
          <a:xfrm>
            <a:off x="3849624" y="4407408"/>
            <a:ext cx="2743200" cy="274320"/>
          </a:xfrm>
          <a:prstGeom prst="rect">
            <a:avLst/>
          </a:prstGeom>
          <a:noFill/>
          <a:ln/>
        </p:spPr>
        <p:txBody>
          <a:bodyPr wrap="square" lIns="0" tIns="0" rIns="0" bIns="0" rtlCol="0" anchor="t"/>
          <a:lstStyle/>
          <a:p>
            <a:pPr indent="0" marL="0">
              <a:lnSpc>
                <a:spcPts val="1500"/>
              </a:lnSpc>
              <a:buNone/>
            </a:pPr>
            <a:r>
              <a:rPr lang="en-US" sz="1350" b="1" dirty="0">
                <a:solidFill>
                  <a:srgbClr val="1E7A4C"/>
                </a:solidFill>
                <a:latin typeface="Cambria" pitchFamily="34" charset="0"/>
                <a:ea typeface="Cambria" pitchFamily="34" charset="-122"/>
                <a:cs typeface="Cambria" pitchFamily="34" charset="-120"/>
              </a:rPr>
              <a:t>Colleague hours</a:t>
            </a:r>
            <a:endParaRPr lang="en-US" sz="1350" dirty="0"/>
          </a:p>
        </p:txBody>
      </p:sp>
      <p:sp>
        <p:nvSpPr>
          <p:cNvPr id="22" name="Text 20"/>
          <p:cNvSpPr txBox="1"/>
          <p:nvPr/>
        </p:nvSpPr>
        <p:spPr>
          <a:xfrm>
            <a:off x="3849624" y="4736592"/>
            <a:ext cx="3931920" cy="603504"/>
          </a:xfrm>
          <a:prstGeom prst="rect">
            <a:avLst/>
          </a:prstGeom>
          <a:noFill/>
          <a:ln/>
        </p:spPr>
        <p:txBody>
          <a:bodyPr wrap="square" lIns="0" tIns="0" rIns="0" bIns="0" rtlCol="0" anchor="t"/>
          <a:lstStyle/>
          <a:p>
            <a:pPr indent="0" marL="0">
              <a:lnSpc>
                <a:spcPts val="1300"/>
              </a:lnSpc>
              <a:buNone/>
            </a:pPr>
            <a:r>
              <a:rPr lang="en-US" sz="1000" dirty="0">
                <a:solidFill>
                  <a:srgbClr val="15251D"/>
                </a:solidFill>
                <a:latin typeface="Calibri" pitchFamily="34" charset="0"/>
                <a:ea typeface="Calibri" pitchFamily="34" charset="-122"/>
                <a:cs typeface="Calibri" pitchFamily="34" charset="-120"/>
              </a:rPr>
              <a:t>Manual planning, hunting for stock and doing reductions use the same hours that produce and serve. Time off the counter is production that never happens.</a:t>
            </a:r>
            <a:endParaRPr lang="en-US" sz="1000" dirty="0"/>
          </a:p>
        </p:txBody>
      </p:sp>
      <p:sp>
        <p:nvSpPr>
          <p:cNvPr id="23" name="Shape 21"/>
          <p:cNvSpPr/>
          <p:nvPr/>
        </p:nvSpPr>
        <p:spPr>
          <a:xfrm>
            <a:off x="7973568" y="4407408"/>
            <a:ext cx="3422599" cy="804672"/>
          </a:xfrm>
          <a:prstGeom prst="roundRect">
            <a:avLst>
              <a:gd name="adj" fmla="val 6818"/>
            </a:avLst>
          </a:prstGeom>
          <a:solidFill>
            <a:srgbClr val="F4F6F4"/>
          </a:solidFill>
          <a:ln w="9525">
            <a:solidFill>
              <a:srgbClr val="F4F6F4"/>
            </a:solidFill>
            <a:prstDash val="solid"/>
          </a:ln>
        </p:spPr>
      </p:sp>
      <p:sp>
        <p:nvSpPr>
          <p:cNvPr id="24" name="Text 22"/>
          <p:cNvSpPr txBox="1"/>
          <p:nvPr/>
        </p:nvSpPr>
        <p:spPr>
          <a:xfrm>
            <a:off x="8156448" y="4553712"/>
            <a:ext cx="3056839" cy="512064"/>
          </a:xfrm>
          <a:prstGeom prst="rect">
            <a:avLst/>
          </a:prstGeom>
          <a:noFill/>
          <a:ln/>
        </p:spPr>
        <p:txBody>
          <a:bodyPr wrap="square" lIns="0" tIns="0" rIns="0" bIns="0" rtlCol="0" anchor="t"/>
          <a:lstStyle/>
          <a:p>
            <a:pPr indent="0" marL="0">
              <a:lnSpc>
                <a:spcPts val="1250"/>
              </a:lnSpc>
              <a:buNone/>
            </a:pPr>
            <a:r>
              <a:rPr lang="en-US" sz="950" i="1" dirty="0">
                <a:solidFill>
                  <a:srgbClr val="5E6B64"/>
                </a:solidFill>
                <a:latin typeface="Calibri" pitchFamily="34" charset="0"/>
                <a:ea typeface="Calibri" pitchFamily="34" charset="-122"/>
                <a:cs typeface="Calibri" pitchFamily="34" charset="-120"/>
              </a:rPr>
              <a:t>Labour is the binding cost: National Living Wage rises to £12.71 from April 2026</a:t>
            </a:r>
            <a:endParaRPr lang="en-US" sz="950" dirty="0"/>
          </a:p>
        </p:txBody>
      </p:sp>
      <p:sp>
        <p:nvSpPr>
          <p:cNvPr id="25" name="Shape 23"/>
          <p:cNvSpPr/>
          <p:nvPr/>
        </p:nvSpPr>
        <p:spPr>
          <a:xfrm>
            <a:off x="566928" y="5632704"/>
            <a:ext cx="11057839" cy="603504"/>
          </a:xfrm>
          <a:prstGeom prst="roundRect">
            <a:avLst>
              <a:gd name="adj" fmla="val 9091"/>
            </a:avLst>
          </a:prstGeom>
          <a:solidFill>
            <a:srgbClr val="E5EFE9"/>
          </a:solidFill>
          <a:ln w="9525">
            <a:solidFill>
              <a:srgbClr val="E5EFE9"/>
            </a:solidFill>
            <a:prstDash val="solid"/>
          </a:ln>
        </p:spPr>
      </p:sp>
      <p:sp>
        <p:nvSpPr>
          <p:cNvPr id="26" name="Text 24"/>
          <p:cNvSpPr txBox="1"/>
          <p:nvPr/>
        </p:nvSpPr>
        <p:spPr>
          <a:xfrm>
            <a:off x="786384" y="5742432"/>
            <a:ext cx="10618927" cy="402336"/>
          </a:xfrm>
          <a:prstGeom prst="rect">
            <a:avLst/>
          </a:prstGeom>
          <a:noFill/>
          <a:ln/>
        </p:spPr>
        <p:txBody>
          <a:bodyPr wrap="square" lIns="0" tIns="0" rIns="0" bIns="0" rtlCol="0" anchor="t"/>
          <a:lstStyle/>
          <a:p>
            <a:pPr indent="0" marL="0">
              <a:lnSpc>
                <a:spcPts val="1350"/>
              </a:lnSpc>
              <a:buNone/>
            </a:pPr>
            <a:r>
              <a:rPr lang="en-US" sz="1000" dirty="0">
                <a:solidFill>
                  <a:srgbClr val="15251D"/>
                </a:solidFill>
                <a:latin typeface="Calibri" pitchFamily="34" charset="0"/>
                <a:ea typeface="Calibri" pitchFamily="34" charset="-122"/>
                <a:cs typeface="Calibri" pitchFamily="34" charset="-120"/>
              </a:rPr>
              <a:t>This is why the analysis does not open with a product idea. The same decision sits under the waste question, the availability question, the productivity question and the format question. Today it is made without a record of what is in stock or what sold yesterday. Fix that first and everything after it becomes measurable.</a:t>
            </a:r>
            <a:endParaRPr lang="en-US" sz="1000" dirty="0"/>
          </a:p>
        </p:txBody>
      </p:sp>
      <p:sp>
        <p:nvSpPr>
          <p:cNvPr id="27" name="Text 25"/>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First-hand observation (structure); Morrisons Corporate; Retail Gazette; ACS (National Living Wage, Nov 2025); analysis</a:t>
            </a:r>
            <a:endParaRPr lang="en-US" sz="800" dirty="0"/>
          </a:p>
        </p:txBody>
      </p:sp>
      <p:sp>
        <p:nvSpPr>
          <p:cNvPr id="28" name="Text 26"/>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THE COMMERCIAL CASE</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Counter waste tonnage is small. The cost of managing unsold food is close to the whole profit line</a:t>
            </a:r>
            <a:endParaRPr lang="en-US" sz="2100" dirty="0"/>
          </a:p>
        </p:txBody>
      </p:sp>
      <p:sp>
        <p:nvSpPr>
          <p:cNvPr id="4" name="Text 2"/>
          <p:cNvSpPr txBox="1"/>
          <p:nvPr/>
        </p:nvSpPr>
        <p:spPr>
          <a:xfrm>
            <a:off x="566928" y="1874520"/>
            <a:ext cx="2377440" cy="566928"/>
          </a:xfrm>
          <a:prstGeom prst="rect">
            <a:avLst/>
          </a:prstGeom>
          <a:noFill/>
          <a:ln/>
        </p:spPr>
        <p:txBody>
          <a:bodyPr wrap="square" lIns="0" tIns="0" rIns="0" bIns="0" rtlCol="0" anchor="ctr"/>
          <a:lstStyle/>
          <a:p>
            <a:pPr indent="0" marL="0">
              <a:buNone/>
            </a:pPr>
            <a:r>
              <a:rPr lang="en-US" sz="3400" b="1" dirty="0">
                <a:solidFill>
                  <a:srgbClr val="5E6B64"/>
                </a:solidFill>
                <a:latin typeface="Cambria" pitchFamily="34" charset="0"/>
                <a:ea typeface="Cambria" pitchFamily="34" charset="-122"/>
                <a:cs typeface="Cambria" pitchFamily="34" charset="-120"/>
              </a:rPr>
              <a:t>2%</a:t>
            </a:r>
            <a:endParaRPr lang="en-US" sz="3400" dirty="0"/>
          </a:p>
        </p:txBody>
      </p:sp>
      <p:sp>
        <p:nvSpPr>
          <p:cNvPr id="5" name="Text 3"/>
          <p:cNvSpPr txBox="1"/>
          <p:nvPr/>
        </p:nvSpPr>
        <p:spPr>
          <a:xfrm>
            <a:off x="566928" y="2441448"/>
            <a:ext cx="2377440" cy="566928"/>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of UK food waste tonnage happens at the retail stage. Measured in weight, in-store waste barely touches a grocer’s P&amp;L.</a:t>
            </a:r>
            <a:endParaRPr lang="en-US" sz="1000" dirty="0"/>
          </a:p>
        </p:txBody>
      </p:sp>
      <p:sp>
        <p:nvSpPr>
          <p:cNvPr id="6" name="Text 4"/>
          <p:cNvSpPr txBox="1"/>
          <p:nvPr/>
        </p:nvSpPr>
        <p:spPr>
          <a:xfrm>
            <a:off x="3355848" y="1874520"/>
            <a:ext cx="2377440" cy="566928"/>
          </a:xfrm>
          <a:prstGeom prst="rect">
            <a:avLst/>
          </a:prstGeom>
          <a:noFill/>
          <a:ln/>
        </p:spPr>
        <p:txBody>
          <a:bodyPr wrap="square" lIns="0" tIns="0" rIns="0" bIns="0" rtlCol="0" anchor="ctr"/>
          <a:lstStyle/>
          <a:p>
            <a:pPr indent="0" marL="0">
              <a:buNone/>
            </a:pPr>
            <a:r>
              <a:rPr lang="en-US" sz="3400" b="1" dirty="0">
                <a:solidFill>
                  <a:srgbClr val="15251D"/>
                </a:solidFill>
                <a:latin typeface="Cambria" pitchFamily="34" charset="0"/>
                <a:ea typeface="Cambria" pitchFamily="34" charset="-122"/>
                <a:cs typeface="Cambria" pitchFamily="34" charset="-120"/>
              </a:rPr>
              <a:t>&gt;97%</a:t>
            </a:r>
            <a:endParaRPr lang="en-US" sz="3400" dirty="0"/>
          </a:p>
        </p:txBody>
      </p:sp>
      <p:sp>
        <p:nvSpPr>
          <p:cNvPr id="7" name="Text 5"/>
          <p:cNvSpPr txBox="1"/>
          <p:nvPr/>
        </p:nvSpPr>
        <p:spPr>
          <a:xfrm>
            <a:off x="3355848" y="2441448"/>
            <a:ext cx="2377440" cy="566928"/>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of food inventory is successfully sold by supermarkets. The cost is concentrated in managing the final 3%.</a:t>
            </a:r>
            <a:endParaRPr lang="en-US" sz="1000" dirty="0"/>
          </a:p>
        </p:txBody>
      </p:sp>
      <p:sp>
        <p:nvSpPr>
          <p:cNvPr id="8" name="Text 6"/>
          <p:cNvSpPr txBox="1"/>
          <p:nvPr/>
        </p:nvSpPr>
        <p:spPr>
          <a:xfrm>
            <a:off x="6144768" y="1874520"/>
            <a:ext cx="2377440" cy="566928"/>
          </a:xfrm>
          <a:prstGeom prst="rect">
            <a:avLst/>
          </a:prstGeom>
          <a:noFill/>
          <a:ln/>
        </p:spPr>
        <p:txBody>
          <a:bodyPr wrap="square" lIns="0" tIns="0" rIns="0" bIns="0" rtlCol="0" anchor="ctr"/>
          <a:lstStyle/>
          <a:p>
            <a:pPr indent="0" marL="0">
              <a:buNone/>
            </a:pPr>
            <a:r>
              <a:rPr lang="en-US" sz="3400" b="1" dirty="0">
                <a:solidFill>
                  <a:srgbClr val="1E7A4C"/>
                </a:solidFill>
                <a:latin typeface="Cambria" pitchFamily="34" charset="0"/>
                <a:ea typeface="Cambria" pitchFamily="34" charset="-122"/>
                <a:cs typeface="Cambria" pitchFamily="34" charset="-120"/>
              </a:rPr>
              <a:t>1.8%</a:t>
            </a:r>
            <a:endParaRPr lang="en-US" sz="3400" dirty="0"/>
          </a:p>
        </p:txBody>
      </p:sp>
      <p:sp>
        <p:nvSpPr>
          <p:cNvPr id="9" name="Text 7"/>
          <p:cNvSpPr txBox="1"/>
          <p:nvPr/>
        </p:nvSpPr>
        <p:spPr>
          <a:xfrm>
            <a:off x="6144768" y="2441448"/>
            <a:ext cx="2377440" cy="566928"/>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of retail sales revenue is the full hidden cost of unsold food: labour, markdown, disposal, redistribution, unrecorded loss.</a:t>
            </a:r>
            <a:endParaRPr lang="en-US" sz="1000" dirty="0"/>
          </a:p>
        </p:txBody>
      </p:sp>
      <p:sp>
        <p:nvSpPr>
          <p:cNvPr id="10" name="Text 8"/>
          <p:cNvSpPr txBox="1"/>
          <p:nvPr/>
        </p:nvSpPr>
        <p:spPr>
          <a:xfrm>
            <a:off x="8933688" y="1874520"/>
            <a:ext cx="2377440" cy="566928"/>
          </a:xfrm>
          <a:prstGeom prst="rect">
            <a:avLst/>
          </a:prstGeom>
          <a:noFill/>
          <a:ln/>
        </p:spPr>
        <p:txBody>
          <a:bodyPr wrap="square" lIns="0" tIns="0" rIns="0" bIns="0" rtlCol="0" anchor="ctr"/>
          <a:lstStyle/>
          <a:p>
            <a:pPr indent="0" marL="0">
              <a:buNone/>
            </a:pPr>
            <a:r>
              <a:rPr lang="en-US" sz="3400" b="1" dirty="0">
                <a:solidFill>
                  <a:srgbClr val="1E7A4C"/>
                </a:solidFill>
                <a:latin typeface="Cambria" pitchFamily="34" charset="0"/>
                <a:ea typeface="Cambria" pitchFamily="34" charset="-122"/>
                <a:cs typeface="Cambria" pitchFamily="34" charset="-120"/>
              </a:rPr>
              <a:t>&gt;20%</a:t>
            </a:r>
            <a:endParaRPr lang="en-US" sz="3400" dirty="0"/>
          </a:p>
        </p:txBody>
      </p:sp>
      <p:sp>
        <p:nvSpPr>
          <p:cNvPr id="11" name="Text 9"/>
          <p:cNvSpPr txBox="1"/>
          <p:nvPr/>
        </p:nvSpPr>
        <p:spPr>
          <a:xfrm>
            <a:off x="8933688" y="2441448"/>
            <a:ext cx="2377440" cy="566928"/>
          </a:xfrm>
          <a:prstGeom prst="rect">
            <a:avLst/>
          </a:prstGeom>
          <a:noFill/>
          <a:ln/>
        </p:spPr>
        <p:txBody>
          <a:bodyPr wrap="square" lIns="0" tIns="0" rIns="0" bIns="0" rtlCol="0" anchor="t"/>
          <a:lstStyle/>
          <a:p>
            <a:pPr indent="0" marL="0">
              <a:lnSpc>
                <a:spcPts val="1300"/>
              </a:lnSpc>
              <a:buNone/>
            </a:pPr>
            <a:r>
              <a:rPr lang="en-US" sz="1000" dirty="0">
                <a:solidFill>
                  <a:srgbClr val="5E6B64"/>
                </a:solidFill>
                <a:latin typeface="Calibri" pitchFamily="34" charset="0"/>
                <a:ea typeface="Calibri" pitchFamily="34" charset="-122"/>
                <a:cs typeface="Calibri" pitchFamily="34" charset="-120"/>
              </a:rPr>
              <a:t>potential profit growth if those hidden costs were halved, against grocery net margins of 1–3%.</a:t>
            </a:r>
            <a:endParaRPr lang="en-US" sz="1000" dirty="0"/>
          </a:p>
        </p:txBody>
      </p:sp>
      <p:sp>
        <p:nvSpPr>
          <p:cNvPr id="12" name="Shape 10"/>
          <p:cNvSpPr/>
          <p:nvPr/>
        </p:nvSpPr>
        <p:spPr>
          <a:xfrm>
            <a:off x="566928" y="3401568"/>
            <a:ext cx="11057839" cy="1170432"/>
          </a:xfrm>
          <a:prstGeom prst="roundRect">
            <a:avLst>
              <a:gd name="adj" fmla="val 4688"/>
            </a:avLst>
          </a:prstGeom>
          <a:solidFill>
            <a:srgbClr val="FFFFFF"/>
          </a:solidFill>
          <a:ln w="9525">
            <a:solidFill>
              <a:srgbClr val="1E7A4C"/>
            </a:solidFill>
            <a:prstDash val="solid"/>
          </a:ln>
        </p:spPr>
      </p:sp>
      <p:sp>
        <p:nvSpPr>
          <p:cNvPr id="13" name="Shape 11"/>
          <p:cNvSpPr/>
          <p:nvPr/>
        </p:nvSpPr>
        <p:spPr>
          <a:xfrm>
            <a:off x="786384" y="3566160"/>
            <a:ext cx="882396" cy="219456"/>
          </a:xfrm>
          <a:prstGeom prst="roundRect">
            <a:avLst>
              <a:gd name="adj" fmla="val 50000"/>
            </a:avLst>
          </a:prstGeom>
          <a:solidFill>
            <a:srgbClr val="F4F6F4"/>
          </a:solidFill>
          <a:ln w="12700">
            <a:solidFill>
              <a:srgbClr val="F4F6F4"/>
            </a:solidFill>
            <a:prstDash val="solid"/>
          </a:ln>
        </p:spPr>
      </p:sp>
      <p:sp>
        <p:nvSpPr>
          <p:cNvPr id="14" name="Text 12"/>
          <p:cNvSpPr txBox="1"/>
          <p:nvPr/>
        </p:nvSpPr>
        <p:spPr>
          <a:xfrm>
            <a:off x="786384" y="3566160"/>
            <a:ext cx="882396" cy="219456"/>
          </a:xfrm>
          <a:prstGeom prst="rect">
            <a:avLst/>
          </a:prstGeom>
          <a:noFill/>
          <a:ln/>
        </p:spPr>
        <p:txBody>
          <a:bodyPr wrap="square" lIns="0" tIns="0" rIns="0" bIns="0" rtlCol="0" anchor="ctr"/>
          <a:lstStyle/>
          <a:p>
            <a:pPr algn="ctr" indent="0" marL="0">
              <a:buNone/>
            </a:pPr>
            <a:r>
              <a:rPr lang="en-US" sz="750" b="1" spc="80" kern="0" dirty="0">
                <a:solidFill>
                  <a:srgbClr val="15251D"/>
                </a:solidFill>
                <a:latin typeface="Calibri" pitchFamily="34" charset="0"/>
                <a:ea typeface="Calibri" pitchFamily="34" charset="-122"/>
                <a:cs typeface="Calibri" pitchFamily="34" charset="-120"/>
              </a:rPr>
              <a:t>INFERENCE</a:t>
            </a:r>
            <a:endParaRPr lang="en-US" sz="750" dirty="0"/>
          </a:p>
        </p:txBody>
      </p:sp>
      <p:sp>
        <p:nvSpPr>
          <p:cNvPr id="15" name="Text 13"/>
          <p:cNvSpPr txBox="1"/>
          <p:nvPr/>
        </p:nvSpPr>
        <p:spPr>
          <a:xfrm>
            <a:off x="786384" y="3877056"/>
            <a:ext cx="10618927" cy="621792"/>
          </a:xfrm>
          <a:prstGeom prst="rect">
            <a:avLst/>
          </a:prstGeom>
          <a:noFill/>
          <a:ln/>
        </p:spPr>
        <p:txBody>
          <a:bodyPr wrap="square" lIns="0" tIns="0" rIns="0" bIns="0" rtlCol="0" anchor="t"/>
          <a:lstStyle/>
          <a:p>
            <a:pPr indent="0" marL="0">
              <a:lnSpc>
                <a:spcPts val="1450"/>
              </a:lnSpc>
              <a:buNone/>
            </a:pPr>
            <a:r>
              <a:rPr lang="en-US" sz="1100" dirty="0">
                <a:solidFill>
                  <a:srgbClr val="15251D"/>
                </a:solidFill>
                <a:latin typeface="Calibri" pitchFamily="34" charset="0"/>
                <a:ea typeface="Calibri" pitchFamily="34" charset="-122"/>
                <a:cs typeface="Calibri" pitchFamily="34" charset="-120"/>
              </a:rPr>
              <a:t>Call this “reduce food waste” and the right answer is that the tonnage is trivial and Morrisons already has a credible programme. Call it “get the production decision right” and it reads differently, because that decision fails both ways. Too much drives markdown depth and the 1.8% cost of handling unsold food. Too little empties the counter, and stock gaps put a further £2.1bn of UK grocery sales a year at risk. Waste is the symptom you can see. The production decision is what moves it, and today it is made without a record of what sold.</a:t>
            </a:r>
            <a:endParaRPr lang="en-US" sz="1100" dirty="0"/>
          </a:p>
        </p:txBody>
      </p:sp>
      <p:sp>
        <p:nvSpPr>
          <p:cNvPr id="16" name="Shape 14"/>
          <p:cNvSpPr/>
          <p:nvPr/>
        </p:nvSpPr>
        <p:spPr>
          <a:xfrm>
            <a:off x="566928" y="4864608"/>
            <a:ext cx="3515258" cy="1371600"/>
          </a:xfrm>
          <a:prstGeom prst="roundRect">
            <a:avLst>
              <a:gd name="adj" fmla="val 4000"/>
            </a:avLst>
          </a:prstGeom>
          <a:solidFill>
            <a:srgbClr val="F4F6F4"/>
          </a:solidFill>
          <a:ln w="9525">
            <a:solidFill>
              <a:srgbClr val="F4F6F4"/>
            </a:solidFill>
            <a:prstDash val="solid"/>
          </a:ln>
        </p:spPr>
      </p:sp>
      <p:sp>
        <p:nvSpPr>
          <p:cNvPr id="17" name="Text 15"/>
          <p:cNvSpPr txBox="1"/>
          <p:nvPr/>
        </p:nvSpPr>
        <p:spPr>
          <a:xfrm>
            <a:off x="768096" y="5010912"/>
            <a:ext cx="3112922" cy="219456"/>
          </a:xfrm>
          <a:prstGeom prst="rect">
            <a:avLst/>
          </a:prstGeom>
          <a:noFill/>
          <a:ln/>
        </p:spPr>
        <p:txBody>
          <a:bodyPr wrap="square" lIns="0" tIns="0" rIns="0" bIns="0" rtlCol="0" anchor="t"/>
          <a:lstStyle/>
          <a:p>
            <a:pPr indent="0" marL="0">
              <a:lnSpc>
                <a:spcPts val="1500"/>
              </a:lnSpc>
              <a:buNone/>
            </a:pPr>
            <a:r>
              <a:rPr lang="en-US" sz="850" b="1" spc="90" kern="0" dirty="0">
                <a:solidFill>
                  <a:srgbClr val="1E7A4C"/>
                </a:solidFill>
                <a:latin typeface="Calibri" pitchFamily="34" charset="0"/>
                <a:ea typeface="Calibri" pitchFamily="34" charset="-122"/>
                <a:cs typeface="Calibri" pitchFamily="34" charset="-120"/>
              </a:rPr>
              <a:t>MORRISONS, JULY 2026</a:t>
            </a:r>
            <a:endParaRPr lang="en-US" sz="850" dirty="0"/>
          </a:p>
        </p:txBody>
      </p:sp>
      <p:sp>
        <p:nvSpPr>
          <p:cNvPr id="18" name="Text 16"/>
          <p:cNvSpPr txBox="1"/>
          <p:nvPr/>
        </p:nvSpPr>
        <p:spPr>
          <a:xfrm>
            <a:off x="768096" y="5266944"/>
            <a:ext cx="3112922" cy="822960"/>
          </a:xfrm>
          <a:prstGeom prst="rect">
            <a:avLst/>
          </a:prstGeom>
          <a:noFill/>
          <a:ln/>
        </p:spPr>
        <p:txBody>
          <a:bodyPr wrap="square" lIns="0" tIns="0" rIns="0" bIns="0" rtlCol="0" anchor="t"/>
          <a:lstStyle/>
          <a:p>
            <a:pPr indent="0" marL="0">
              <a:lnSpc>
                <a:spcPts val="1350"/>
              </a:lnSpc>
              <a:buNone/>
            </a:pPr>
            <a:r>
              <a:rPr lang="en-US" sz="1000" dirty="0">
                <a:solidFill>
                  <a:srgbClr val="15251D"/>
                </a:solidFill>
                <a:latin typeface="Calibri" pitchFamily="34" charset="0"/>
                <a:ea typeface="Calibri" pitchFamily="34" charset="-122"/>
                <a:cs typeface="Calibri" pitchFamily="34" charset="-120"/>
              </a:rPr>
              <a:t>Reopened counters after it “improved the waste yield from its counters… making them more efficient to run”.</a:t>
            </a:r>
            <a:endParaRPr lang="en-US" sz="1000" dirty="0"/>
          </a:p>
        </p:txBody>
      </p:sp>
      <p:sp>
        <p:nvSpPr>
          <p:cNvPr id="19" name="Shape 17"/>
          <p:cNvSpPr/>
          <p:nvPr/>
        </p:nvSpPr>
        <p:spPr>
          <a:xfrm>
            <a:off x="4338218" y="4864608"/>
            <a:ext cx="3515258" cy="1371600"/>
          </a:xfrm>
          <a:prstGeom prst="roundRect">
            <a:avLst>
              <a:gd name="adj" fmla="val 4000"/>
            </a:avLst>
          </a:prstGeom>
          <a:solidFill>
            <a:srgbClr val="F4F6F4"/>
          </a:solidFill>
          <a:ln w="9525">
            <a:solidFill>
              <a:srgbClr val="F4F6F4"/>
            </a:solidFill>
            <a:prstDash val="solid"/>
          </a:ln>
        </p:spPr>
      </p:sp>
      <p:sp>
        <p:nvSpPr>
          <p:cNvPr id="20" name="Text 18"/>
          <p:cNvSpPr txBox="1"/>
          <p:nvPr/>
        </p:nvSpPr>
        <p:spPr>
          <a:xfrm>
            <a:off x="4539386" y="5010912"/>
            <a:ext cx="3112922" cy="219456"/>
          </a:xfrm>
          <a:prstGeom prst="rect">
            <a:avLst/>
          </a:prstGeom>
          <a:noFill/>
          <a:ln/>
        </p:spPr>
        <p:txBody>
          <a:bodyPr wrap="square" lIns="0" tIns="0" rIns="0" bIns="0" rtlCol="0" anchor="t"/>
          <a:lstStyle/>
          <a:p>
            <a:pPr indent="0" marL="0">
              <a:lnSpc>
                <a:spcPts val="1500"/>
              </a:lnSpc>
              <a:buNone/>
            </a:pPr>
            <a:r>
              <a:rPr lang="en-US" sz="850" b="1" spc="90" kern="0" dirty="0">
                <a:solidFill>
                  <a:srgbClr val="1E7A4C"/>
                </a:solidFill>
                <a:latin typeface="Calibri" pitchFamily="34" charset="0"/>
                <a:ea typeface="Calibri" pitchFamily="34" charset="-122"/>
                <a:cs typeface="Calibri" pitchFamily="34" charset="-120"/>
              </a:rPr>
              <a:t>SAINSBURY’S, NOVEMBER 2020</a:t>
            </a:r>
            <a:endParaRPr lang="en-US" sz="850" dirty="0"/>
          </a:p>
        </p:txBody>
      </p:sp>
      <p:sp>
        <p:nvSpPr>
          <p:cNvPr id="21" name="Text 19"/>
          <p:cNvSpPr txBox="1"/>
          <p:nvPr/>
        </p:nvSpPr>
        <p:spPr>
          <a:xfrm>
            <a:off x="4539386" y="5266944"/>
            <a:ext cx="3112922" cy="822960"/>
          </a:xfrm>
          <a:prstGeom prst="rect">
            <a:avLst/>
          </a:prstGeom>
          <a:noFill/>
          <a:ln/>
        </p:spPr>
        <p:txBody>
          <a:bodyPr wrap="square" lIns="0" tIns="0" rIns="0" bIns="0" rtlCol="0" anchor="t"/>
          <a:lstStyle/>
          <a:p>
            <a:pPr indent="0" marL="0">
              <a:lnSpc>
                <a:spcPts val="1350"/>
              </a:lnSpc>
              <a:buNone/>
            </a:pPr>
            <a:r>
              <a:rPr lang="en-US" sz="1000" dirty="0">
                <a:solidFill>
                  <a:srgbClr val="15251D"/>
                </a:solidFill>
                <a:latin typeface="Calibri" pitchFamily="34" charset="0"/>
                <a:ea typeface="Calibri" pitchFamily="34" charset="-122"/>
                <a:cs typeface="Calibri" pitchFamily="34" charset="-120"/>
              </a:rPr>
              <a:t>Cited reduced food waste among the benefits of closing all 420 counters, inside £60m of operating cost savings.</a:t>
            </a:r>
            <a:endParaRPr lang="en-US" sz="1000" dirty="0"/>
          </a:p>
        </p:txBody>
      </p:sp>
      <p:sp>
        <p:nvSpPr>
          <p:cNvPr id="22" name="Shape 20"/>
          <p:cNvSpPr/>
          <p:nvPr/>
        </p:nvSpPr>
        <p:spPr>
          <a:xfrm>
            <a:off x="8109509" y="4864608"/>
            <a:ext cx="3515258" cy="1371600"/>
          </a:xfrm>
          <a:prstGeom prst="roundRect">
            <a:avLst>
              <a:gd name="adj" fmla="val 4000"/>
            </a:avLst>
          </a:prstGeom>
          <a:solidFill>
            <a:srgbClr val="F4F6F4"/>
          </a:solidFill>
          <a:ln w="9525">
            <a:solidFill>
              <a:srgbClr val="F4F6F4"/>
            </a:solidFill>
            <a:prstDash val="solid"/>
          </a:ln>
        </p:spPr>
      </p:sp>
      <p:sp>
        <p:nvSpPr>
          <p:cNvPr id="23" name="Text 21"/>
          <p:cNvSpPr txBox="1"/>
          <p:nvPr/>
        </p:nvSpPr>
        <p:spPr>
          <a:xfrm>
            <a:off x="8310677" y="5010912"/>
            <a:ext cx="3112922" cy="219456"/>
          </a:xfrm>
          <a:prstGeom prst="rect">
            <a:avLst/>
          </a:prstGeom>
          <a:noFill/>
          <a:ln/>
        </p:spPr>
        <p:txBody>
          <a:bodyPr wrap="square" lIns="0" tIns="0" rIns="0" bIns="0" rtlCol="0" anchor="t"/>
          <a:lstStyle/>
          <a:p>
            <a:pPr indent="0" marL="0">
              <a:lnSpc>
                <a:spcPts val="1500"/>
              </a:lnSpc>
              <a:buNone/>
            </a:pPr>
            <a:r>
              <a:rPr lang="en-US" sz="850" b="1" spc="90" kern="0" dirty="0">
                <a:solidFill>
                  <a:srgbClr val="1E7A4C"/>
                </a:solidFill>
                <a:latin typeface="Calibri" pitchFamily="34" charset="0"/>
                <a:ea typeface="Calibri" pitchFamily="34" charset="-122"/>
                <a:cs typeface="Calibri" pitchFamily="34" charset="-120"/>
              </a:rPr>
              <a:t>ECR / EINDHOVEN, PEER-REVIEWED</a:t>
            </a:r>
            <a:endParaRPr lang="en-US" sz="850" dirty="0"/>
          </a:p>
        </p:txBody>
      </p:sp>
      <p:sp>
        <p:nvSpPr>
          <p:cNvPr id="24" name="Text 22"/>
          <p:cNvSpPr txBox="1"/>
          <p:nvPr/>
        </p:nvSpPr>
        <p:spPr>
          <a:xfrm>
            <a:off x="8310677" y="5266944"/>
            <a:ext cx="3112922" cy="822960"/>
          </a:xfrm>
          <a:prstGeom prst="rect">
            <a:avLst/>
          </a:prstGeom>
          <a:noFill/>
          <a:ln/>
        </p:spPr>
        <p:txBody>
          <a:bodyPr wrap="square" lIns="0" tIns="0" rIns="0" bIns="0" rtlCol="0" anchor="t"/>
          <a:lstStyle/>
          <a:p>
            <a:pPr indent="0" marL="0">
              <a:lnSpc>
                <a:spcPts val="1350"/>
              </a:lnSpc>
              <a:buNone/>
            </a:pPr>
            <a:r>
              <a:rPr lang="en-US" sz="1000" dirty="0">
                <a:solidFill>
                  <a:srgbClr val="15251D"/>
                </a:solidFill>
                <a:latin typeface="Calibri" pitchFamily="34" charset="0"/>
                <a:ea typeface="Calibri" pitchFamily="34" charset="-122"/>
                <a:cs typeface="Calibri" pitchFamily="34" charset="-120"/>
              </a:rPr>
              <a:t>Batch size relative to daily demand and shelf life explains 42% of the variation in fresh waste percentage.</a:t>
            </a:r>
            <a:endParaRPr lang="en-US" sz="1000" dirty="0"/>
          </a:p>
        </p:txBody>
      </p:sp>
      <p:sp>
        <p:nvSpPr>
          <p:cNvPr id="25" name="Text 23"/>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ECR Retail Loss / University of Portsmouth, “The True Cost of Unsold Food in Retail” (Jul 2025); ECR Retail Loss / Eindhoven, “Sell More, Waste Less”; Retail Economics &amp; DHL, “The Availability Effect” (2026); House of Commons Library / WRAP; Retail Gazette; Meat Management</a:t>
            </a:r>
            <a:endParaRPr lang="en-US" sz="800" dirty="0"/>
          </a:p>
        </p:txBody>
      </p:sp>
      <p:sp>
        <p:nvSpPr>
          <p:cNvPr id="26" name="Text 24"/>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WHERE THE GAP ACTUALLY IS</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Morrisons’ technology decides what to order and what is missing from shelf. It stops at the counter</a:t>
            </a:r>
            <a:endParaRPr lang="en-US" sz="2100" dirty="0"/>
          </a:p>
        </p:txBody>
      </p:sp>
      <p:sp>
        <p:nvSpPr>
          <p:cNvPr id="4" name="Shape 2"/>
          <p:cNvSpPr/>
          <p:nvPr/>
        </p:nvSpPr>
        <p:spPr>
          <a:xfrm>
            <a:off x="9560357" y="1755648"/>
            <a:ext cx="2027834" cy="3529584"/>
          </a:xfrm>
          <a:prstGeom prst="roundRect">
            <a:avLst>
              <a:gd name="adj" fmla="val 2706"/>
            </a:avLst>
          </a:prstGeom>
          <a:solidFill>
            <a:srgbClr val="F5E7E4"/>
          </a:solidFill>
          <a:ln w="12700">
            <a:solidFill>
              <a:srgbClr val="96382C"/>
            </a:solidFill>
            <a:prstDash val="solid"/>
          </a:ln>
        </p:spPr>
      </p:sp>
      <p:sp>
        <p:nvSpPr>
          <p:cNvPr id="5" name="Text 3"/>
          <p:cNvSpPr txBox="1"/>
          <p:nvPr/>
        </p:nvSpPr>
        <p:spPr>
          <a:xfrm>
            <a:off x="5321808" y="1828800"/>
            <a:ext cx="1050493" cy="548640"/>
          </a:xfrm>
          <a:prstGeom prst="rect">
            <a:avLst/>
          </a:prstGeom>
          <a:noFill/>
          <a:ln/>
        </p:spPr>
        <p:txBody>
          <a:bodyPr wrap="square" lIns="0" tIns="0" rIns="0" bIns="0" rtlCol="0" anchor="t"/>
          <a:lstStyle/>
          <a:p>
            <a:pPr algn="ctr" indent="0" marL="0">
              <a:lnSpc>
                <a:spcPts val="1100"/>
              </a:lnSpc>
              <a:buNone/>
            </a:pPr>
            <a:r>
              <a:rPr lang="en-US" sz="850" b="1" dirty="0">
                <a:solidFill>
                  <a:srgbClr val="5E6B64"/>
                </a:solidFill>
                <a:latin typeface="Calibri" pitchFamily="34" charset="0"/>
                <a:ea typeface="Calibri" pitchFamily="34" charset="-122"/>
                <a:cs typeface="Calibri" pitchFamily="34" charset="-120"/>
              </a:rPr>
              <a:t>Retail SKU</a:t>
            </a:r>
            <a:endParaRPr lang="en-US" sz="850" dirty="0"/>
          </a:p>
          <a:p>
            <a:pPr algn="ctr" indent="0" marL="0">
              <a:lnSpc>
                <a:spcPts val="1100"/>
              </a:lnSpc>
              <a:buNone/>
            </a:pPr>
            <a:r>
              <a:rPr lang="en-US" sz="850" b="1" dirty="0">
                <a:solidFill>
                  <a:srgbClr val="5E6B64"/>
                </a:solidFill>
                <a:latin typeface="Calibri" pitchFamily="34" charset="0"/>
                <a:ea typeface="Calibri" pitchFamily="34" charset="-122"/>
                <a:cs typeface="Calibri" pitchFamily="34" charset="-120"/>
              </a:rPr>
              <a:t>ordering</a:t>
            </a:r>
            <a:endParaRPr lang="en-US" sz="850" dirty="0"/>
          </a:p>
        </p:txBody>
      </p:sp>
      <p:sp>
        <p:nvSpPr>
          <p:cNvPr id="6" name="Text 4"/>
          <p:cNvSpPr txBox="1"/>
          <p:nvPr/>
        </p:nvSpPr>
        <p:spPr>
          <a:xfrm>
            <a:off x="6372301" y="1828800"/>
            <a:ext cx="1050493" cy="548640"/>
          </a:xfrm>
          <a:prstGeom prst="rect">
            <a:avLst/>
          </a:prstGeom>
          <a:noFill/>
          <a:ln/>
        </p:spPr>
        <p:txBody>
          <a:bodyPr wrap="square" lIns="0" tIns="0" rIns="0" bIns="0" rtlCol="0" anchor="t"/>
          <a:lstStyle/>
          <a:p>
            <a:pPr algn="ctr" indent="0" marL="0">
              <a:lnSpc>
                <a:spcPts val="1100"/>
              </a:lnSpc>
              <a:buNone/>
            </a:pPr>
            <a:r>
              <a:rPr lang="en-US" sz="850" b="1" dirty="0">
                <a:solidFill>
                  <a:srgbClr val="5E6B64"/>
                </a:solidFill>
                <a:latin typeface="Calibri" pitchFamily="34" charset="0"/>
                <a:ea typeface="Calibri" pitchFamily="34" charset="-122"/>
                <a:cs typeface="Calibri" pitchFamily="34" charset="-120"/>
              </a:rPr>
              <a:t>Shelf</a:t>
            </a:r>
            <a:endParaRPr lang="en-US" sz="850" dirty="0"/>
          </a:p>
          <a:p>
            <a:pPr algn="ctr" indent="0" marL="0">
              <a:lnSpc>
                <a:spcPts val="1100"/>
              </a:lnSpc>
              <a:buNone/>
            </a:pPr>
            <a:r>
              <a:rPr lang="en-US" sz="850" b="1" dirty="0">
                <a:solidFill>
                  <a:srgbClr val="5E6B64"/>
                </a:solidFill>
                <a:latin typeface="Calibri" pitchFamily="34" charset="0"/>
                <a:ea typeface="Calibri" pitchFamily="34" charset="-122"/>
                <a:cs typeface="Calibri" pitchFamily="34" charset="-120"/>
              </a:rPr>
              <a:t>availability</a:t>
            </a:r>
            <a:endParaRPr lang="en-US" sz="850" dirty="0"/>
          </a:p>
        </p:txBody>
      </p:sp>
      <p:sp>
        <p:nvSpPr>
          <p:cNvPr id="7" name="Text 5"/>
          <p:cNvSpPr txBox="1"/>
          <p:nvPr/>
        </p:nvSpPr>
        <p:spPr>
          <a:xfrm>
            <a:off x="7422794" y="1828800"/>
            <a:ext cx="1050493" cy="548640"/>
          </a:xfrm>
          <a:prstGeom prst="rect">
            <a:avLst/>
          </a:prstGeom>
          <a:noFill/>
          <a:ln/>
        </p:spPr>
        <p:txBody>
          <a:bodyPr wrap="square" lIns="0" tIns="0" rIns="0" bIns="0" rtlCol="0" anchor="t"/>
          <a:lstStyle/>
          <a:p>
            <a:pPr algn="ctr" indent="0" marL="0">
              <a:lnSpc>
                <a:spcPts val="1100"/>
              </a:lnSpc>
              <a:buNone/>
            </a:pPr>
            <a:r>
              <a:rPr lang="en-US" sz="850" b="1" dirty="0">
                <a:solidFill>
                  <a:srgbClr val="5E6B64"/>
                </a:solidFill>
                <a:latin typeface="Calibri" pitchFamily="34" charset="0"/>
                <a:ea typeface="Calibri" pitchFamily="34" charset="-122"/>
                <a:cs typeface="Calibri" pitchFamily="34" charset="-120"/>
              </a:rPr>
              <a:t>Tasks &amp;</a:t>
            </a:r>
            <a:endParaRPr lang="en-US" sz="850" dirty="0"/>
          </a:p>
          <a:p>
            <a:pPr algn="ctr" indent="0" marL="0">
              <a:lnSpc>
                <a:spcPts val="1100"/>
              </a:lnSpc>
              <a:buNone/>
            </a:pPr>
            <a:r>
              <a:rPr lang="en-US" sz="850" b="1" dirty="0">
                <a:solidFill>
                  <a:srgbClr val="5E6B64"/>
                </a:solidFill>
                <a:latin typeface="Calibri" pitchFamily="34" charset="0"/>
                <a:ea typeface="Calibri" pitchFamily="34" charset="-122"/>
                <a:cs typeface="Calibri" pitchFamily="34" charset="-120"/>
              </a:rPr>
              <a:t>compliance</a:t>
            </a:r>
            <a:endParaRPr lang="en-US" sz="850" dirty="0"/>
          </a:p>
        </p:txBody>
      </p:sp>
      <p:sp>
        <p:nvSpPr>
          <p:cNvPr id="8" name="Text 6"/>
          <p:cNvSpPr txBox="1"/>
          <p:nvPr/>
        </p:nvSpPr>
        <p:spPr>
          <a:xfrm>
            <a:off x="8473288" y="1828800"/>
            <a:ext cx="1050493" cy="548640"/>
          </a:xfrm>
          <a:prstGeom prst="rect">
            <a:avLst/>
          </a:prstGeom>
          <a:noFill/>
          <a:ln/>
        </p:spPr>
        <p:txBody>
          <a:bodyPr wrap="square" lIns="0" tIns="0" rIns="0" bIns="0" rtlCol="0" anchor="t"/>
          <a:lstStyle/>
          <a:p>
            <a:pPr algn="ctr" indent="0" marL="0">
              <a:lnSpc>
                <a:spcPts val="1100"/>
              </a:lnSpc>
              <a:buNone/>
            </a:pPr>
            <a:r>
              <a:rPr lang="en-US" sz="850" b="1" dirty="0">
                <a:solidFill>
                  <a:srgbClr val="5E6B64"/>
                </a:solidFill>
                <a:latin typeface="Calibri" pitchFamily="34" charset="0"/>
                <a:ea typeface="Calibri" pitchFamily="34" charset="-122"/>
                <a:cs typeface="Calibri" pitchFamily="34" charset="-120"/>
              </a:rPr>
              <a:t>Surplus</a:t>
            </a:r>
            <a:endParaRPr lang="en-US" sz="850" dirty="0"/>
          </a:p>
          <a:p>
            <a:pPr algn="ctr" indent="0" marL="0">
              <a:lnSpc>
                <a:spcPts val="1100"/>
              </a:lnSpc>
              <a:buNone/>
            </a:pPr>
            <a:r>
              <a:rPr lang="en-US" sz="850" b="1" dirty="0">
                <a:solidFill>
                  <a:srgbClr val="5E6B64"/>
                </a:solidFill>
                <a:latin typeface="Calibri" pitchFamily="34" charset="0"/>
                <a:ea typeface="Calibri" pitchFamily="34" charset="-122"/>
                <a:cs typeface="Calibri" pitchFamily="34" charset="-120"/>
              </a:rPr>
              <a:t>redistribution</a:t>
            </a:r>
            <a:endParaRPr lang="en-US" sz="850" dirty="0"/>
          </a:p>
        </p:txBody>
      </p:sp>
      <p:sp>
        <p:nvSpPr>
          <p:cNvPr id="9" name="Text 7"/>
          <p:cNvSpPr txBox="1"/>
          <p:nvPr/>
        </p:nvSpPr>
        <p:spPr>
          <a:xfrm>
            <a:off x="9523781" y="1828800"/>
            <a:ext cx="1050493" cy="548640"/>
          </a:xfrm>
          <a:prstGeom prst="rect">
            <a:avLst/>
          </a:prstGeom>
          <a:noFill/>
          <a:ln/>
        </p:spPr>
        <p:txBody>
          <a:bodyPr wrap="square" lIns="0" tIns="0" rIns="0" bIns="0" rtlCol="0" anchor="t"/>
          <a:lstStyle/>
          <a:p>
            <a:pPr algn="ctr" indent="0" marL="0">
              <a:lnSpc>
                <a:spcPts val="1100"/>
              </a:lnSpc>
              <a:buNone/>
            </a:pPr>
            <a:r>
              <a:rPr lang="en-US" sz="850" b="1" dirty="0">
                <a:solidFill>
                  <a:srgbClr val="96382C"/>
                </a:solidFill>
                <a:latin typeface="Calibri" pitchFamily="34" charset="0"/>
                <a:ea typeface="Calibri" pitchFamily="34" charset="-122"/>
                <a:cs typeface="Calibri" pitchFamily="34" charset="-120"/>
              </a:rPr>
              <a:t>Back-of-house</a:t>
            </a:r>
            <a:endParaRPr lang="en-US" sz="850" dirty="0"/>
          </a:p>
          <a:p>
            <a:pPr algn="ctr" indent="0" marL="0">
              <a:lnSpc>
                <a:spcPts val="1100"/>
              </a:lnSpc>
              <a:buNone/>
            </a:pPr>
            <a:r>
              <a:rPr lang="en-US" sz="850" b="1" dirty="0">
                <a:solidFill>
                  <a:srgbClr val="96382C"/>
                </a:solidFill>
                <a:latin typeface="Calibri" pitchFamily="34" charset="0"/>
                <a:ea typeface="Calibri" pitchFamily="34" charset="-122"/>
                <a:cs typeface="Calibri" pitchFamily="34" charset="-120"/>
              </a:rPr>
              <a:t>ingredient stock</a:t>
            </a:r>
            <a:endParaRPr lang="en-US" sz="850" dirty="0"/>
          </a:p>
        </p:txBody>
      </p:sp>
      <p:sp>
        <p:nvSpPr>
          <p:cNvPr id="10" name="Text 8"/>
          <p:cNvSpPr txBox="1"/>
          <p:nvPr/>
        </p:nvSpPr>
        <p:spPr>
          <a:xfrm>
            <a:off x="10574274" y="1828800"/>
            <a:ext cx="1050493" cy="548640"/>
          </a:xfrm>
          <a:prstGeom prst="rect">
            <a:avLst/>
          </a:prstGeom>
          <a:noFill/>
          <a:ln/>
        </p:spPr>
        <p:txBody>
          <a:bodyPr wrap="square" lIns="0" tIns="0" rIns="0" bIns="0" rtlCol="0" anchor="t"/>
          <a:lstStyle/>
          <a:p>
            <a:pPr algn="ctr" indent="0" marL="0">
              <a:lnSpc>
                <a:spcPts val="1100"/>
              </a:lnSpc>
              <a:buNone/>
            </a:pPr>
            <a:r>
              <a:rPr lang="en-US" sz="850" b="1" dirty="0">
                <a:solidFill>
                  <a:srgbClr val="96382C"/>
                </a:solidFill>
                <a:latin typeface="Calibri" pitchFamily="34" charset="0"/>
                <a:ea typeface="Calibri" pitchFamily="34" charset="-122"/>
                <a:cs typeface="Calibri" pitchFamily="34" charset="-120"/>
              </a:rPr>
              <a:t>Counter</a:t>
            </a:r>
            <a:endParaRPr lang="en-US" sz="850" dirty="0"/>
          </a:p>
          <a:p>
            <a:pPr algn="ctr" indent="0" marL="0">
              <a:lnSpc>
                <a:spcPts val="1100"/>
              </a:lnSpc>
              <a:buNone/>
            </a:pPr>
            <a:r>
              <a:rPr lang="en-US" sz="850" b="1" dirty="0">
                <a:solidFill>
                  <a:srgbClr val="96382C"/>
                </a:solidFill>
                <a:latin typeface="Calibri" pitchFamily="34" charset="0"/>
                <a:ea typeface="Calibri" pitchFamily="34" charset="-122"/>
                <a:cs typeface="Calibri" pitchFamily="34" charset="-120"/>
              </a:rPr>
              <a:t>production</a:t>
            </a:r>
            <a:endParaRPr lang="en-US" sz="850" dirty="0"/>
          </a:p>
        </p:txBody>
      </p:sp>
      <p:sp>
        <p:nvSpPr>
          <p:cNvPr id="11" name="Shape 9"/>
          <p:cNvSpPr/>
          <p:nvPr/>
        </p:nvSpPr>
        <p:spPr>
          <a:xfrm>
            <a:off x="566928" y="2423160"/>
            <a:ext cx="8956853" cy="493776"/>
          </a:xfrm>
          <a:prstGeom prst="rect">
            <a:avLst/>
          </a:prstGeom>
          <a:solidFill>
            <a:srgbClr val="F4F6F4"/>
          </a:solidFill>
          <a:ln w="12700">
            <a:solidFill>
              <a:srgbClr val="F4F6F4"/>
            </a:solidFill>
            <a:prstDash val="solid"/>
          </a:ln>
        </p:spPr>
      </p:sp>
      <p:sp>
        <p:nvSpPr>
          <p:cNvPr id="12" name="Text 10"/>
          <p:cNvSpPr txBox="1"/>
          <p:nvPr/>
        </p:nvSpPr>
        <p:spPr>
          <a:xfrm>
            <a:off x="713232" y="2496312"/>
            <a:ext cx="1371600" cy="256032"/>
          </a:xfrm>
          <a:prstGeom prst="rect">
            <a:avLst/>
          </a:prstGeom>
          <a:noFill/>
          <a:ln/>
        </p:spPr>
        <p:txBody>
          <a:bodyPr wrap="square" lIns="0" tIns="0" rIns="0" bIns="0" rtlCol="0" anchor="t"/>
          <a:lstStyle/>
          <a:p>
            <a:pPr indent="0" marL="0">
              <a:lnSpc>
                <a:spcPts val="1500"/>
              </a:lnSpc>
              <a:buNone/>
            </a:pPr>
            <a:r>
              <a:rPr lang="en-US" sz="1100" b="1" dirty="0">
                <a:solidFill>
                  <a:srgbClr val="15251D"/>
                </a:solidFill>
                <a:latin typeface="Calibri" pitchFamily="34" charset="0"/>
                <a:ea typeface="Calibri" pitchFamily="34" charset="-122"/>
                <a:cs typeface="Calibri" pitchFamily="34" charset="-120"/>
              </a:rPr>
              <a:t>Blue Yonder</a:t>
            </a:r>
            <a:endParaRPr lang="en-US" sz="1100" dirty="0"/>
          </a:p>
        </p:txBody>
      </p:sp>
      <p:sp>
        <p:nvSpPr>
          <p:cNvPr id="13" name="Text 11"/>
          <p:cNvSpPr txBox="1"/>
          <p:nvPr/>
        </p:nvSpPr>
        <p:spPr>
          <a:xfrm>
            <a:off x="2084832" y="2505456"/>
            <a:ext cx="3072384" cy="384048"/>
          </a:xfrm>
          <a:prstGeom prst="rect">
            <a:avLst/>
          </a:prstGeom>
          <a:noFill/>
          <a:ln/>
        </p:spPr>
        <p:txBody>
          <a:bodyPr wrap="square" lIns="0" tIns="0" rIns="0" bIns="0" rtlCol="0" anchor="t"/>
          <a:lstStyle/>
          <a:p>
            <a:pPr indent="0" marL="0">
              <a:lnSpc>
                <a:spcPts val="1150"/>
              </a:lnSpc>
              <a:buNone/>
            </a:pPr>
            <a:r>
              <a:rPr lang="en-US" sz="900" dirty="0">
                <a:solidFill>
                  <a:srgbClr val="5E6B64"/>
                </a:solidFill>
                <a:latin typeface="Calibri" pitchFamily="34" charset="0"/>
                <a:ea typeface="Calibri" pitchFamily="34" charset="-122"/>
                <a:cs typeface="Calibri" pitchFamily="34" charset="-120"/>
              </a:rPr>
              <a:t>~500 stores, 29,000+ SKUs, 13m ordering decisions a day</a:t>
            </a:r>
            <a:endParaRPr lang="en-US" sz="900" dirty="0"/>
          </a:p>
        </p:txBody>
      </p:sp>
      <p:sp>
        <p:nvSpPr>
          <p:cNvPr id="14" name="Shape 12"/>
          <p:cNvSpPr/>
          <p:nvPr/>
        </p:nvSpPr>
        <p:spPr>
          <a:xfrm>
            <a:off x="5746471" y="2551176"/>
            <a:ext cx="201168" cy="201168"/>
          </a:xfrm>
          <a:prstGeom prst="ellipse">
            <a:avLst/>
          </a:prstGeom>
          <a:solidFill>
            <a:srgbClr val="1E7A4C"/>
          </a:solidFill>
          <a:ln w="12700">
            <a:solidFill>
              <a:srgbClr val="1E7A4C"/>
            </a:solidFill>
            <a:prstDash val="solid"/>
          </a:ln>
        </p:spPr>
      </p:sp>
      <p:sp>
        <p:nvSpPr>
          <p:cNvPr id="15" name="Shape 13"/>
          <p:cNvSpPr/>
          <p:nvPr/>
        </p:nvSpPr>
        <p:spPr>
          <a:xfrm>
            <a:off x="6828968" y="2583180"/>
            <a:ext cx="137160" cy="137160"/>
          </a:xfrm>
          <a:prstGeom prst="ellipse">
            <a:avLst/>
          </a:prstGeom>
          <a:solidFill>
            <a:srgbClr val="DFE4E1"/>
          </a:solidFill>
          <a:ln w="12700">
            <a:solidFill>
              <a:srgbClr val="DFE4E1"/>
            </a:solidFill>
            <a:prstDash val="solid"/>
          </a:ln>
        </p:spPr>
      </p:sp>
      <p:sp>
        <p:nvSpPr>
          <p:cNvPr id="16" name="Shape 14"/>
          <p:cNvSpPr/>
          <p:nvPr/>
        </p:nvSpPr>
        <p:spPr>
          <a:xfrm>
            <a:off x="7879461" y="2583180"/>
            <a:ext cx="137160" cy="137160"/>
          </a:xfrm>
          <a:prstGeom prst="ellipse">
            <a:avLst/>
          </a:prstGeom>
          <a:solidFill>
            <a:srgbClr val="DFE4E1"/>
          </a:solidFill>
          <a:ln w="12700">
            <a:solidFill>
              <a:srgbClr val="DFE4E1"/>
            </a:solidFill>
            <a:prstDash val="solid"/>
          </a:ln>
        </p:spPr>
      </p:sp>
      <p:sp>
        <p:nvSpPr>
          <p:cNvPr id="17" name="Shape 15"/>
          <p:cNvSpPr/>
          <p:nvPr/>
        </p:nvSpPr>
        <p:spPr>
          <a:xfrm>
            <a:off x="8929954" y="2583180"/>
            <a:ext cx="137160" cy="137160"/>
          </a:xfrm>
          <a:prstGeom prst="ellipse">
            <a:avLst/>
          </a:prstGeom>
          <a:solidFill>
            <a:srgbClr val="DFE4E1"/>
          </a:solidFill>
          <a:ln w="12700">
            <a:solidFill>
              <a:srgbClr val="DFE4E1"/>
            </a:solidFill>
            <a:prstDash val="solid"/>
          </a:ln>
        </p:spPr>
      </p:sp>
      <p:sp>
        <p:nvSpPr>
          <p:cNvPr id="18" name="Shape 16"/>
          <p:cNvSpPr/>
          <p:nvPr/>
        </p:nvSpPr>
        <p:spPr>
          <a:xfrm>
            <a:off x="9980447" y="2583180"/>
            <a:ext cx="137160" cy="137160"/>
          </a:xfrm>
          <a:prstGeom prst="ellipse">
            <a:avLst/>
          </a:prstGeom>
          <a:solidFill>
            <a:srgbClr val="DFE4E1"/>
          </a:solidFill>
          <a:ln w="12700">
            <a:solidFill>
              <a:srgbClr val="DFE4E1"/>
            </a:solidFill>
            <a:prstDash val="solid"/>
          </a:ln>
        </p:spPr>
      </p:sp>
      <p:sp>
        <p:nvSpPr>
          <p:cNvPr id="19" name="Shape 17"/>
          <p:cNvSpPr/>
          <p:nvPr/>
        </p:nvSpPr>
        <p:spPr>
          <a:xfrm>
            <a:off x="11030941" y="2583180"/>
            <a:ext cx="137160" cy="137160"/>
          </a:xfrm>
          <a:prstGeom prst="ellipse">
            <a:avLst/>
          </a:prstGeom>
          <a:solidFill>
            <a:srgbClr val="DFE4E1"/>
          </a:solidFill>
          <a:ln w="12700">
            <a:solidFill>
              <a:srgbClr val="DFE4E1"/>
            </a:solidFill>
            <a:prstDash val="solid"/>
          </a:ln>
        </p:spPr>
      </p:sp>
      <p:sp>
        <p:nvSpPr>
          <p:cNvPr id="20" name="Text 18"/>
          <p:cNvSpPr txBox="1"/>
          <p:nvPr/>
        </p:nvSpPr>
        <p:spPr>
          <a:xfrm>
            <a:off x="713232" y="3044952"/>
            <a:ext cx="1371600" cy="256032"/>
          </a:xfrm>
          <a:prstGeom prst="rect">
            <a:avLst/>
          </a:prstGeom>
          <a:noFill/>
          <a:ln/>
        </p:spPr>
        <p:txBody>
          <a:bodyPr wrap="square" lIns="0" tIns="0" rIns="0" bIns="0" rtlCol="0" anchor="t"/>
          <a:lstStyle/>
          <a:p>
            <a:pPr indent="0" marL="0">
              <a:lnSpc>
                <a:spcPts val="1500"/>
              </a:lnSpc>
              <a:buNone/>
            </a:pPr>
            <a:r>
              <a:rPr lang="en-US" sz="1100" b="1" dirty="0">
                <a:solidFill>
                  <a:srgbClr val="15251D"/>
                </a:solidFill>
                <a:latin typeface="Calibri" pitchFamily="34" charset="0"/>
                <a:ea typeface="Calibri" pitchFamily="34" charset="-122"/>
                <a:cs typeface="Calibri" pitchFamily="34" charset="-120"/>
              </a:rPr>
              <a:t>Focal Systems</a:t>
            </a:r>
            <a:endParaRPr lang="en-US" sz="1100" dirty="0"/>
          </a:p>
        </p:txBody>
      </p:sp>
      <p:sp>
        <p:nvSpPr>
          <p:cNvPr id="21" name="Text 19"/>
          <p:cNvSpPr txBox="1"/>
          <p:nvPr/>
        </p:nvSpPr>
        <p:spPr>
          <a:xfrm>
            <a:off x="2084832" y="3054096"/>
            <a:ext cx="3072384" cy="384048"/>
          </a:xfrm>
          <a:prstGeom prst="rect">
            <a:avLst/>
          </a:prstGeom>
          <a:noFill/>
          <a:ln/>
        </p:spPr>
        <p:txBody>
          <a:bodyPr wrap="square" lIns="0" tIns="0" rIns="0" bIns="0" rtlCol="0" anchor="t"/>
          <a:lstStyle/>
          <a:p>
            <a:pPr indent="0" marL="0">
              <a:lnSpc>
                <a:spcPts val="1150"/>
              </a:lnSpc>
              <a:buNone/>
            </a:pPr>
            <a:r>
              <a:rPr lang="en-US" sz="900" dirty="0">
                <a:solidFill>
                  <a:srgbClr val="5E6B64"/>
                </a:solidFill>
                <a:latin typeface="Calibri" pitchFamily="34" charset="0"/>
                <a:ea typeface="Calibri" pitchFamily="34" charset="-122"/>
                <a:cs typeface="Calibri" pitchFamily="34" charset="-120"/>
              </a:rPr>
              <a:t>AI shelf cameras monitoring availability</a:t>
            </a:r>
            <a:endParaRPr lang="en-US" sz="900" dirty="0"/>
          </a:p>
        </p:txBody>
      </p:sp>
      <p:sp>
        <p:nvSpPr>
          <p:cNvPr id="22" name="Shape 20"/>
          <p:cNvSpPr/>
          <p:nvPr/>
        </p:nvSpPr>
        <p:spPr>
          <a:xfrm>
            <a:off x="5778475" y="3131820"/>
            <a:ext cx="137160" cy="137160"/>
          </a:xfrm>
          <a:prstGeom prst="ellipse">
            <a:avLst/>
          </a:prstGeom>
          <a:solidFill>
            <a:srgbClr val="DFE4E1"/>
          </a:solidFill>
          <a:ln w="12700">
            <a:solidFill>
              <a:srgbClr val="DFE4E1"/>
            </a:solidFill>
            <a:prstDash val="solid"/>
          </a:ln>
        </p:spPr>
      </p:sp>
      <p:sp>
        <p:nvSpPr>
          <p:cNvPr id="23" name="Shape 21"/>
          <p:cNvSpPr/>
          <p:nvPr/>
        </p:nvSpPr>
        <p:spPr>
          <a:xfrm>
            <a:off x="6796964" y="3099816"/>
            <a:ext cx="201168" cy="201168"/>
          </a:xfrm>
          <a:prstGeom prst="ellipse">
            <a:avLst/>
          </a:prstGeom>
          <a:solidFill>
            <a:srgbClr val="1E7A4C"/>
          </a:solidFill>
          <a:ln w="12700">
            <a:solidFill>
              <a:srgbClr val="1E7A4C"/>
            </a:solidFill>
            <a:prstDash val="solid"/>
          </a:ln>
        </p:spPr>
      </p:sp>
      <p:sp>
        <p:nvSpPr>
          <p:cNvPr id="24" name="Shape 22"/>
          <p:cNvSpPr/>
          <p:nvPr/>
        </p:nvSpPr>
        <p:spPr>
          <a:xfrm>
            <a:off x="7879461" y="3131820"/>
            <a:ext cx="137160" cy="137160"/>
          </a:xfrm>
          <a:prstGeom prst="ellipse">
            <a:avLst/>
          </a:prstGeom>
          <a:solidFill>
            <a:srgbClr val="DFE4E1"/>
          </a:solidFill>
          <a:ln w="12700">
            <a:solidFill>
              <a:srgbClr val="DFE4E1"/>
            </a:solidFill>
            <a:prstDash val="solid"/>
          </a:ln>
        </p:spPr>
      </p:sp>
      <p:sp>
        <p:nvSpPr>
          <p:cNvPr id="25" name="Shape 23"/>
          <p:cNvSpPr/>
          <p:nvPr/>
        </p:nvSpPr>
        <p:spPr>
          <a:xfrm>
            <a:off x="8929954" y="3131820"/>
            <a:ext cx="137160" cy="137160"/>
          </a:xfrm>
          <a:prstGeom prst="ellipse">
            <a:avLst/>
          </a:prstGeom>
          <a:solidFill>
            <a:srgbClr val="DFE4E1"/>
          </a:solidFill>
          <a:ln w="12700">
            <a:solidFill>
              <a:srgbClr val="DFE4E1"/>
            </a:solidFill>
            <a:prstDash val="solid"/>
          </a:ln>
        </p:spPr>
      </p:sp>
      <p:sp>
        <p:nvSpPr>
          <p:cNvPr id="26" name="Shape 24"/>
          <p:cNvSpPr/>
          <p:nvPr/>
        </p:nvSpPr>
        <p:spPr>
          <a:xfrm>
            <a:off x="9980447" y="3131820"/>
            <a:ext cx="137160" cy="137160"/>
          </a:xfrm>
          <a:prstGeom prst="ellipse">
            <a:avLst/>
          </a:prstGeom>
          <a:solidFill>
            <a:srgbClr val="DFE4E1"/>
          </a:solidFill>
          <a:ln w="12700">
            <a:solidFill>
              <a:srgbClr val="DFE4E1"/>
            </a:solidFill>
            <a:prstDash val="solid"/>
          </a:ln>
        </p:spPr>
      </p:sp>
      <p:sp>
        <p:nvSpPr>
          <p:cNvPr id="27" name="Shape 25"/>
          <p:cNvSpPr/>
          <p:nvPr/>
        </p:nvSpPr>
        <p:spPr>
          <a:xfrm>
            <a:off x="11030941" y="3131820"/>
            <a:ext cx="137160" cy="137160"/>
          </a:xfrm>
          <a:prstGeom prst="ellipse">
            <a:avLst/>
          </a:prstGeom>
          <a:solidFill>
            <a:srgbClr val="DFE4E1"/>
          </a:solidFill>
          <a:ln w="12700">
            <a:solidFill>
              <a:srgbClr val="DFE4E1"/>
            </a:solidFill>
            <a:prstDash val="solid"/>
          </a:ln>
        </p:spPr>
      </p:sp>
      <p:sp>
        <p:nvSpPr>
          <p:cNvPr id="28" name="Shape 26"/>
          <p:cNvSpPr/>
          <p:nvPr/>
        </p:nvSpPr>
        <p:spPr>
          <a:xfrm>
            <a:off x="566928" y="3520440"/>
            <a:ext cx="8956853" cy="493776"/>
          </a:xfrm>
          <a:prstGeom prst="rect">
            <a:avLst/>
          </a:prstGeom>
          <a:solidFill>
            <a:srgbClr val="F4F6F4"/>
          </a:solidFill>
          <a:ln w="12700">
            <a:solidFill>
              <a:srgbClr val="F4F6F4"/>
            </a:solidFill>
            <a:prstDash val="solid"/>
          </a:ln>
        </p:spPr>
      </p:sp>
      <p:sp>
        <p:nvSpPr>
          <p:cNvPr id="29" name="Text 27"/>
          <p:cNvSpPr txBox="1"/>
          <p:nvPr/>
        </p:nvSpPr>
        <p:spPr>
          <a:xfrm>
            <a:off x="713232" y="3593592"/>
            <a:ext cx="1371600" cy="256032"/>
          </a:xfrm>
          <a:prstGeom prst="rect">
            <a:avLst/>
          </a:prstGeom>
          <a:noFill/>
          <a:ln/>
        </p:spPr>
        <p:txBody>
          <a:bodyPr wrap="square" lIns="0" tIns="0" rIns="0" bIns="0" rtlCol="0" anchor="t"/>
          <a:lstStyle/>
          <a:p>
            <a:pPr indent="0" marL="0">
              <a:lnSpc>
                <a:spcPts val="1500"/>
              </a:lnSpc>
              <a:buNone/>
            </a:pPr>
            <a:r>
              <a:rPr lang="en-US" sz="1100" b="1" dirty="0">
                <a:solidFill>
                  <a:srgbClr val="15251D"/>
                </a:solidFill>
                <a:latin typeface="Calibri" pitchFamily="34" charset="0"/>
                <a:ea typeface="Calibri" pitchFamily="34" charset="-122"/>
                <a:cs typeface="Calibri" pitchFamily="34" charset="-120"/>
              </a:rPr>
              <a:t>YOOBIC</a:t>
            </a:r>
            <a:endParaRPr lang="en-US" sz="1100" dirty="0"/>
          </a:p>
        </p:txBody>
      </p:sp>
      <p:sp>
        <p:nvSpPr>
          <p:cNvPr id="30" name="Text 28"/>
          <p:cNvSpPr txBox="1"/>
          <p:nvPr/>
        </p:nvSpPr>
        <p:spPr>
          <a:xfrm>
            <a:off x="2084832" y="3602736"/>
            <a:ext cx="3072384" cy="384048"/>
          </a:xfrm>
          <a:prstGeom prst="rect">
            <a:avLst/>
          </a:prstGeom>
          <a:noFill/>
          <a:ln/>
        </p:spPr>
        <p:txBody>
          <a:bodyPr wrap="square" lIns="0" tIns="0" rIns="0" bIns="0" rtlCol="0" anchor="t"/>
          <a:lstStyle/>
          <a:p>
            <a:pPr indent="0" marL="0">
              <a:lnSpc>
                <a:spcPts val="1150"/>
              </a:lnSpc>
              <a:buNone/>
            </a:pPr>
            <a:r>
              <a:rPr lang="en-US" sz="900" dirty="0">
                <a:solidFill>
                  <a:srgbClr val="5E6B64"/>
                </a:solidFill>
                <a:latin typeface="Calibri" pitchFamily="34" charset="0"/>
                <a:ea typeface="Calibri" pitchFamily="34" charset="-122"/>
                <a:cs typeface="Calibri" pitchFamily="34" charset="-120"/>
              </a:rPr>
              <a:t>~500 stores, 70,000 colleagues; audits and checks</a:t>
            </a:r>
            <a:endParaRPr lang="en-US" sz="900" dirty="0"/>
          </a:p>
        </p:txBody>
      </p:sp>
      <p:sp>
        <p:nvSpPr>
          <p:cNvPr id="31" name="Shape 29"/>
          <p:cNvSpPr/>
          <p:nvPr/>
        </p:nvSpPr>
        <p:spPr>
          <a:xfrm>
            <a:off x="5778475" y="3680460"/>
            <a:ext cx="137160" cy="137160"/>
          </a:xfrm>
          <a:prstGeom prst="ellipse">
            <a:avLst/>
          </a:prstGeom>
          <a:solidFill>
            <a:srgbClr val="DFE4E1"/>
          </a:solidFill>
          <a:ln w="12700">
            <a:solidFill>
              <a:srgbClr val="DFE4E1"/>
            </a:solidFill>
            <a:prstDash val="solid"/>
          </a:ln>
        </p:spPr>
      </p:sp>
      <p:sp>
        <p:nvSpPr>
          <p:cNvPr id="32" name="Shape 30"/>
          <p:cNvSpPr/>
          <p:nvPr/>
        </p:nvSpPr>
        <p:spPr>
          <a:xfrm>
            <a:off x="6828968" y="3680460"/>
            <a:ext cx="137160" cy="137160"/>
          </a:xfrm>
          <a:prstGeom prst="ellipse">
            <a:avLst/>
          </a:prstGeom>
          <a:solidFill>
            <a:srgbClr val="DFE4E1"/>
          </a:solidFill>
          <a:ln w="12700">
            <a:solidFill>
              <a:srgbClr val="DFE4E1"/>
            </a:solidFill>
            <a:prstDash val="solid"/>
          </a:ln>
        </p:spPr>
      </p:sp>
      <p:sp>
        <p:nvSpPr>
          <p:cNvPr id="33" name="Shape 31"/>
          <p:cNvSpPr/>
          <p:nvPr/>
        </p:nvSpPr>
        <p:spPr>
          <a:xfrm>
            <a:off x="7847457" y="3648456"/>
            <a:ext cx="201168" cy="201168"/>
          </a:xfrm>
          <a:prstGeom prst="ellipse">
            <a:avLst/>
          </a:prstGeom>
          <a:solidFill>
            <a:srgbClr val="1E7A4C"/>
          </a:solidFill>
          <a:ln w="12700">
            <a:solidFill>
              <a:srgbClr val="1E7A4C"/>
            </a:solidFill>
            <a:prstDash val="solid"/>
          </a:ln>
        </p:spPr>
      </p:sp>
      <p:sp>
        <p:nvSpPr>
          <p:cNvPr id="34" name="Shape 32"/>
          <p:cNvSpPr/>
          <p:nvPr/>
        </p:nvSpPr>
        <p:spPr>
          <a:xfrm>
            <a:off x="8929954" y="3680460"/>
            <a:ext cx="137160" cy="137160"/>
          </a:xfrm>
          <a:prstGeom prst="ellipse">
            <a:avLst/>
          </a:prstGeom>
          <a:solidFill>
            <a:srgbClr val="DFE4E1"/>
          </a:solidFill>
          <a:ln w="12700">
            <a:solidFill>
              <a:srgbClr val="DFE4E1"/>
            </a:solidFill>
            <a:prstDash val="solid"/>
          </a:ln>
        </p:spPr>
      </p:sp>
      <p:sp>
        <p:nvSpPr>
          <p:cNvPr id="35" name="Shape 33"/>
          <p:cNvSpPr/>
          <p:nvPr/>
        </p:nvSpPr>
        <p:spPr>
          <a:xfrm>
            <a:off x="9980447" y="3680460"/>
            <a:ext cx="137160" cy="137160"/>
          </a:xfrm>
          <a:prstGeom prst="ellipse">
            <a:avLst/>
          </a:prstGeom>
          <a:solidFill>
            <a:srgbClr val="DFE4E1"/>
          </a:solidFill>
          <a:ln w="12700">
            <a:solidFill>
              <a:srgbClr val="DFE4E1"/>
            </a:solidFill>
            <a:prstDash val="solid"/>
          </a:ln>
        </p:spPr>
      </p:sp>
      <p:sp>
        <p:nvSpPr>
          <p:cNvPr id="36" name="Shape 34"/>
          <p:cNvSpPr/>
          <p:nvPr/>
        </p:nvSpPr>
        <p:spPr>
          <a:xfrm>
            <a:off x="11030941" y="3680460"/>
            <a:ext cx="137160" cy="137160"/>
          </a:xfrm>
          <a:prstGeom prst="ellipse">
            <a:avLst/>
          </a:prstGeom>
          <a:solidFill>
            <a:srgbClr val="DFE4E1"/>
          </a:solidFill>
          <a:ln w="12700">
            <a:solidFill>
              <a:srgbClr val="DFE4E1"/>
            </a:solidFill>
            <a:prstDash val="solid"/>
          </a:ln>
        </p:spPr>
      </p:sp>
      <p:sp>
        <p:nvSpPr>
          <p:cNvPr id="37" name="Text 35"/>
          <p:cNvSpPr txBox="1"/>
          <p:nvPr/>
        </p:nvSpPr>
        <p:spPr>
          <a:xfrm>
            <a:off x="713232" y="4142232"/>
            <a:ext cx="1371600" cy="256032"/>
          </a:xfrm>
          <a:prstGeom prst="rect">
            <a:avLst/>
          </a:prstGeom>
          <a:noFill/>
          <a:ln/>
        </p:spPr>
        <p:txBody>
          <a:bodyPr wrap="square" lIns="0" tIns="0" rIns="0" bIns="0" rtlCol="0" anchor="t"/>
          <a:lstStyle/>
          <a:p>
            <a:pPr indent="0" marL="0">
              <a:lnSpc>
                <a:spcPts val="1500"/>
              </a:lnSpc>
              <a:buNone/>
            </a:pPr>
            <a:r>
              <a:rPr lang="en-US" sz="1100" b="1" dirty="0">
                <a:solidFill>
                  <a:srgbClr val="15251D"/>
                </a:solidFill>
                <a:latin typeface="Calibri" pitchFamily="34" charset="0"/>
                <a:ea typeface="Calibri" pitchFamily="34" charset="-122"/>
                <a:cs typeface="Calibri" pitchFamily="34" charset="-120"/>
              </a:rPr>
              <a:t>Too Good To Go</a:t>
            </a:r>
            <a:endParaRPr lang="en-US" sz="1100" dirty="0"/>
          </a:p>
        </p:txBody>
      </p:sp>
      <p:sp>
        <p:nvSpPr>
          <p:cNvPr id="38" name="Text 36"/>
          <p:cNvSpPr txBox="1"/>
          <p:nvPr/>
        </p:nvSpPr>
        <p:spPr>
          <a:xfrm>
            <a:off x="2084832" y="4151376"/>
            <a:ext cx="3072384" cy="384048"/>
          </a:xfrm>
          <a:prstGeom prst="rect">
            <a:avLst/>
          </a:prstGeom>
          <a:noFill/>
          <a:ln/>
        </p:spPr>
        <p:txBody>
          <a:bodyPr wrap="square" lIns="0" tIns="0" rIns="0" bIns="0" rtlCol="0" anchor="t"/>
          <a:lstStyle/>
          <a:p>
            <a:pPr indent="0" marL="0">
              <a:lnSpc>
                <a:spcPts val="1150"/>
              </a:lnSpc>
              <a:buNone/>
            </a:pPr>
            <a:r>
              <a:rPr lang="en-US" sz="900" dirty="0">
                <a:solidFill>
                  <a:srgbClr val="5E6B64"/>
                </a:solidFill>
                <a:latin typeface="Calibri" pitchFamily="34" charset="0"/>
                <a:ea typeface="Calibri" pitchFamily="34" charset="-122"/>
                <a:cs typeface="Calibri" pitchFamily="34" charset="-120"/>
              </a:rPr>
              <a:t>800+ tonnes sold via the platform in 2024</a:t>
            </a:r>
            <a:endParaRPr lang="en-US" sz="900" dirty="0"/>
          </a:p>
        </p:txBody>
      </p:sp>
      <p:sp>
        <p:nvSpPr>
          <p:cNvPr id="39" name="Shape 37"/>
          <p:cNvSpPr/>
          <p:nvPr/>
        </p:nvSpPr>
        <p:spPr>
          <a:xfrm>
            <a:off x="5778475" y="4229100"/>
            <a:ext cx="137160" cy="137160"/>
          </a:xfrm>
          <a:prstGeom prst="ellipse">
            <a:avLst/>
          </a:prstGeom>
          <a:solidFill>
            <a:srgbClr val="DFE4E1"/>
          </a:solidFill>
          <a:ln w="12700">
            <a:solidFill>
              <a:srgbClr val="DFE4E1"/>
            </a:solidFill>
            <a:prstDash val="solid"/>
          </a:ln>
        </p:spPr>
      </p:sp>
      <p:sp>
        <p:nvSpPr>
          <p:cNvPr id="40" name="Shape 38"/>
          <p:cNvSpPr/>
          <p:nvPr/>
        </p:nvSpPr>
        <p:spPr>
          <a:xfrm>
            <a:off x="6828968" y="4229100"/>
            <a:ext cx="137160" cy="137160"/>
          </a:xfrm>
          <a:prstGeom prst="ellipse">
            <a:avLst/>
          </a:prstGeom>
          <a:solidFill>
            <a:srgbClr val="DFE4E1"/>
          </a:solidFill>
          <a:ln w="12700">
            <a:solidFill>
              <a:srgbClr val="DFE4E1"/>
            </a:solidFill>
            <a:prstDash val="solid"/>
          </a:ln>
        </p:spPr>
      </p:sp>
      <p:sp>
        <p:nvSpPr>
          <p:cNvPr id="41" name="Shape 39"/>
          <p:cNvSpPr/>
          <p:nvPr/>
        </p:nvSpPr>
        <p:spPr>
          <a:xfrm>
            <a:off x="7879461" y="4229100"/>
            <a:ext cx="137160" cy="137160"/>
          </a:xfrm>
          <a:prstGeom prst="ellipse">
            <a:avLst/>
          </a:prstGeom>
          <a:solidFill>
            <a:srgbClr val="DFE4E1"/>
          </a:solidFill>
          <a:ln w="12700">
            <a:solidFill>
              <a:srgbClr val="DFE4E1"/>
            </a:solidFill>
            <a:prstDash val="solid"/>
          </a:ln>
        </p:spPr>
      </p:sp>
      <p:sp>
        <p:nvSpPr>
          <p:cNvPr id="42" name="Shape 40"/>
          <p:cNvSpPr/>
          <p:nvPr/>
        </p:nvSpPr>
        <p:spPr>
          <a:xfrm>
            <a:off x="8897950" y="4197096"/>
            <a:ext cx="201168" cy="201168"/>
          </a:xfrm>
          <a:prstGeom prst="ellipse">
            <a:avLst/>
          </a:prstGeom>
          <a:solidFill>
            <a:srgbClr val="1E7A4C"/>
          </a:solidFill>
          <a:ln w="12700">
            <a:solidFill>
              <a:srgbClr val="1E7A4C"/>
            </a:solidFill>
            <a:prstDash val="solid"/>
          </a:ln>
        </p:spPr>
      </p:sp>
      <p:sp>
        <p:nvSpPr>
          <p:cNvPr id="43" name="Shape 41"/>
          <p:cNvSpPr/>
          <p:nvPr/>
        </p:nvSpPr>
        <p:spPr>
          <a:xfrm>
            <a:off x="9980447" y="4229100"/>
            <a:ext cx="137160" cy="137160"/>
          </a:xfrm>
          <a:prstGeom prst="ellipse">
            <a:avLst/>
          </a:prstGeom>
          <a:solidFill>
            <a:srgbClr val="DFE4E1"/>
          </a:solidFill>
          <a:ln w="12700">
            <a:solidFill>
              <a:srgbClr val="DFE4E1"/>
            </a:solidFill>
            <a:prstDash val="solid"/>
          </a:ln>
        </p:spPr>
      </p:sp>
      <p:sp>
        <p:nvSpPr>
          <p:cNvPr id="44" name="Shape 42"/>
          <p:cNvSpPr/>
          <p:nvPr/>
        </p:nvSpPr>
        <p:spPr>
          <a:xfrm>
            <a:off x="11030941" y="4229100"/>
            <a:ext cx="137160" cy="137160"/>
          </a:xfrm>
          <a:prstGeom prst="ellipse">
            <a:avLst/>
          </a:prstGeom>
          <a:solidFill>
            <a:srgbClr val="DFE4E1"/>
          </a:solidFill>
          <a:ln w="12700">
            <a:solidFill>
              <a:srgbClr val="DFE4E1"/>
            </a:solidFill>
            <a:prstDash val="solid"/>
          </a:ln>
        </p:spPr>
      </p:sp>
      <p:sp>
        <p:nvSpPr>
          <p:cNvPr id="45" name="Shape 43"/>
          <p:cNvSpPr/>
          <p:nvPr/>
        </p:nvSpPr>
        <p:spPr>
          <a:xfrm>
            <a:off x="566928" y="4617720"/>
            <a:ext cx="8956853" cy="493776"/>
          </a:xfrm>
          <a:prstGeom prst="rect">
            <a:avLst/>
          </a:prstGeom>
          <a:solidFill>
            <a:srgbClr val="F4F6F4"/>
          </a:solidFill>
          <a:ln w="12700">
            <a:solidFill>
              <a:srgbClr val="F4F6F4"/>
            </a:solidFill>
            <a:prstDash val="solid"/>
          </a:ln>
        </p:spPr>
      </p:sp>
      <p:sp>
        <p:nvSpPr>
          <p:cNvPr id="46" name="Text 44"/>
          <p:cNvSpPr txBox="1"/>
          <p:nvPr/>
        </p:nvSpPr>
        <p:spPr>
          <a:xfrm>
            <a:off x="713232" y="4690872"/>
            <a:ext cx="1371600" cy="256032"/>
          </a:xfrm>
          <a:prstGeom prst="rect">
            <a:avLst/>
          </a:prstGeom>
          <a:noFill/>
          <a:ln/>
        </p:spPr>
        <p:txBody>
          <a:bodyPr wrap="square" lIns="0" tIns="0" rIns="0" bIns="0" rtlCol="0" anchor="t"/>
          <a:lstStyle/>
          <a:p>
            <a:pPr indent="0" marL="0">
              <a:lnSpc>
                <a:spcPts val="1500"/>
              </a:lnSpc>
              <a:buNone/>
            </a:pPr>
            <a:r>
              <a:rPr lang="en-US" sz="1100" b="1" dirty="0">
                <a:solidFill>
                  <a:srgbClr val="15251D"/>
                </a:solidFill>
                <a:latin typeface="Calibri" pitchFamily="34" charset="0"/>
                <a:ea typeface="Calibri" pitchFamily="34" charset="-122"/>
                <a:cs typeface="Calibri" pitchFamily="34" charset="-120"/>
              </a:rPr>
              <a:t>Gander</a:t>
            </a:r>
            <a:endParaRPr lang="en-US" sz="1100" dirty="0"/>
          </a:p>
        </p:txBody>
      </p:sp>
      <p:sp>
        <p:nvSpPr>
          <p:cNvPr id="47" name="Text 45"/>
          <p:cNvSpPr txBox="1"/>
          <p:nvPr/>
        </p:nvSpPr>
        <p:spPr>
          <a:xfrm>
            <a:off x="2084832" y="4700016"/>
            <a:ext cx="3072384" cy="384048"/>
          </a:xfrm>
          <a:prstGeom prst="rect">
            <a:avLst/>
          </a:prstGeom>
          <a:noFill/>
          <a:ln/>
        </p:spPr>
        <p:txBody>
          <a:bodyPr wrap="square" lIns="0" tIns="0" rIns="0" bIns="0" rtlCol="0" anchor="t"/>
          <a:lstStyle/>
          <a:p>
            <a:pPr indent="0" marL="0">
              <a:lnSpc>
                <a:spcPts val="1150"/>
              </a:lnSpc>
              <a:buNone/>
            </a:pPr>
            <a:r>
              <a:rPr lang="en-US" sz="900" dirty="0">
                <a:solidFill>
                  <a:srgbClr val="5E6B64"/>
                </a:solidFill>
                <a:latin typeface="Calibri" pitchFamily="34" charset="0"/>
                <a:ea typeface="Calibri" pitchFamily="34" charset="-122"/>
                <a:cs typeface="Calibri" pitchFamily="34" charset="-120"/>
              </a:rPr>
              <a:t>Approved for the Morrisons Daily franchise estate only</a:t>
            </a:r>
            <a:endParaRPr lang="en-US" sz="900" dirty="0"/>
          </a:p>
        </p:txBody>
      </p:sp>
      <p:sp>
        <p:nvSpPr>
          <p:cNvPr id="48" name="Shape 46"/>
          <p:cNvSpPr/>
          <p:nvPr/>
        </p:nvSpPr>
        <p:spPr>
          <a:xfrm>
            <a:off x="5778475" y="4777740"/>
            <a:ext cx="137160" cy="137160"/>
          </a:xfrm>
          <a:prstGeom prst="ellipse">
            <a:avLst/>
          </a:prstGeom>
          <a:solidFill>
            <a:srgbClr val="DFE4E1"/>
          </a:solidFill>
          <a:ln w="12700">
            <a:solidFill>
              <a:srgbClr val="DFE4E1"/>
            </a:solidFill>
            <a:prstDash val="solid"/>
          </a:ln>
        </p:spPr>
      </p:sp>
      <p:sp>
        <p:nvSpPr>
          <p:cNvPr id="49" name="Shape 47"/>
          <p:cNvSpPr/>
          <p:nvPr/>
        </p:nvSpPr>
        <p:spPr>
          <a:xfrm>
            <a:off x="6828968" y="4777740"/>
            <a:ext cx="137160" cy="137160"/>
          </a:xfrm>
          <a:prstGeom prst="ellipse">
            <a:avLst/>
          </a:prstGeom>
          <a:solidFill>
            <a:srgbClr val="DFE4E1"/>
          </a:solidFill>
          <a:ln w="12700">
            <a:solidFill>
              <a:srgbClr val="DFE4E1"/>
            </a:solidFill>
            <a:prstDash val="solid"/>
          </a:ln>
        </p:spPr>
      </p:sp>
      <p:sp>
        <p:nvSpPr>
          <p:cNvPr id="50" name="Shape 48"/>
          <p:cNvSpPr/>
          <p:nvPr/>
        </p:nvSpPr>
        <p:spPr>
          <a:xfrm>
            <a:off x="7879461" y="4777740"/>
            <a:ext cx="137160" cy="137160"/>
          </a:xfrm>
          <a:prstGeom prst="ellipse">
            <a:avLst/>
          </a:prstGeom>
          <a:solidFill>
            <a:srgbClr val="DFE4E1"/>
          </a:solidFill>
          <a:ln w="12700">
            <a:solidFill>
              <a:srgbClr val="DFE4E1"/>
            </a:solidFill>
            <a:prstDash val="solid"/>
          </a:ln>
        </p:spPr>
      </p:sp>
      <p:sp>
        <p:nvSpPr>
          <p:cNvPr id="51" name="Shape 49"/>
          <p:cNvSpPr/>
          <p:nvPr/>
        </p:nvSpPr>
        <p:spPr>
          <a:xfrm>
            <a:off x="8897950" y="4745736"/>
            <a:ext cx="201168" cy="201168"/>
          </a:xfrm>
          <a:prstGeom prst="ellipse">
            <a:avLst/>
          </a:prstGeom>
          <a:solidFill>
            <a:srgbClr val="1E7A4C"/>
          </a:solidFill>
          <a:ln w="12700">
            <a:solidFill>
              <a:srgbClr val="1E7A4C"/>
            </a:solidFill>
            <a:prstDash val="solid"/>
          </a:ln>
        </p:spPr>
      </p:sp>
      <p:sp>
        <p:nvSpPr>
          <p:cNvPr id="52" name="Shape 50"/>
          <p:cNvSpPr/>
          <p:nvPr/>
        </p:nvSpPr>
        <p:spPr>
          <a:xfrm>
            <a:off x="9980447" y="4777740"/>
            <a:ext cx="137160" cy="137160"/>
          </a:xfrm>
          <a:prstGeom prst="ellipse">
            <a:avLst/>
          </a:prstGeom>
          <a:solidFill>
            <a:srgbClr val="DFE4E1"/>
          </a:solidFill>
          <a:ln w="12700">
            <a:solidFill>
              <a:srgbClr val="DFE4E1"/>
            </a:solidFill>
            <a:prstDash val="solid"/>
          </a:ln>
        </p:spPr>
      </p:sp>
      <p:sp>
        <p:nvSpPr>
          <p:cNvPr id="53" name="Shape 51"/>
          <p:cNvSpPr/>
          <p:nvPr/>
        </p:nvSpPr>
        <p:spPr>
          <a:xfrm>
            <a:off x="11030941" y="4777740"/>
            <a:ext cx="137160" cy="137160"/>
          </a:xfrm>
          <a:prstGeom prst="ellipse">
            <a:avLst/>
          </a:prstGeom>
          <a:solidFill>
            <a:srgbClr val="DFE4E1"/>
          </a:solidFill>
          <a:ln w="12700">
            <a:solidFill>
              <a:srgbClr val="DFE4E1"/>
            </a:solidFill>
            <a:prstDash val="solid"/>
          </a:ln>
        </p:spPr>
      </p:sp>
      <p:sp>
        <p:nvSpPr>
          <p:cNvPr id="54" name="Text 52"/>
          <p:cNvSpPr txBox="1"/>
          <p:nvPr/>
        </p:nvSpPr>
        <p:spPr>
          <a:xfrm>
            <a:off x="9523781" y="4974336"/>
            <a:ext cx="2100986" cy="237744"/>
          </a:xfrm>
          <a:prstGeom prst="rect">
            <a:avLst/>
          </a:prstGeom>
          <a:noFill/>
          <a:ln/>
        </p:spPr>
        <p:txBody>
          <a:bodyPr wrap="square" lIns="0" tIns="0" rIns="0" bIns="0" rtlCol="0" anchor="t"/>
          <a:lstStyle/>
          <a:p>
            <a:pPr algn="ctr" indent="0" marL="0">
              <a:lnSpc>
                <a:spcPts val="1500"/>
              </a:lnSpc>
              <a:buNone/>
            </a:pPr>
            <a:r>
              <a:rPr lang="en-US" sz="850" b="1" spc="90" kern="0" dirty="0">
                <a:solidFill>
                  <a:srgbClr val="96382C"/>
                </a:solidFill>
                <a:latin typeface="Calibri" pitchFamily="34" charset="0"/>
                <a:ea typeface="Calibri" pitchFamily="34" charset="-122"/>
                <a:cs typeface="Calibri" pitchFamily="34" charset="-120"/>
              </a:rPr>
              <a:t>NO SYSTEM COVERAGE</a:t>
            </a:r>
            <a:endParaRPr lang="en-US" sz="850" dirty="0"/>
          </a:p>
        </p:txBody>
      </p:sp>
      <p:sp>
        <p:nvSpPr>
          <p:cNvPr id="55" name="Text 53"/>
          <p:cNvSpPr txBox="1"/>
          <p:nvPr/>
        </p:nvSpPr>
        <p:spPr>
          <a:xfrm>
            <a:off x="9523781" y="5431536"/>
            <a:ext cx="2100986" cy="237744"/>
          </a:xfrm>
          <a:prstGeom prst="rect">
            <a:avLst/>
          </a:prstGeom>
          <a:noFill/>
          <a:ln/>
        </p:spPr>
        <p:txBody>
          <a:bodyPr wrap="square" lIns="0" tIns="0" rIns="0" bIns="0" rtlCol="0" anchor="t"/>
          <a:lstStyle/>
          <a:p>
            <a:pPr algn="ctr" indent="0" marL="0">
              <a:lnSpc>
                <a:spcPts val="1500"/>
              </a:lnSpc>
              <a:buNone/>
            </a:pPr>
            <a:r>
              <a:rPr lang="en-US" sz="800" i="1" dirty="0">
                <a:solidFill>
                  <a:srgbClr val="96382C"/>
                </a:solidFill>
                <a:latin typeface="Calibri" pitchFamily="34" charset="0"/>
                <a:ea typeface="Calibri" pitchFamily="34" charset="-122"/>
                <a:cs typeface="Calibri" pitchFamily="34" charset="-120"/>
              </a:rPr>
              <a:t>The two decisions a counter makes daily</a:t>
            </a:r>
            <a:endParaRPr lang="en-US" sz="800" dirty="0"/>
          </a:p>
        </p:txBody>
      </p:sp>
      <p:sp>
        <p:nvSpPr>
          <p:cNvPr id="56" name="Shape 54"/>
          <p:cNvSpPr/>
          <p:nvPr/>
        </p:nvSpPr>
        <p:spPr>
          <a:xfrm>
            <a:off x="566928" y="5358384"/>
            <a:ext cx="8726119" cy="877824"/>
          </a:xfrm>
          <a:prstGeom prst="roundRect">
            <a:avLst>
              <a:gd name="adj" fmla="val 6250"/>
            </a:avLst>
          </a:prstGeom>
          <a:solidFill>
            <a:srgbClr val="FFFFFF"/>
          </a:solidFill>
          <a:ln w="9525">
            <a:solidFill>
              <a:srgbClr val="D9DFDB"/>
            </a:solidFill>
            <a:prstDash val="solid"/>
          </a:ln>
        </p:spPr>
      </p:sp>
      <p:sp>
        <p:nvSpPr>
          <p:cNvPr id="57" name="Shape 55"/>
          <p:cNvSpPr/>
          <p:nvPr/>
        </p:nvSpPr>
        <p:spPr>
          <a:xfrm>
            <a:off x="786384" y="5468112"/>
            <a:ext cx="882396" cy="219456"/>
          </a:xfrm>
          <a:prstGeom prst="roundRect">
            <a:avLst>
              <a:gd name="adj" fmla="val 50000"/>
            </a:avLst>
          </a:prstGeom>
          <a:solidFill>
            <a:srgbClr val="F4F6F4"/>
          </a:solidFill>
          <a:ln w="12700">
            <a:solidFill>
              <a:srgbClr val="F4F6F4"/>
            </a:solidFill>
            <a:prstDash val="solid"/>
          </a:ln>
        </p:spPr>
      </p:sp>
      <p:sp>
        <p:nvSpPr>
          <p:cNvPr id="58" name="Text 56"/>
          <p:cNvSpPr txBox="1"/>
          <p:nvPr/>
        </p:nvSpPr>
        <p:spPr>
          <a:xfrm>
            <a:off x="786384" y="5468112"/>
            <a:ext cx="882396" cy="219456"/>
          </a:xfrm>
          <a:prstGeom prst="rect">
            <a:avLst/>
          </a:prstGeom>
          <a:noFill/>
          <a:ln/>
        </p:spPr>
        <p:txBody>
          <a:bodyPr wrap="square" lIns="0" tIns="0" rIns="0" bIns="0" rtlCol="0" anchor="ctr"/>
          <a:lstStyle/>
          <a:p>
            <a:pPr algn="ctr" indent="0" marL="0">
              <a:buNone/>
            </a:pPr>
            <a:r>
              <a:rPr lang="en-US" sz="750" b="1" spc="80" kern="0" dirty="0">
                <a:solidFill>
                  <a:srgbClr val="15251D"/>
                </a:solidFill>
                <a:latin typeface="Calibri" pitchFamily="34" charset="0"/>
                <a:ea typeface="Calibri" pitchFamily="34" charset="-122"/>
                <a:cs typeface="Calibri" pitchFamily="34" charset="-120"/>
              </a:rPr>
              <a:t>INFERENCE</a:t>
            </a:r>
            <a:endParaRPr lang="en-US" sz="750" dirty="0"/>
          </a:p>
        </p:txBody>
      </p:sp>
      <p:sp>
        <p:nvSpPr>
          <p:cNvPr id="59" name="Text 57"/>
          <p:cNvSpPr txBox="1"/>
          <p:nvPr/>
        </p:nvSpPr>
        <p:spPr>
          <a:xfrm>
            <a:off x="786384" y="5742432"/>
            <a:ext cx="8287207" cy="457200"/>
          </a:xfrm>
          <a:prstGeom prst="rect">
            <a:avLst/>
          </a:prstGeom>
          <a:noFill/>
          <a:ln/>
        </p:spPr>
        <p:txBody>
          <a:bodyPr wrap="square" lIns="0" tIns="0" rIns="0" bIns="0" rtlCol="0" anchor="t"/>
          <a:lstStyle/>
          <a:p>
            <a:pPr indent="0" marL="0">
              <a:lnSpc>
                <a:spcPts val="1200"/>
              </a:lnSpc>
              <a:buNone/>
            </a:pPr>
            <a:r>
              <a:rPr lang="en-US" sz="900" dirty="0">
                <a:solidFill>
                  <a:srgbClr val="15251D"/>
                </a:solidFill>
                <a:latin typeface="Calibri" pitchFamily="34" charset="0"/>
                <a:ea typeface="Calibri" pitchFamily="34" charset="-122"/>
                <a:cs typeface="Calibri" pitchFamily="34" charset="-120"/>
              </a:rPr>
              <a:t>Morrisons is not behind on technology, so any recommendation that starts “Morrisons needs to digitise” dies on contact. The narrower claim holds up: heavy investment in retail SKU ordering, shelf monitoring, task management and surplus, and nothing published that tracks bulk ingredient stock behind the counter or records what was produced and sold there. Those are the two decisions a counter makes every day, and the two with no system behind them.</a:t>
            </a:r>
            <a:endParaRPr lang="en-US" sz="900" dirty="0"/>
          </a:p>
        </p:txBody>
      </p:sp>
      <p:sp>
        <p:nvSpPr>
          <p:cNvPr id="60" name="Text 58"/>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Blue Yonder; Focal Systems; YOOBIC (Apr 2026); Too Good To Go; Talking Retail and The Grocer (Gander, Feb 2026); RELEX; Cybake; vendor claims labelled as such in the source register</a:t>
            </a:r>
            <a:endParaRPr lang="en-US" sz="800" dirty="0"/>
          </a:p>
        </p:txBody>
      </p:sp>
      <p:sp>
        <p:nvSpPr>
          <p:cNvPr id="61" name="Text 59"/>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MARKET AND CUSTOMER EVIDENCE</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Food-to-go growth is now quality-led, and Morrisons rents that occasion to third parties on space it owns</a:t>
            </a:r>
            <a:endParaRPr lang="en-US" sz="2100" dirty="0"/>
          </a:p>
        </p:txBody>
      </p:sp>
      <p:graphicFrame>
        <p:nvGraphicFramePr>
          <p:cNvPr id="4" name="Chart 0" descr=""/>
          <p:cNvGraphicFramePr/>
          <p:nvPr/>
        </p:nvGraphicFramePr>
        <p:xfrm>
          <a:off x="566928" y="1810512"/>
          <a:ext cx="5029200" cy="239572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916168" y="1810512"/>
            <a:ext cx="5708599" cy="713232"/>
          </a:xfrm>
          <a:prstGeom prst="roundRect">
            <a:avLst>
              <a:gd name="adj" fmla="val 7692"/>
            </a:avLst>
          </a:prstGeom>
          <a:solidFill>
            <a:srgbClr val="F4F6F4"/>
          </a:solidFill>
          <a:ln w="9525">
            <a:solidFill>
              <a:srgbClr val="F4F6F4"/>
            </a:solidFill>
            <a:prstDash val="solid"/>
          </a:ln>
        </p:spPr>
      </p:sp>
      <p:sp>
        <p:nvSpPr>
          <p:cNvPr id="6" name="Text 3"/>
          <p:cNvSpPr txBox="1"/>
          <p:nvPr/>
        </p:nvSpPr>
        <p:spPr>
          <a:xfrm>
            <a:off x="6117336" y="1929384"/>
            <a:ext cx="5251399" cy="237744"/>
          </a:xfrm>
          <a:prstGeom prst="rect">
            <a:avLst/>
          </a:prstGeom>
          <a:noFill/>
          <a:ln/>
        </p:spPr>
        <p:txBody>
          <a:bodyPr wrap="square" lIns="0" tIns="0" rIns="0" bIns="0" rtlCol="0" anchor="t"/>
          <a:lstStyle/>
          <a:p>
            <a:pPr indent="0" marL="0">
              <a:lnSpc>
                <a:spcPts val="1500"/>
              </a:lnSpc>
              <a:buNone/>
            </a:pPr>
            <a:r>
              <a:rPr lang="en-US" sz="1100" b="1" dirty="0">
                <a:solidFill>
                  <a:srgbClr val="15251D"/>
                </a:solidFill>
                <a:latin typeface="Calibri" pitchFamily="34" charset="0"/>
                <a:ea typeface="Calibri" pitchFamily="34" charset="-122"/>
                <a:cs typeface="Calibri" pitchFamily="34" charset="-120"/>
              </a:rPr>
              <a:t>Quality is the fastest-rising reason people choose an outlet</a:t>
            </a:r>
            <a:endParaRPr lang="en-US" sz="1100" dirty="0"/>
          </a:p>
        </p:txBody>
      </p:sp>
      <p:sp>
        <p:nvSpPr>
          <p:cNvPr id="7" name="Text 4"/>
          <p:cNvSpPr txBox="1"/>
          <p:nvPr/>
        </p:nvSpPr>
        <p:spPr>
          <a:xfrm>
            <a:off x="6117336" y="2203704"/>
            <a:ext cx="5251399" cy="237744"/>
          </a:xfrm>
          <a:prstGeom prst="rect">
            <a:avLst/>
          </a:prstGeom>
          <a:noFill/>
          <a:ln/>
        </p:spPr>
        <p:txBody>
          <a:bodyPr wrap="square" lIns="0" tIns="0" rIns="0" bIns="0" rtlCol="0" anchor="t"/>
          <a:lstStyle/>
          <a:p>
            <a:pPr indent="0" marL="0">
              <a:lnSpc>
                <a:spcPts val="1500"/>
              </a:lnSpc>
              <a:buNone/>
            </a:pPr>
            <a:r>
              <a:rPr lang="en-US" sz="950" dirty="0">
                <a:solidFill>
                  <a:srgbClr val="5E6B64"/>
                </a:solidFill>
                <a:latin typeface="Calibri" pitchFamily="34" charset="0"/>
                <a:ea typeface="Calibri" pitchFamily="34" charset="-122"/>
                <a:cs typeface="Calibri" pitchFamily="34" charset="-120"/>
              </a:rPr>
              <a:t>+2.3ppt year on year, ahead of price</a:t>
            </a:r>
            <a:endParaRPr lang="en-US" sz="950" dirty="0"/>
          </a:p>
        </p:txBody>
      </p:sp>
      <p:sp>
        <p:nvSpPr>
          <p:cNvPr id="8" name="Shape 5"/>
          <p:cNvSpPr/>
          <p:nvPr/>
        </p:nvSpPr>
        <p:spPr>
          <a:xfrm>
            <a:off x="5916168" y="2633472"/>
            <a:ext cx="5708599" cy="713232"/>
          </a:xfrm>
          <a:prstGeom prst="roundRect">
            <a:avLst>
              <a:gd name="adj" fmla="val 7692"/>
            </a:avLst>
          </a:prstGeom>
          <a:solidFill>
            <a:srgbClr val="F4F6F4"/>
          </a:solidFill>
          <a:ln w="9525">
            <a:solidFill>
              <a:srgbClr val="F4F6F4"/>
            </a:solidFill>
            <a:prstDash val="solid"/>
          </a:ln>
        </p:spPr>
      </p:sp>
      <p:sp>
        <p:nvSpPr>
          <p:cNvPr id="9" name="Text 6"/>
          <p:cNvSpPr txBox="1"/>
          <p:nvPr/>
        </p:nvSpPr>
        <p:spPr>
          <a:xfrm>
            <a:off x="6117336" y="2752344"/>
            <a:ext cx="5251399" cy="237744"/>
          </a:xfrm>
          <a:prstGeom prst="rect">
            <a:avLst/>
          </a:prstGeom>
          <a:noFill/>
          <a:ln/>
        </p:spPr>
        <p:txBody>
          <a:bodyPr wrap="square" lIns="0" tIns="0" rIns="0" bIns="0" rtlCol="0" anchor="t"/>
          <a:lstStyle/>
          <a:p>
            <a:pPr indent="0" marL="0">
              <a:lnSpc>
                <a:spcPts val="1500"/>
              </a:lnSpc>
              <a:buNone/>
            </a:pPr>
            <a:r>
              <a:rPr lang="en-US" sz="1100" b="1" dirty="0">
                <a:solidFill>
                  <a:srgbClr val="15251D"/>
                </a:solidFill>
                <a:latin typeface="Calibri" pitchFamily="34" charset="0"/>
                <a:ea typeface="Calibri" pitchFamily="34" charset="-122"/>
                <a:cs typeface="Calibri" pitchFamily="34" charset="-120"/>
              </a:rPr>
              <a:t>Growth comes from spend per visit, not more customers</a:t>
            </a:r>
            <a:endParaRPr lang="en-US" sz="1100" dirty="0"/>
          </a:p>
        </p:txBody>
      </p:sp>
      <p:sp>
        <p:nvSpPr>
          <p:cNvPr id="10" name="Text 7"/>
          <p:cNvSpPr txBox="1"/>
          <p:nvPr/>
        </p:nvSpPr>
        <p:spPr>
          <a:xfrm>
            <a:off x="6117336" y="3026664"/>
            <a:ext cx="5251399" cy="237744"/>
          </a:xfrm>
          <a:prstGeom prst="rect">
            <a:avLst/>
          </a:prstGeom>
          <a:noFill/>
          <a:ln/>
        </p:spPr>
        <p:txBody>
          <a:bodyPr wrap="square" lIns="0" tIns="0" rIns="0" bIns="0" rtlCol="0" anchor="t"/>
          <a:lstStyle/>
          <a:p>
            <a:pPr indent="0" marL="0">
              <a:lnSpc>
                <a:spcPts val="1500"/>
              </a:lnSpc>
              <a:buNone/>
            </a:pPr>
            <a:r>
              <a:rPr lang="en-US" sz="950" dirty="0">
                <a:solidFill>
                  <a:srgbClr val="5E6B64"/>
                </a:solidFill>
                <a:latin typeface="Calibri" pitchFamily="34" charset="0"/>
                <a:ea typeface="Calibri" pitchFamily="34" charset="-122"/>
                <a:cs typeface="Calibri" pitchFamily="34" charset="-120"/>
              </a:rPr>
              <a:t>Premium meal-deal tiers now trade at £6–£10+</a:t>
            </a:r>
            <a:endParaRPr lang="en-US" sz="950" dirty="0"/>
          </a:p>
        </p:txBody>
      </p:sp>
      <p:sp>
        <p:nvSpPr>
          <p:cNvPr id="11" name="Shape 8"/>
          <p:cNvSpPr/>
          <p:nvPr/>
        </p:nvSpPr>
        <p:spPr>
          <a:xfrm>
            <a:off x="5916168" y="3456432"/>
            <a:ext cx="5708599" cy="713232"/>
          </a:xfrm>
          <a:prstGeom prst="roundRect">
            <a:avLst>
              <a:gd name="adj" fmla="val 7692"/>
            </a:avLst>
          </a:prstGeom>
          <a:solidFill>
            <a:srgbClr val="F4F6F4"/>
          </a:solidFill>
          <a:ln w="9525">
            <a:solidFill>
              <a:srgbClr val="F4F6F4"/>
            </a:solidFill>
            <a:prstDash val="solid"/>
          </a:ln>
        </p:spPr>
      </p:sp>
      <p:sp>
        <p:nvSpPr>
          <p:cNvPr id="12" name="Text 9"/>
          <p:cNvSpPr txBox="1"/>
          <p:nvPr/>
        </p:nvSpPr>
        <p:spPr>
          <a:xfrm>
            <a:off x="6117336" y="3575304"/>
            <a:ext cx="5251399" cy="237744"/>
          </a:xfrm>
          <a:prstGeom prst="rect">
            <a:avLst/>
          </a:prstGeom>
          <a:noFill/>
          <a:ln/>
        </p:spPr>
        <p:txBody>
          <a:bodyPr wrap="square" lIns="0" tIns="0" rIns="0" bIns="0" rtlCol="0" anchor="t"/>
          <a:lstStyle/>
          <a:p>
            <a:pPr indent="0" marL="0">
              <a:lnSpc>
                <a:spcPts val="1500"/>
              </a:lnSpc>
              <a:buNone/>
            </a:pPr>
            <a:r>
              <a:rPr lang="en-US" sz="1100" b="1" dirty="0">
                <a:solidFill>
                  <a:srgbClr val="15251D"/>
                </a:solidFill>
                <a:latin typeface="Calibri" pitchFamily="34" charset="0"/>
                <a:ea typeface="Calibri" pitchFamily="34" charset="-122"/>
                <a:cs typeface="Calibri" pitchFamily="34" charset="-120"/>
              </a:rPr>
              <a:t>Retailers must evolve beyond the standard meal deal</a:t>
            </a:r>
            <a:endParaRPr lang="en-US" sz="1100" dirty="0"/>
          </a:p>
        </p:txBody>
      </p:sp>
      <p:sp>
        <p:nvSpPr>
          <p:cNvPr id="13" name="Text 10"/>
          <p:cNvSpPr txBox="1"/>
          <p:nvPr/>
        </p:nvSpPr>
        <p:spPr>
          <a:xfrm>
            <a:off x="6117336" y="3849624"/>
            <a:ext cx="5251399" cy="237744"/>
          </a:xfrm>
          <a:prstGeom prst="rect">
            <a:avLst/>
          </a:prstGeom>
          <a:noFill/>
          <a:ln/>
        </p:spPr>
        <p:txBody>
          <a:bodyPr wrap="square" lIns="0" tIns="0" rIns="0" bIns="0" rtlCol="0" anchor="t"/>
          <a:lstStyle/>
          <a:p>
            <a:pPr indent="0" marL="0">
              <a:lnSpc>
                <a:spcPts val="1500"/>
              </a:lnSpc>
              <a:buNone/>
            </a:pPr>
            <a:r>
              <a:rPr lang="en-US" sz="950" dirty="0">
                <a:solidFill>
                  <a:srgbClr val="5E6B64"/>
                </a:solidFill>
                <a:latin typeface="Calibri" pitchFamily="34" charset="0"/>
                <a:ea typeface="Calibri" pitchFamily="34" charset="-122"/>
                <a:cs typeface="Calibri" pitchFamily="34" charset="-120"/>
              </a:rPr>
              <a:t>IGD names front-of-store execution and occasion expansion</a:t>
            </a:r>
            <a:endParaRPr lang="en-US" sz="950" dirty="0"/>
          </a:p>
        </p:txBody>
      </p:sp>
      <p:sp>
        <p:nvSpPr>
          <p:cNvPr id="14" name="Shape 11"/>
          <p:cNvSpPr/>
          <p:nvPr/>
        </p:nvSpPr>
        <p:spPr>
          <a:xfrm>
            <a:off x="566928" y="4315968"/>
            <a:ext cx="11057839" cy="1920240"/>
          </a:xfrm>
          <a:prstGeom prst="roundRect">
            <a:avLst>
              <a:gd name="adj" fmla="val 2857"/>
            </a:avLst>
          </a:prstGeom>
          <a:solidFill>
            <a:srgbClr val="FFFFFF"/>
          </a:solidFill>
          <a:ln w="9525">
            <a:solidFill>
              <a:srgbClr val="8A6410"/>
            </a:solidFill>
            <a:prstDash val="solid"/>
          </a:ln>
        </p:spPr>
      </p:sp>
      <p:sp>
        <p:nvSpPr>
          <p:cNvPr id="15" name="Shape 12"/>
          <p:cNvSpPr/>
          <p:nvPr/>
        </p:nvSpPr>
        <p:spPr>
          <a:xfrm>
            <a:off x="786384" y="4443984"/>
            <a:ext cx="1037844" cy="219456"/>
          </a:xfrm>
          <a:prstGeom prst="roundRect">
            <a:avLst>
              <a:gd name="adj" fmla="val 50000"/>
            </a:avLst>
          </a:prstGeom>
          <a:solidFill>
            <a:srgbClr val="E5EFE9"/>
          </a:solidFill>
          <a:ln w="12700">
            <a:solidFill>
              <a:srgbClr val="E5EFE9"/>
            </a:solidFill>
            <a:prstDash val="solid"/>
          </a:ln>
        </p:spPr>
      </p:sp>
      <p:sp>
        <p:nvSpPr>
          <p:cNvPr id="16" name="Text 13"/>
          <p:cNvSpPr txBox="1"/>
          <p:nvPr/>
        </p:nvSpPr>
        <p:spPr>
          <a:xfrm>
            <a:off x="786384" y="4443984"/>
            <a:ext cx="1037844" cy="219456"/>
          </a:xfrm>
          <a:prstGeom prst="rect">
            <a:avLst/>
          </a:prstGeom>
          <a:noFill/>
          <a:ln/>
        </p:spPr>
        <p:txBody>
          <a:bodyPr wrap="square" lIns="0" tIns="0" rIns="0" bIns="0" rtlCol="0" anchor="ctr"/>
          <a:lstStyle/>
          <a:p>
            <a:pPr algn="ctr" indent="0" marL="0">
              <a:buNone/>
            </a:pPr>
            <a:r>
              <a:rPr lang="en-US" sz="750" b="1" spc="80" kern="0" dirty="0">
                <a:solidFill>
                  <a:srgbClr val="1E7A4C"/>
                </a:solidFill>
                <a:latin typeface="Calibri" pitchFamily="34" charset="0"/>
                <a:ea typeface="Calibri" pitchFamily="34" charset="-122"/>
                <a:cs typeface="Calibri" pitchFamily="34" charset="-120"/>
              </a:rPr>
              <a:t>PUBLIC FACT</a:t>
            </a:r>
            <a:endParaRPr lang="en-US" sz="750" dirty="0"/>
          </a:p>
        </p:txBody>
      </p:sp>
      <p:sp>
        <p:nvSpPr>
          <p:cNvPr id="17" name="Text 14"/>
          <p:cNvSpPr txBox="1"/>
          <p:nvPr/>
        </p:nvSpPr>
        <p:spPr>
          <a:xfrm>
            <a:off x="786384" y="4736592"/>
            <a:ext cx="4937760" cy="274320"/>
          </a:xfrm>
          <a:prstGeom prst="rect">
            <a:avLst/>
          </a:prstGeom>
          <a:noFill/>
          <a:ln/>
        </p:spPr>
        <p:txBody>
          <a:bodyPr wrap="square" lIns="0" tIns="0" rIns="0" bIns="0" rtlCol="0" anchor="t"/>
          <a:lstStyle/>
          <a:p>
            <a:pPr indent="0" marL="0">
              <a:lnSpc>
                <a:spcPts val="1500"/>
              </a:lnSpc>
              <a:buNone/>
            </a:pPr>
            <a:r>
              <a:rPr lang="en-US" sz="1400" b="1" dirty="0">
                <a:solidFill>
                  <a:srgbClr val="15251D"/>
                </a:solidFill>
                <a:latin typeface="Cambria" pitchFamily="34" charset="0"/>
                <a:ea typeface="Cambria" pitchFamily="34" charset="-122"/>
                <a:cs typeface="Cambria" pitchFamily="34" charset="-120"/>
              </a:rPr>
              <a:t>Third parties are filling the space Morrisons vacated</a:t>
            </a:r>
            <a:endParaRPr lang="en-US" sz="1400" dirty="0"/>
          </a:p>
        </p:txBody>
      </p:sp>
      <p:sp>
        <p:nvSpPr>
          <p:cNvPr id="18" name="Text 15"/>
          <p:cNvSpPr txBox="1"/>
          <p:nvPr/>
        </p:nvSpPr>
        <p:spPr>
          <a:xfrm>
            <a:off x="841248" y="5084064"/>
            <a:ext cx="6035040" cy="969264"/>
          </a:xfrm>
          <a:prstGeom prst="rect">
            <a:avLst/>
          </a:prstGeom>
          <a:noFill/>
          <a:ln/>
        </p:spPr>
        <p:txBody>
          <a:bodyPr wrap="square" lIns="0" tIns="0" rIns="0" bIns="0" rtlCol="0" anchor="t"/>
          <a:lstStyle/>
          <a:p>
            <a:pPr marL="139700" indent="-139700">
              <a:lnSpc>
                <a:spcPts val="1250"/>
              </a:lnSpc>
              <a:spcAft>
                <a:spcPts val="500"/>
              </a:spcAft>
              <a:buSzPct val="100000"/>
              <a:buChar char="•"/>
            </a:pPr>
            <a:r>
              <a:rPr lang="en-US" sz="950" dirty="0">
                <a:solidFill>
                  <a:srgbClr val="15251D"/>
                </a:solidFill>
                <a:latin typeface="Calibri" pitchFamily="34" charset="0"/>
                <a:ea typeface="Calibri" pitchFamily="34" charset="-122"/>
                <a:cs typeface="Calibri" pitchFamily="34" charset="-120"/>
              </a:rPr>
              <a:t>KellyDeli “Happy Tokyo” sushi counters, a dozen-plus stores, filling space vacated by the counter and Market Kitchen closures</a:t>
            </a:r>
            <a:endParaRPr lang="en-US" sz="950" dirty="0"/>
          </a:p>
          <a:p>
            <a:pPr marL="139700" indent="-139700">
              <a:lnSpc>
                <a:spcPts val="1250"/>
              </a:lnSpc>
              <a:spcAft>
                <a:spcPts val="500"/>
              </a:spcAft>
              <a:buSzPct val="100000"/>
              <a:buChar char="•"/>
            </a:pPr>
            <a:r>
              <a:rPr lang="en-US" sz="950" dirty="0">
                <a:solidFill>
                  <a:srgbClr val="15251D"/>
                </a:solidFill>
                <a:latin typeface="Calibri" pitchFamily="34" charset="0"/>
                <a:ea typeface="Calibri" pitchFamily="34" charset="-122"/>
                <a:cs typeface="Calibri" pitchFamily="34" charset="-120"/>
              </a:rPr>
              <a:t>Burger Boi: first concession in Manchester, positioned as “more contemporary food options… following café closures”</a:t>
            </a:r>
            <a:endParaRPr lang="en-US" sz="950" dirty="0"/>
          </a:p>
          <a:p>
            <a:pPr marL="139700" indent="-139700">
              <a:lnSpc>
                <a:spcPts val="1250"/>
              </a:lnSpc>
              <a:spcAft>
                <a:spcPts val="500"/>
              </a:spcAft>
              <a:buSzPct val="100000"/>
              <a:buChar char="•"/>
            </a:pPr>
            <a:r>
              <a:rPr lang="en-US" sz="950" dirty="0">
                <a:solidFill>
                  <a:srgbClr val="15251D"/>
                </a:solidFill>
                <a:latin typeface="Calibri" pitchFamily="34" charset="0"/>
                <a:ea typeface="Calibri" pitchFamily="34" charset="-122"/>
                <a:cs typeface="Calibri" pitchFamily="34" charset="-120"/>
              </a:rPr>
              <a:t>Hana Group Asian hot food (trial); Holland &amp; Barrett and Wilko concessions</a:t>
            </a:r>
            <a:endParaRPr lang="en-US" sz="950" dirty="0"/>
          </a:p>
        </p:txBody>
      </p:sp>
      <p:sp>
        <p:nvSpPr>
          <p:cNvPr id="19" name="Shape 16"/>
          <p:cNvSpPr/>
          <p:nvPr/>
        </p:nvSpPr>
        <p:spPr>
          <a:xfrm>
            <a:off x="7150608" y="4517136"/>
            <a:ext cx="4474159" cy="1517904"/>
          </a:xfrm>
          <a:prstGeom prst="roundRect">
            <a:avLst>
              <a:gd name="adj" fmla="val 3614"/>
            </a:avLst>
          </a:prstGeom>
          <a:solidFill>
            <a:srgbClr val="E5EFE9"/>
          </a:solidFill>
          <a:ln w="9525">
            <a:solidFill>
              <a:srgbClr val="E5EFE9"/>
            </a:solidFill>
            <a:prstDash val="solid"/>
          </a:ln>
        </p:spPr>
      </p:sp>
      <p:sp>
        <p:nvSpPr>
          <p:cNvPr id="20" name="Text 17"/>
          <p:cNvSpPr txBox="1"/>
          <p:nvPr/>
        </p:nvSpPr>
        <p:spPr>
          <a:xfrm>
            <a:off x="7351776" y="4663440"/>
            <a:ext cx="4053535" cy="237744"/>
          </a:xfrm>
          <a:prstGeom prst="rect">
            <a:avLst/>
          </a:prstGeom>
          <a:noFill/>
          <a:ln/>
        </p:spPr>
        <p:txBody>
          <a:bodyPr wrap="square" lIns="0" tIns="0" rIns="0" bIns="0" rtlCol="0" anchor="t"/>
          <a:lstStyle/>
          <a:p>
            <a:pPr indent="0" marL="0">
              <a:lnSpc>
                <a:spcPts val="1500"/>
              </a:lnSpc>
              <a:buNone/>
            </a:pPr>
            <a:r>
              <a:rPr lang="en-US" sz="1050" b="1" dirty="0">
                <a:solidFill>
                  <a:srgbClr val="1E7A4C"/>
                </a:solidFill>
                <a:latin typeface="Calibri" pitchFamily="34" charset="0"/>
                <a:ea typeface="Calibri" pitchFamily="34" charset="-122"/>
                <a:cs typeface="Calibri" pitchFamily="34" charset="-120"/>
              </a:rPr>
              <a:t>The strategic question this raises</a:t>
            </a:r>
            <a:endParaRPr lang="en-US" sz="1050" dirty="0"/>
          </a:p>
        </p:txBody>
      </p:sp>
      <p:sp>
        <p:nvSpPr>
          <p:cNvPr id="21" name="Text 18"/>
          <p:cNvSpPr txBox="1"/>
          <p:nvPr/>
        </p:nvSpPr>
        <p:spPr>
          <a:xfrm>
            <a:off x="7351776" y="4956048"/>
            <a:ext cx="4053535" cy="969264"/>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Morrisons pays specialists to pull food-to-go footfall onto its own floor, in its own catchment. Conceding makes sense where a partner’s brand beats Morrisons’ own. It makes much less sense in fresh craft, the thing Morrisons has just called “our DNA”. No published logic separates the two.</a:t>
            </a:r>
            <a:endParaRPr lang="en-US" sz="950" dirty="0"/>
          </a:p>
        </p:txBody>
      </p:sp>
      <p:sp>
        <p:nvSpPr>
          <p:cNvPr id="22" name="Text 19"/>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Lumina Intelligence, UK Food to Go 2026; IGD, UK food-to-go forecast 2026–2031; The Grocer (KellyDeli, Burger Boi, Wilko). Market sizings differ by definition and are not blended.</a:t>
            </a:r>
            <a:endParaRPr lang="en-US" sz="800" dirty="0"/>
          </a:p>
        </p:txBody>
      </p:sp>
      <p:sp>
        <p:nvSpPr>
          <p:cNvPr id="23" name="Text 20"/>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WHERE A MARKET STREET SANDWICH WOULD HAVE TO SIT</a:t>
            </a:r>
            <a:endParaRPr lang="en-US" sz="1000" dirty="0"/>
          </a:p>
        </p:txBody>
      </p:sp>
      <p:sp>
        <p:nvSpPr>
          <p:cNvPr id="3" name="Text 1"/>
          <p:cNvSpPr txBox="1"/>
          <p:nvPr/>
        </p:nvSpPr>
        <p:spPr>
          <a:xfrm>
            <a:off x="566928" y="640080"/>
            <a:ext cx="11057839" cy="1042416"/>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Greggs at £4.25 and Asda’s new £4 hot counter are the competition. Not Subway at £9, and not the £1.70 sandwich in the chiller</a:t>
            </a:r>
            <a:endParaRPr lang="en-US" sz="2100" dirty="0"/>
          </a:p>
        </p:txBody>
      </p:sp>
      <p:graphicFrame>
        <p:nvGraphicFramePr>
          <p:cNvPr id="4" name="Chart 0" descr=""/>
          <p:cNvGraphicFramePr/>
          <p:nvPr/>
        </p:nvGraphicFramePr>
        <p:xfrm>
          <a:off x="566928" y="1773936"/>
          <a:ext cx="6492240"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287768" y="1773936"/>
            <a:ext cx="4336999" cy="749808"/>
          </a:xfrm>
          <a:prstGeom prst="roundRect">
            <a:avLst>
              <a:gd name="adj" fmla="val 7317"/>
            </a:avLst>
          </a:prstGeom>
          <a:solidFill>
            <a:srgbClr val="F4F6F4"/>
          </a:solidFill>
          <a:ln w="9525">
            <a:solidFill>
              <a:srgbClr val="F4F6F4"/>
            </a:solidFill>
            <a:prstDash val="solid"/>
          </a:ln>
        </p:spPr>
      </p:sp>
      <p:sp>
        <p:nvSpPr>
          <p:cNvPr id="6" name="Text 3"/>
          <p:cNvSpPr txBox="1"/>
          <p:nvPr/>
        </p:nvSpPr>
        <p:spPr>
          <a:xfrm>
            <a:off x="7470648" y="1874520"/>
            <a:ext cx="3971239" cy="219456"/>
          </a:xfrm>
          <a:prstGeom prst="rect">
            <a:avLst/>
          </a:prstGeom>
          <a:noFill/>
          <a:ln/>
        </p:spPr>
        <p:txBody>
          <a:bodyPr wrap="square" lIns="0" tIns="0" rIns="0" bIns="0" rtlCol="0" anchor="t"/>
          <a:lstStyle/>
          <a:p>
            <a:pPr indent="0" marL="0">
              <a:lnSpc>
                <a:spcPts val="1500"/>
              </a:lnSpc>
              <a:buNone/>
            </a:pPr>
            <a:r>
              <a:rPr lang="en-US" sz="1050" b="1" dirty="0">
                <a:solidFill>
                  <a:srgbClr val="15251D"/>
                </a:solidFill>
                <a:latin typeface="Calibri" pitchFamily="34" charset="0"/>
                <a:ea typeface="Calibri" pitchFamily="34" charset="-122"/>
                <a:cs typeface="Calibri" pitchFamily="34" charset="-120"/>
              </a:rPr>
              <a:t>Made-to-order already sits at a £5 premium</a:t>
            </a:r>
            <a:endParaRPr lang="en-US" sz="1050" dirty="0"/>
          </a:p>
        </p:txBody>
      </p:sp>
      <p:sp>
        <p:nvSpPr>
          <p:cNvPr id="7" name="Text 4"/>
          <p:cNvSpPr txBox="1"/>
          <p:nvPr/>
        </p:nvSpPr>
        <p:spPr>
          <a:xfrm>
            <a:off x="7470648" y="2112264"/>
            <a:ext cx="3971239" cy="365760"/>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A Subway six-inch meal deal runs £9.18 to £10.69 against Morrisons’ £3.75. Knock off a delivery mark-up and the gap is still wide.</a:t>
            </a:r>
            <a:endParaRPr lang="en-US" sz="850" dirty="0"/>
          </a:p>
        </p:txBody>
      </p:sp>
      <p:sp>
        <p:nvSpPr>
          <p:cNvPr id="8" name="Shape 5"/>
          <p:cNvSpPr/>
          <p:nvPr/>
        </p:nvSpPr>
        <p:spPr>
          <a:xfrm>
            <a:off x="7287768" y="2615184"/>
            <a:ext cx="4336999" cy="749808"/>
          </a:xfrm>
          <a:prstGeom prst="roundRect">
            <a:avLst>
              <a:gd name="adj" fmla="val 7317"/>
            </a:avLst>
          </a:prstGeom>
          <a:solidFill>
            <a:srgbClr val="F4F6F4"/>
          </a:solidFill>
          <a:ln w="9525">
            <a:solidFill>
              <a:srgbClr val="F4F6F4"/>
            </a:solidFill>
            <a:prstDash val="solid"/>
          </a:ln>
        </p:spPr>
      </p:sp>
      <p:sp>
        <p:nvSpPr>
          <p:cNvPr id="9" name="Text 6"/>
          <p:cNvSpPr txBox="1"/>
          <p:nvPr/>
        </p:nvSpPr>
        <p:spPr>
          <a:xfrm>
            <a:off x="7470648" y="2715768"/>
            <a:ext cx="3971239" cy="219456"/>
          </a:xfrm>
          <a:prstGeom prst="rect">
            <a:avLst/>
          </a:prstGeom>
          <a:noFill/>
          <a:ln/>
        </p:spPr>
        <p:txBody>
          <a:bodyPr wrap="square" lIns="0" tIns="0" rIns="0" bIns="0" rtlCol="0" anchor="t"/>
          <a:lstStyle/>
          <a:p>
            <a:pPr indent="0" marL="0">
              <a:lnSpc>
                <a:spcPts val="1500"/>
              </a:lnSpc>
              <a:buNone/>
            </a:pPr>
            <a:r>
              <a:rPr lang="en-US" sz="1050" b="1" dirty="0">
                <a:solidFill>
                  <a:srgbClr val="15251D"/>
                </a:solidFill>
                <a:latin typeface="Calibri" pitchFamily="34" charset="0"/>
                <a:ea typeface="Calibri" pitchFamily="34" charset="-122"/>
                <a:cs typeface="Calibri" pitchFamily="34" charset="-120"/>
              </a:rPr>
              <a:t>But Subway is the wrong benchmark</a:t>
            </a:r>
            <a:endParaRPr lang="en-US" sz="1050" dirty="0"/>
          </a:p>
        </p:txBody>
      </p:sp>
      <p:sp>
        <p:nvSpPr>
          <p:cNvPr id="10" name="Text 7"/>
          <p:cNvSpPr txBox="1"/>
          <p:nvPr/>
        </p:nvSpPr>
        <p:spPr>
          <a:xfrm>
            <a:off x="7470648" y="2953512"/>
            <a:ext cx="3971239" cy="365760"/>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Morrisons already undercuts Subway by more than two to one without a counter. Greggs and Asda are who it would actually take share from.</a:t>
            </a:r>
            <a:endParaRPr lang="en-US" sz="850" dirty="0"/>
          </a:p>
        </p:txBody>
      </p:sp>
      <p:sp>
        <p:nvSpPr>
          <p:cNvPr id="11" name="Shape 8"/>
          <p:cNvSpPr/>
          <p:nvPr/>
        </p:nvSpPr>
        <p:spPr>
          <a:xfrm>
            <a:off x="7287768" y="3456432"/>
            <a:ext cx="4336999" cy="749808"/>
          </a:xfrm>
          <a:prstGeom prst="roundRect">
            <a:avLst>
              <a:gd name="adj" fmla="val 7317"/>
            </a:avLst>
          </a:prstGeom>
          <a:solidFill>
            <a:srgbClr val="F6EEDC"/>
          </a:solidFill>
          <a:ln w="9525">
            <a:solidFill>
              <a:srgbClr val="F6EEDC"/>
            </a:solidFill>
            <a:prstDash val="solid"/>
          </a:ln>
        </p:spPr>
      </p:sp>
      <p:sp>
        <p:nvSpPr>
          <p:cNvPr id="12" name="Text 9"/>
          <p:cNvSpPr txBox="1"/>
          <p:nvPr/>
        </p:nvSpPr>
        <p:spPr>
          <a:xfrm>
            <a:off x="7470648" y="3557016"/>
            <a:ext cx="3971239" cy="219456"/>
          </a:xfrm>
          <a:prstGeom prst="rect">
            <a:avLst/>
          </a:prstGeom>
          <a:noFill/>
          <a:ln/>
        </p:spPr>
        <p:txBody>
          <a:bodyPr wrap="square" lIns="0" tIns="0" rIns="0" bIns="0" rtlCol="0" anchor="t"/>
          <a:lstStyle/>
          <a:p>
            <a:pPr indent="0" marL="0">
              <a:lnSpc>
                <a:spcPts val="1500"/>
              </a:lnSpc>
              <a:buNone/>
            </a:pPr>
            <a:r>
              <a:rPr lang="en-US" sz="1050" b="1" dirty="0">
                <a:solidFill>
                  <a:srgbClr val="8A6410"/>
                </a:solidFill>
                <a:latin typeface="Calibri" pitchFamily="34" charset="0"/>
                <a:ea typeface="Calibri" pitchFamily="34" charset="-122"/>
                <a:cs typeface="Calibri" pitchFamily="34" charset="-120"/>
              </a:rPr>
              <a:t>And a rival moved into the gap three weeks ago</a:t>
            </a:r>
            <a:endParaRPr lang="en-US" sz="1050" dirty="0"/>
          </a:p>
        </p:txBody>
      </p:sp>
      <p:sp>
        <p:nvSpPr>
          <p:cNvPr id="13" name="Text 10"/>
          <p:cNvSpPr txBox="1"/>
          <p:nvPr/>
        </p:nvSpPr>
        <p:spPr>
          <a:xfrm>
            <a:off x="7470648" y="3794760"/>
            <a:ext cx="3971239" cy="365760"/>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Asda launched a £4 hot counter meal deal on 7 August 2026: main, side and dip, from the rotisserie counters, participating stores nationwide.</a:t>
            </a:r>
            <a:endParaRPr lang="en-US" sz="850" dirty="0"/>
          </a:p>
        </p:txBody>
      </p:sp>
      <p:sp>
        <p:nvSpPr>
          <p:cNvPr id="14" name="Shape 11"/>
          <p:cNvSpPr/>
          <p:nvPr/>
        </p:nvSpPr>
        <p:spPr>
          <a:xfrm>
            <a:off x="7287768" y="4297680"/>
            <a:ext cx="4336999" cy="749808"/>
          </a:xfrm>
          <a:prstGeom prst="roundRect">
            <a:avLst>
              <a:gd name="adj" fmla="val 7317"/>
            </a:avLst>
          </a:prstGeom>
          <a:solidFill>
            <a:srgbClr val="F4F6F4"/>
          </a:solidFill>
          <a:ln w="9525">
            <a:solidFill>
              <a:srgbClr val="F4F6F4"/>
            </a:solidFill>
            <a:prstDash val="solid"/>
          </a:ln>
        </p:spPr>
      </p:sp>
      <p:sp>
        <p:nvSpPr>
          <p:cNvPr id="15" name="Text 12"/>
          <p:cNvSpPr txBox="1"/>
          <p:nvPr/>
        </p:nvSpPr>
        <p:spPr>
          <a:xfrm>
            <a:off x="7470648" y="4398264"/>
            <a:ext cx="3971239" cy="219456"/>
          </a:xfrm>
          <a:prstGeom prst="rect">
            <a:avLst/>
          </a:prstGeom>
          <a:noFill/>
          <a:ln/>
        </p:spPr>
        <p:txBody>
          <a:bodyPr wrap="square" lIns="0" tIns="0" rIns="0" bIns="0" rtlCol="0" anchor="t"/>
          <a:lstStyle/>
          <a:p>
            <a:pPr indent="0" marL="0">
              <a:lnSpc>
                <a:spcPts val="1500"/>
              </a:lnSpc>
              <a:buNone/>
            </a:pPr>
            <a:r>
              <a:rPr lang="en-US" sz="1050" b="1" dirty="0">
                <a:solidFill>
                  <a:srgbClr val="15251D"/>
                </a:solidFill>
                <a:latin typeface="Calibri" pitchFamily="34" charset="0"/>
                <a:ea typeface="Calibri" pitchFamily="34" charset="-122"/>
                <a:cs typeface="Calibri" pitchFamily="34" charset="-120"/>
              </a:rPr>
              <a:t>“The Subway price” does not exist</a:t>
            </a:r>
            <a:endParaRPr lang="en-US" sz="1050" dirty="0"/>
          </a:p>
        </p:txBody>
      </p:sp>
      <p:sp>
        <p:nvSpPr>
          <p:cNvPr id="16" name="Text 13"/>
          <p:cNvSpPr txBox="1"/>
          <p:nvPr/>
        </p:nvSpPr>
        <p:spPr>
          <a:xfrm>
            <a:off x="7470648" y="4636008"/>
            <a:ext cx="3971239" cy="365760"/>
          </a:xfrm>
          <a:prstGeom prst="rect">
            <a:avLst/>
          </a:prstGeom>
          <a:noFill/>
          <a:ln/>
        </p:spPr>
        <p:txBody>
          <a:bodyPr wrap="square" lIns="0" tIns="0" rIns="0" bIns="0" rtlCol="0" anchor="t"/>
          <a:lstStyle/>
          <a:p>
            <a:pPr indent="0" marL="0">
              <a:lnSpc>
                <a:spcPts val="1100"/>
              </a:lnSpc>
              <a:buNone/>
            </a:pPr>
            <a:r>
              <a:rPr lang="en-US" sz="850" dirty="0">
                <a:solidFill>
                  <a:srgbClr val="5E6B64"/>
                </a:solidFill>
                <a:latin typeface="Calibri" pitchFamily="34" charset="0"/>
                <a:ea typeface="Calibri" pitchFamily="34" charset="-122"/>
                <a:cs typeface="Calibri" pitchFamily="34" charset="-120"/>
              </a:rPr>
              <a:t>Four branches, two of them in Glasgow five miles apart, span £1.51 on the same six-inch deal. That is 16% between franchisees.</a:t>
            </a:r>
            <a:endParaRPr lang="en-US" sz="850" dirty="0"/>
          </a:p>
        </p:txBody>
      </p:sp>
      <p:sp>
        <p:nvSpPr>
          <p:cNvPr id="17" name="Shape 14"/>
          <p:cNvSpPr/>
          <p:nvPr/>
        </p:nvSpPr>
        <p:spPr>
          <a:xfrm>
            <a:off x="566928" y="5138928"/>
            <a:ext cx="11057839" cy="1097280"/>
          </a:xfrm>
          <a:prstGeom prst="roundRect">
            <a:avLst>
              <a:gd name="adj" fmla="val 5000"/>
            </a:avLst>
          </a:prstGeom>
          <a:solidFill>
            <a:srgbClr val="FFFFFF"/>
          </a:solidFill>
          <a:ln w="9525">
            <a:solidFill>
              <a:srgbClr val="D9DFDB"/>
            </a:solidFill>
            <a:prstDash val="solid"/>
          </a:ln>
        </p:spPr>
      </p:sp>
      <p:sp>
        <p:nvSpPr>
          <p:cNvPr id="18" name="Shape 15"/>
          <p:cNvSpPr/>
          <p:nvPr/>
        </p:nvSpPr>
        <p:spPr>
          <a:xfrm>
            <a:off x="786384" y="5266944"/>
            <a:ext cx="882396" cy="219456"/>
          </a:xfrm>
          <a:prstGeom prst="roundRect">
            <a:avLst>
              <a:gd name="adj" fmla="val 50000"/>
            </a:avLst>
          </a:prstGeom>
          <a:solidFill>
            <a:srgbClr val="F4F6F4"/>
          </a:solidFill>
          <a:ln w="12700">
            <a:solidFill>
              <a:srgbClr val="F4F6F4"/>
            </a:solidFill>
            <a:prstDash val="solid"/>
          </a:ln>
        </p:spPr>
      </p:sp>
      <p:sp>
        <p:nvSpPr>
          <p:cNvPr id="19" name="Text 16"/>
          <p:cNvSpPr txBox="1"/>
          <p:nvPr/>
        </p:nvSpPr>
        <p:spPr>
          <a:xfrm>
            <a:off x="786384" y="5266944"/>
            <a:ext cx="882396" cy="219456"/>
          </a:xfrm>
          <a:prstGeom prst="rect">
            <a:avLst/>
          </a:prstGeom>
          <a:noFill/>
          <a:ln/>
        </p:spPr>
        <p:txBody>
          <a:bodyPr wrap="square" lIns="0" tIns="0" rIns="0" bIns="0" rtlCol="0" anchor="ctr"/>
          <a:lstStyle/>
          <a:p>
            <a:pPr algn="ctr" indent="0" marL="0">
              <a:buNone/>
            </a:pPr>
            <a:r>
              <a:rPr lang="en-US" sz="750" b="1" spc="80" kern="0" dirty="0">
                <a:solidFill>
                  <a:srgbClr val="15251D"/>
                </a:solidFill>
                <a:latin typeface="Calibri" pitchFamily="34" charset="0"/>
                <a:ea typeface="Calibri" pitchFamily="34" charset="-122"/>
                <a:cs typeface="Calibri" pitchFamily="34" charset="-120"/>
              </a:rPr>
              <a:t>INFERENCE</a:t>
            </a:r>
            <a:endParaRPr lang="en-US" sz="750" dirty="0"/>
          </a:p>
        </p:txBody>
      </p:sp>
      <p:sp>
        <p:nvSpPr>
          <p:cNvPr id="20" name="Text 17"/>
          <p:cNvSpPr txBox="1"/>
          <p:nvPr/>
        </p:nvSpPr>
        <p:spPr>
          <a:xfrm>
            <a:off x="786384" y="5559552"/>
            <a:ext cx="10618927" cy="603504"/>
          </a:xfrm>
          <a:prstGeom prst="rect">
            <a:avLst/>
          </a:prstGeom>
          <a:noFill/>
          <a:ln/>
        </p:spPr>
        <p:txBody>
          <a:bodyPr wrap="square" lIns="0" tIns="0" rIns="0" bIns="0" rtlCol="0" anchor="t"/>
          <a:lstStyle/>
          <a:p>
            <a:pPr indent="0" marL="0">
              <a:lnSpc>
                <a:spcPts val="1300"/>
              </a:lnSpc>
              <a:buNone/>
            </a:pPr>
            <a:r>
              <a:rPr lang="en-US" sz="1000" dirty="0">
                <a:solidFill>
                  <a:srgbClr val="15251D"/>
                </a:solidFill>
                <a:latin typeface="Calibri" pitchFamily="34" charset="0"/>
                <a:ea typeface="Calibri" pitchFamily="34" charset="-122"/>
                <a:cs typeface="Calibri" pitchFamily="34" charset="-120"/>
              </a:rPr>
              <a:t>This sets up a trade-off rather than settling one. Price at £5 to £6 to carry made-to-order labour and a Market Street sandwich sits above Greggs’ Big Deal and beside Tesco Finest, so it has to win on proposition. Price at £4 to £4.50 to sit near Asda and it lands within 75p of Morrisons’ own meal deal, which makes cannibalisation the whole question. The freshness advantage is real, but it is over the £3.00 packaged BLT and over Greggs. Subway is made to order too.</a:t>
            </a:r>
            <a:endParaRPr lang="en-US" sz="1000" dirty="0"/>
          </a:p>
        </p:txBody>
      </p:sp>
      <p:sp>
        <p:nvSpPr>
          <p:cNvPr id="21" name="Text 18"/>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Morrisons, Tesco and Co-op operator sites (accessed 31 Aug 2026); The Grocer (Greggs, 12 May 2026); Grocery Gazette and Retail Times (Asda, 7 Aug 2026). Subway figures are delivery-platform listed prices for four named branches (Deliveroo and Just Eat, 31 Aug 2026), not in-store prices, and the Subway deal carries four components against three; in-store verification required.</a:t>
            </a:r>
            <a:endParaRPr lang="en-US" sz="800" dirty="0"/>
          </a:p>
        </p:txBody>
      </p:sp>
      <p:sp>
        <p:nvSpPr>
          <p:cNvPr id="22" name="Text 19"/>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THE CRITICAL PRECEDENT</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Morrisons closed one made-to-order format and launched another three months later. The difference is the lesson</a:t>
            </a:r>
            <a:endParaRPr lang="en-US" sz="2100" dirty="0"/>
          </a:p>
        </p:txBody>
      </p:sp>
      <p:sp>
        <p:nvSpPr>
          <p:cNvPr id="4" name="Shape 2"/>
          <p:cNvSpPr/>
          <p:nvPr/>
        </p:nvSpPr>
        <p:spPr>
          <a:xfrm>
            <a:off x="566928" y="1737360"/>
            <a:ext cx="5254600" cy="3127248"/>
          </a:xfrm>
          <a:prstGeom prst="roundRect">
            <a:avLst>
              <a:gd name="adj" fmla="val 1754"/>
            </a:avLst>
          </a:prstGeom>
          <a:solidFill>
            <a:srgbClr val="FFFFFF"/>
          </a:solidFill>
          <a:ln w="9525">
            <a:solidFill>
              <a:srgbClr val="96382C"/>
            </a:solidFill>
            <a:prstDash val="solid"/>
          </a:ln>
        </p:spPr>
      </p:sp>
      <p:sp>
        <p:nvSpPr>
          <p:cNvPr id="5" name="Text 3"/>
          <p:cNvSpPr txBox="1"/>
          <p:nvPr/>
        </p:nvSpPr>
        <p:spPr>
          <a:xfrm>
            <a:off x="786384" y="1901952"/>
            <a:ext cx="4815688" cy="237744"/>
          </a:xfrm>
          <a:prstGeom prst="rect">
            <a:avLst/>
          </a:prstGeom>
          <a:noFill/>
          <a:ln/>
        </p:spPr>
        <p:txBody>
          <a:bodyPr wrap="square" lIns="0" tIns="0" rIns="0" bIns="0" rtlCol="0" anchor="t"/>
          <a:lstStyle/>
          <a:p>
            <a:pPr indent="0" marL="0">
              <a:lnSpc>
                <a:spcPts val="1500"/>
              </a:lnSpc>
              <a:buNone/>
            </a:pPr>
            <a:r>
              <a:rPr lang="en-US" sz="900" b="1" spc="120" kern="0" dirty="0">
                <a:solidFill>
                  <a:srgbClr val="96382C"/>
                </a:solidFill>
                <a:latin typeface="Calibri" pitchFamily="34" charset="0"/>
                <a:ea typeface="Calibri" pitchFamily="34" charset="-122"/>
                <a:cs typeface="Calibri" pitchFamily="34" charset="-120"/>
              </a:rPr>
              <a:t>CLOSED — MARCH 2025</a:t>
            </a:r>
            <a:endParaRPr lang="en-US" sz="900" dirty="0"/>
          </a:p>
        </p:txBody>
      </p:sp>
      <p:sp>
        <p:nvSpPr>
          <p:cNvPr id="6" name="Text 4"/>
          <p:cNvSpPr txBox="1"/>
          <p:nvPr/>
        </p:nvSpPr>
        <p:spPr>
          <a:xfrm>
            <a:off x="786384" y="2176272"/>
            <a:ext cx="4815688" cy="365760"/>
          </a:xfrm>
          <a:prstGeom prst="rect">
            <a:avLst/>
          </a:prstGeom>
          <a:noFill/>
          <a:ln/>
        </p:spPr>
        <p:txBody>
          <a:bodyPr wrap="square" lIns="0" tIns="0" rIns="0" bIns="0" rtlCol="0" anchor="t"/>
          <a:lstStyle/>
          <a:p>
            <a:pPr indent="0" marL="0">
              <a:lnSpc>
                <a:spcPts val="1500"/>
              </a:lnSpc>
              <a:buNone/>
            </a:pPr>
            <a:r>
              <a:rPr lang="en-US" sz="2000" b="1" dirty="0">
                <a:solidFill>
                  <a:srgbClr val="15251D"/>
                </a:solidFill>
                <a:latin typeface="Cambria" pitchFamily="34" charset="0"/>
                <a:ea typeface="Cambria" pitchFamily="34" charset="-122"/>
                <a:cs typeface="Cambria" pitchFamily="34" charset="-120"/>
              </a:rPr>
              <a:t>Market Kitchen</a:t>
            </a:r>
            <a:endParaRPr lang="en-US" sz="2000" dirty="0"/>
          </a:p>
        </p:txBody>
      </p:sp>
      <p:sp>
        <p:nvSpPr>
          <p:cNvPr id="7" name="Text 5"/>
          <p:cNvSpPr txBox="1"/>
          <p:nvPr/>
        </p:nvSpPr>
        <p:spPr>
          <a:xfrm>
            <a:off x="786384" y="2542032"/>
            <a:ext cx="4815688" cy="237744"/>
          </a:xfrm>
          <a:prstGeom prst="rect">
            <a:avLst/>
          </a:prstGeom>
          <a:noFill/>
          <a:ln/>
        </p:spPr>
        <p:txBody>
          <a:bodyPr wrap="square" lIns="0" tIns="0" rIns="0" bIns="0" rtlCol="0" anchor="t"/>
          <a:lstStyle/>
          <a:p>
            <a:pPr indent="0" marL="0">
              <a:lnSpc>
                <a:spcPts val="1500"/>
              </a:lnSpc>
              <a:buNone/>
            </a:pPr>
            <a:r>
              <a:rPr lang="en-US" sz="950" dirty="0">
                <a:solidFill>
                  <a:srgbClr val="5E6B64"/>
                </a:solidFill>
                <a:latin typeface="Calibri" pitchFamily="34" charset="0"/>
                <a:ea typeface="Calibri" pitchFamily="34" charset="-122"/>
                <a:cs typeface="Calibri" pitchFamily="34" charset="-120"/>
              </a:rPr>
              <a:t>2019–2025 · 18 in-store sites plus standalone high-street stores</a:t>
            </a:r>
            <a:endParaRPr lang="en-US" sz="950" dirty="0"/>
          </a:p>
        </p:txBody>
      </p:sp>
      <p:sp>
        <p:nvSpPr>
          <p:cNvPr id="8" name="Text 6"/>
          <p:cNvSpPr txBox="1"/>
          <p:nvPr/>
        </p:nvSpPr>
        <p:spPr>
          <a:xfrm>
            <a:off x="841248" y="2926080"/>
            <a:ext cx="4760824" cy="1280160"/>
          </a:xfrm>
          <a:prstGeom prst="rect">
            <a:avLst/>
          </a:prstGeom>
          <a:noFill/>
          <a:ln/>
        </p:spPr>
        <p:txBody>
          <a:bodyPr wrap="square" lIns="0" tIns="0" rIns="0" bIns="0" rtlCol="0" anchor="t"/>
          <a:lstStyle/>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Dedicated kitchens with chefs, a new fixed cost</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Eight branded stations, many recipes</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Traded across all dayparts</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Synchronous service: the customer waits</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Its own app plus Deliveroo integration</a:t>
            </a:r>
            <a:endParaRPr lang="en-US" sz="1050" dirty="0"/>
          </a:p>
        </p:txBody>
      </p:sp>
      <p:sp>
        <p:nvSpPr>
          <p:cNvPr id="9" name="Shape 7"/>
          <p:cNvSpPr/>
          <p:nvPr/>
        </p:nvSpPr>
        <p:spPr>
          <a:xfrm>
            <a:off x="786384" y="4242816"/>
            <a:ext cx="4815688" cy="457200"/>
          </a:xfrm>
          <a:prstGeom prst="roundRect">
            <a:avLst>
              <a:gd name="adj" fmla="val 12000"/>
            </a:avLst>
          </a:prstGeom>
          <a:solidFill>
            <a:srgbClr val="F5E7E4"/>
          </a:solidFill>
          <a:ln w="9525">
            <a:solidFill>
              <a:srgbClr val="F5E7E4"/>
            </a:solidFill>
            <a:prstDash val="solid"/>
          </a:ln>
        </p:spPr>
      </p:sp>
      <p:sp>
        <p:nvSpPr>
          <p:cNvPr id="10" name="Text 8"/>
          <p:cNvSpPr txBox="1"/>
          <p:nvPr/>
        </p:nvSpPr>
        <p:spPr>
          <a:xfrm>
            <a:off x="950976" y="4352544"/>
            <a:ext cx="4486504" cy="292608"/>
          </a:xfrm>
          <a:prstGeom prst="rect">
            <a:avLst/>
          </a:prstGeom>
          <a:noFill/>
          <a:ln/>
        </p:spPr>
        <p:txBody>
          <a:bodyPr wrap="square" lIns="0" tIns="0" rIns="0" bIns="0" rtlCol="0" anchor="t"/>
          <a:lstStyle/>
          <a:p>
            <a:pPr indent="0" marL="0">
              <a:lnSpc>
                <a:spcPts val="1200"/>
              </a:lnSpc>
              <a:buNone/>
            </a:pPr>
            <a:r>
              <a:rPr lang="en-US" sz="950" i="1" dirty="0">
                <a:solidFill>
                  <a:srgbClr val="96382C"/>
                </a:solidFill>
                <a:latin typeface="Calibri" pitchFamily="34" charset="0"/>
                <a:ea typeface="Calibri" pitchFamily="34" charset="-122"/>
                <a:cs typeface="Calibri" pitchFamily="34" charset="-120"/>
              </a:rPr>
              <a:t>Closed because costs “significantly exceeded usage, volumes or the value that customers place on them”.</a:t>
            </a:r>
            <a:endParaRPr lang="en-US" sz="950" dirty="0"/>
          </a:p>
        </p:txBody>
      </p:sp>
      <p:sp>
        <p:nvSpPr>
          <p:cNvPr id="11" name="Shape 9"/>
          <p:cNvSpPr/>
          <p:nvPr/>
        </p:nvSpPr>
        <p:spPr>
          <a:xfrm>
            <a:off x="6370168" y="1737360"/>
            <a:ext cx="5254600" cy="3127248"/>
          </a:xfrm>
          <a:prstGeom prst="roundRect">
            <a:avLst>
              <a:gd name="adj" fmla="val 1754"/>
            </a:avLst>
          </a:prstGeom>
          <a:solidFill>
            <a:srgbClr val="FFFFFF"/>
          </a:solidFill>
          <a:ln w="9525">
            <a:solidFill>
              <a:srgbClr val="1E7A4C"/>
            </a:solidFill>
            <a:prstDash val="solid"/>
          </a:ln>
        </p:spPr>
      </p:sp>
      <p:sp>
        <p:nvSpPr>
          <p:cNvPr id="12" name="Text 10"/>
          <p:cNvSpPr txBox="1"/>
          <p:nvPr/>
        </p:nvSpPr>
        <p:spPr>
          <a:xfrm>
            <a:off x="6589624" y="1901952"/>
            <a:ext cx="4815688" cy="237744"/>
          </a:xfrm>
          <a:prstGeom prst="rect">
            <a:avLst/>
          </a:prstGeom>
          <a:noFill/>
          <a:ln/>
        </p:spPr>
        <p:txBody>
          <a:bodyPr wrap="square" lIns="0" tIns="0" rIns="0" bIns="0" rtlCol="0" anchor="t"/>
          <a:lstStyle/>
          <a:p>
            <a:pPr indent="0" marL="0">
              <a:lnSpc>
                <a:spcPts val="1500"/>
              </a:lnSpc>
              <a:buNone/>
            </a:pPr>
            <a:r>
              <a:rPr lang="en-US" sz="900" b="1" spc="120" kern="0" dirty="0">
                <a:solidFill>
                  <a:srgbClr val="1E7A4C"/>
                </a:solidFill>
                <a:latin typeface="Calibri" pitchFamily="34" charset="0"/>
                <a:ea typeface="Calibri" pitchFamily="34" charset="-122"/>
                <a:cs typeface="Calibri" pitchFamily="34" charset="-120"/>
              </a:rPr>
              <a:t>LAUNCHED NATIONWIDE — JUNE 2025</a:t>
            </a:r>
            <a:endParaRPr lang="en-US" sz="900" dirty="0"/>
          </a:p>
        </p:txBody>
      </p:sp>
      <p:sp>
        <p:nvSpPr>
          <p:cNvPr id="13" name="Text 11"/>
          <p:cNvSpPr txBox="1"/>
          <p:nvPr/>
        </p:nvSpPr>
        <p:spPr>
          <a:xfrm>
            <a:off x="6589624" y="2176272"/>
            <a:ext cx="4815688" cy="365760"/>
          </a:xfrm>
          <a:prstGeom prst="rect">
            <a:avLst/>
          </a:prstGeom>
          <a:noFill/>
          <a:ln/>
        </p:spPr>
        <p:txBody>
          <a:bodyPr wrap="square" lIns="0" tIns="0" rIns="0" bIns="0" rtlCol="0" anchor="t"/>
          <a:lstStyle/>
          <a:p>
            <a:pPr indent="0" marL="0">
              <a:lnSpc>
                <a:spcPts val="1500"/>
              </a:lnSpc>
              <a:buNone/>
            </a:pPr>
            <a:r>
              <a:rPr lang="en-US" sz="2000" b="1" dirty="0">
                <a:solidFill>
                  <a:srgbClr val="15251D"/>
                </a:solidFill>
                <a:latin typeface="Cambria" pitchFamily="34" charset="0"/>
                <a:ea typeface="Cambria" pitchFamily="34" charset="-122"/>
                <a:cs typeface="Cambria" pitchFamily="34" charset="-120"/>
              </a:rPr>
              <a:t>Market Street Pizza Counter</a:t>
            </a:r>
            <a:endParaRPr lang="en-US" sz="2000" dirty="0"/>
          </a:p>
        </p:txBody>
      </p:sp>
      <p:sp>
        <p:nvSpPr>
          <p:cNvPr id="14" name="Text 12"/>
          <p:cNvSpPr txBox="1"/>
          <p:nvPr/>
        </p:nvSpPr>
        <p:spPr>
          <a:xfrm>
            <a:off x="6589624" y="2542032"/>
            <a:ext cx="4815688" cy="237744"/>
          </a:xfrm>
          <a:prstGeom prst="rect">
            <a:avLst/>
          </a:prstGeom>
          <a:noFill/>
          <a:ln/>
        </p:spPr>
        <p:txBody>
          <a:bodyPr wrap="square" lIns="0" tIns="0" rIns="0" bIns="0" rtlCol="0" anchor="t"/>
          <a:lstStyle/>
          <a:p>
            <a:pPr indent="0" marL="0">
              <a:lnSpc>
                <a:spcPts val="1500"/>
              </a:lnSpc>
              <a:buNone/>
            </a:pPr>
            <a:r>
              <a:rPr lang="en-US" sz="950" dirty="0">
                <a:solidFill>
                  <a:srgbClr val="5E6B64"/>
                </a:solidFill>
                <a:latin typeface="Calibri" pitchFamily="34" charset="0"/>
                <a:ea typeface="Calibri" pitchFamily="34" charset="-122"/>
                <a:cs typeface="Calibri" pitchFamily="34" charset="-120"/>
              </a:rPr>
              <a:t>Ongoing · digital ordering screens extended in July 2026</a:t>
            </a:r>
            <a:endParaRPr lang="en-US" sz="950" dirty="0"/>
          </a:p>
        </p:txBody>
      </p:sp>
      <p:sp>
        <p:nvSpPr>
          <p:cNvPr id="15" name="Text 13"/>
          <p:cNvSpPr txBox="1"/>
          <p:nvPr/>
        </p:nvSpPr>
        <p:spPr>
          <a:xfrm>
            <a:off x="6644488" y="2926080"/>
            <a:ext cx="4760824" cy="1280160"/>
          </a:xfrm>
          <a:prstGeom prst="rect">
            <a:avLst/>
          </a:prstGeom>
          <a:noFill/>
          <a:ln/>
        </p:spPr>
        <p:txBody>
          <a:bodyPr wrap="square" lIns="0" tIns="0" rIns="0" bIns="0" rtlCol="0" anchor="t"/>
          <a:lstStyle/>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No new kitchen, just the existing counter and colleagues</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One category, build-your-own within it</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Focused daypart</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Asynchronous: order on screen, shop, collect</a:t>
            </a:r>
            <a:endParaRPr lang="en-US" sz="1050" dirty="0"/>
          </a:p>
          <a:p>
            <a:pPr marL="139700" indent="-139700">
              <a:lnSpc>
                <a:spcPts val="1500"/>
              </a:lnSpc>
              <a:spcAft>
                <a:spcPts val="500"/>
              </a:spcAft>
              <a:buSzPct val="100000"/>
              <a:buChar char="•"/>
            </a:pPr>
            <a:r>
              <a:rPr lang="en-US" sz="1050" dirty="0">
                <a:solidFill>
                  <a:srgbClr val="15251D"/>
                </a:solidFill>
                <a:latin typeface="Calibri" pitchFamily="34" charset="0"/>
                <a:ea typeface="Calibri" pitchFamily="34" charset="-122"/>
                <a:cs typeface="Calibri" pitchFamily="34" charset="-120"/>
              </a:rPr>
              <a:t>£5–£6 a unit; two-pizza meal deal at £10</a:t>
            </a:r>
            <a:endParaRPr lang="en-US" sz="1050" dirty="0"/>
          </a:p>
        </p:txBody>
      </p:sp>
      <p:sp>
        <p:nvSpPr>
          <p:cNvPr id="16" name="Shape 14"/>
          <p:cNvSpPr/>
          <p:nvPr/>
        </p:nvSpPr>
        <p:spPr>
          <a:xfrm>
            <a:off x="6589624" y="4242816"/>
            <a:ext cx="4815688" cy="457200"/>
          </a:xfrm>
          <a:prstGeom prst="roundRect">
            <a:avLst>
              <a:gd name="adj" fmla="val 12000"/>
            </a:avLst>
          </a:prstGeom>
          <a:solidFill>
            <a:srgbClr val="E5EFE9"/>
          </a:solidFill>
          <a:ln w="9525">
            <a:solidFill>
              <a:srgbClr val="E5EFE9"/>
            </a:solidFill>
            <a:prstDash val="solid"/>
          </a:ln>
        </p:spPr>
      </p:sp>
      <p:sp>
        <p:nvSpPr>
          <p:cNvPr id="17" name="Text 15"/>
          <p:cNvSpPr txBox="1"/>
          <p:nvPr/>
        </p:nvSpPr>
        <p:spPr>
          <a:xfrm>
            <a:off x="6754216" y="4352544"/>
            <a:ext cx="4486504" cy="292608"/>
          </a:xfrm>
          <a:prstGeom prst="rect">
            <a:avLst/>
          </a:prstGeom>
          <a:noFill/>
          <a:ln/>
        </p:spPr>
        <p:txBody>
          <a:bodyPr wrap="square" lIns="0" tIns="0" rIns="0" bIns="0" rtlCol="0" anchor="t"/>
          <a:lstStyle/>
          <a:p>
            <a:pPr indent="0" marL="0">
              <a:lnSpc>
                <a:spcPts val="1200"/>
              </a:lnSpc>
              <a:buNone/>
            </a:pPr>
            <a:r>
              <a:rPr lang="en-US" sz="950" i="1" dirty="0">
                <a:solidFill>
                  <a:srgbClr val="1E7A4C"/>
                </a:solidFill>
                <a:latin typeface="Calibri" pitchFamily="34" charset="0"/>
                <a:ea typeface="Calibri" pitchFamily="34" charset="-122"/>
                <a:cs typeface="Calibri" pitchFamily="34" charset="-120"/>
              </a:rPr>
              <a:t>Morrisons kept made-to-order. It narrowed it to a model a store can actually staff.</a:t>
            </a:r>
            <a:endParaRPr lang="en-US" sz="950" dirty="0"/>
          </a:p>
        </p:txBody>
      </p:sp>
      <p:sp>
        <p:nvSpPr>
          <p:cNvPr id="18" name="Shape 16"/>
          <p:cNvSpPr/>
          <p:nvPr/>
        </p:nvSpPr>
        <p:spPr>
          <a:xfrm>
            <a:off x="566928" y="5157216"/>
            <a:ext cx="11057839" cy="1078992"/>
          </a:xfrm>
          <a:prstGeom prst="roundRect">
            <a:avLst>
              <a:gd name="adj" fmla="val 5085"/>
            </a:avLst>
          </a:prstGeom>
          <a:solidFill>
            <a:srgbClr val="0E3226"/>
          </a:solidFill>
          <a:ln w="9525">
            <a:solidFill>
              <a:srgbClr val="0E3226"/>
            </a:solidFill>
            <a:prstDash val="solid"/>
          </a:ln>
        </p:spPr>
      </p:sp>
      <p:sp>
        <p:nvSpPr>
          <p:cNvPr id="19" name="Text 17"/>
          <p:cNvSpPr txBox="1"/>
          <p:nvPr/>
        </p:nvSpPr>
        <p:spPr>
          <a:xfrm>
            <a:off x="786384" y="5285232"/>
            <a:ext cx="10618927" cy="219456"/>
          </a:xfrm>
          <a:prstGeom prst="rect">
            <a:avLst/>
          </a:prstGeom>
          <a:noFill/>
          <a:ln/>
        </p:spPr>
        <p:txBody>
          <a:bodyPr wrap="square" lIns="0" tIns="0" rIns="0" bIns="0" rtlCol="0" anchor="t"/>
          <a:lstStyle/>
          <a:p>
            <a:pPr indent="0" marL="0">
              <a:lnSpc>
                <a:spcPts val="1500"/>
              </a:lnSpc>
              <a:buNone/>
            </a:pPr>
            <a:r>
              <a:rPr lang="en-US" sz="900" b="1" spc="120" kern="0" dirty="0">
                <a:solidFill>
                  <a:srgbClr val="8FC4A8"/>
                </a:solidFill>
                <a:latin typeface="Calibri" pitchFamily="34" charset="0"/>
                <a:ea typeface="Calibri" pitchFamily="34" charset="-122"/>
                <a:cs typeface="Calibri" pitchFamily="34" charset="-120"/>
              </a:rPr>
              <a:t>THE TRANSFERABLE PATTERN</a:t>
            </a:r>
            <a:endParaRPr lang="en-US" sz="900" dirty="0"/>
          </a:p>
        </p:txBody>
      </p:sp>
      <p:sp>
        <p:nvSpPr>
          <p:cNvPr id="20" name="Text 18"/>
          <p:cNvSpPr txBox="1"/>
          <p:nvPr/>
        </p:nvSpPr>
        <p:spPr>
          <a:xfrm>
            <a:off x="786384" y="5559552"/>
            <a:ext cx="10618927" cy="585216"/>
          </a:xfrm>
          <a:prstGeom prst="rect">
            <a:avLst/>
          </a:prstGeom>
          <a:noFill/>
          <a:ln/>
        </p:spPr>
        <p:txBody>
          <a:bodyPr wrap="square" lIns="0" tIns="0" rIns="0" bIns="0" rtlCol="0" anchor="t"/>
          <a:lstStyle/>
          <a:p>
            <a:pPr indent="0" marL="0">
              <a:lnSpc>
                <a:spcPts val="1500"/>
              </a:lnSpc>
              <a:buNone/>
            </a:pPr>
            <a:r>
              <a:rPr lang="en-US" sz="1100" dirty="0">
                <a:solidFill>
                  <a:srgbClr val="FFFFFF"/>
                </a:solidFill>
                <a:latin typeface="Calibri" pitchFamily="34" charset="0"/>
                <a:ea typeface="Calibri" pitchFamily="34" charset="-122"/>
                <a:cs typeface="Calibri" pitchFamily="34" charset="-120"/>
              </a:rPr>
              <a:t>No new fixed cost. One category at a time. A focused daypart. Digital ordering, so the customer shops while it is made and the lunchtime labour spike never forms. And a price customers accept because they can watch it happen. Anything built next should copy this, not Market Kitchen.</a:t>
            </a:r>
            <a:endParaRPr lang="en-US" sz="1100" dirty="0"/>
          </a:p>
        </p:txBody>
      </p:sp>
      <p:sp>
        <p:nvSpPr>
          <p:cNvPr id="21" name="Text 19"/>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Morrisons Corporate (24 Mar 2025; 30 Jun 2025); The Grocer; Retail Gazette (Jul 2026); Grocery Gazette (Oct 2022)</a:t>
            </a:r>
            <a:endParaRPr lang="en-US" sz="800" dirty="0"/>
          </a:p>
        </p:txBody>
      </p:sp>
      <p:sp>
        <p:nvSpPr>
          <p:cNvPr id="22" name="Text 20"/>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OPPORTUNITY LANDSCAPE</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Thirteen interventions considered. Five screened out because Morrisons already solves them</a:t>
            </a:r>
            <a:endParaRPr lang="en-US" sz="2100" dirty="0"/>
          </a:p>
        </p:txBody>
      </p:sp>
      <p:sp>
        <p:nvSpPr>
          <p:cNvPr id="4" name="Shape 2"/>
          <p:cNvSpPr/>
          <p:nvPr/>
        </p:nvSpPr>
        <p:spPr>
          <a:xfrm>
            <a:off x="566928" y="2048256"/>
            <a:ext cx="6126480" cy="3785616"/>
          </a:xfrm>
          <a:prstGeom prst="rect">
            <a:avLst/>
          </a:prstGeom>
          <a:solidFill>
            <a:srgbClr val="F4F6F4"/>
          </a:solidFill>
          <a:ln w="12700">
            <a:solidFill>
              <a:srgbClr val="D9DFDB"/>
            </a:solidFill>
            <a:prstDash val="solid"/>
          </a:ln>
        </p:spPr>
      </p:sp>
      <p:sp>
        <p:nvSpPr>
          <p:cNvPr id="5" name="Shape 3"/>
          <p:cNvSpPr/>
          <p:nvPr/>
        </p:nvSpPr>
        <p:spPr>
          <a:xfrm>
            <a:off x="3630168" y="2048256"/>
            <a:ext cx="7315" cy="3785616"/>
          </a:xfrm>
          <a:prstGeom prst="rect">
            <a:avLst/>
          </a:prstGeom>
          <a:solidFill>
            <a:srgbClr val="D9DFDB"/>
          </a:solidFill>
          <a:ln w="12700">
            <a:solidFill>
              <a:srgbClr val="D9DFDB"/>
            </a:solidFill>
            <a:prstDash val="solid"/>
          </a:ln>
        </p:spPr>
      </p:sp>
      <p:sp>
        <p:nvSpPr>
          <p:cNvPr id="6" name="Shape 4"/>
          <p:cNvSpPr/>
          <p:nvPr/>
        </p:nvSpPr>
        <p:spPr>
          <a:xfrm>
            <a:off x="566928" y="3941064"/>
            <a:ext cx="6126480" cy="7315"/>
          </a:xfrm>
          <a:prstGeom prst="rect">
            <a:avLst/>
          </a:prstGeom>
          <a:solidFill>
            <a:srgbClr val="D9DFDB"/>
          </a:solidFill>
          <a:ln w="12700">
            <a:solidFill>
              <a:srgbClr val="D9DFDB"/>
            </a:solidFill>
            <a:prstDash val="solid"/>
          </a:ln>
        </p:spPr>
      </p:sp>
      <p:sp>
        <p:nvSpPr>
          <p:cNvPr id="7" name="Text 5"/>
          <p:cNvSpPr txBox="1"/>
          <p:nvPr/>
        </p:nvSpPr>
        <p:spPr>
          <a:xfrm>
            <a:off x="566928" y="1773936"/>
            <a:ext cx="6126480"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5E6B64"/>
                </a:solidFill>
                <a:latin typeface="Calibri" pitchFamily="34" charset="0"/>
                <a:ea typeface="Calibri" pitchFamily="34" charset="-122"/>
                <a:cs typeface="Calibri" pitchFamily="34" charset="-120"/>
              </a:rPr>
              <a:t>↑  COMMERCIAL POTENTIAL</a:t>
            </a:r>
            <a:endParaRPr lang="en-US" sz="850" dirty="0"/>
          </a:p>
        </p:txBody>
      </p:sp>
      <p:sp>
        <p:nvSpPr>
          <p:cNvPr id="8" name="Text 6"/>
          <p:cNvSpPr txBox="1"/>
          <p:nvPr/>
        </p:nvSpPr>
        <p:spPr>
          <a:xfrm>
            <a:off x="566928" y="5907024"/>
            <a:ext cx="6126480" cy="219456"/>
          </a:xfrm>
          <a:prstGeom prst="rect">
            <a:avLst/>
          </a:prstGeom>
          <a:noFill/>
          <a:ln/>
        </p:spPr>
        <p:txBody>
          <a:bodyPr wrap="square" lIns="0" tIns="0" rIns="0" bIns="0" rtlCol="0" anchor="t"/>
          <a:lstStyle/>
          <a:p>
            <a:pPr algn="r" indent="0" marL="0">
              <a:lnSpc>
                <a:spcPts val="1500"/>
              </a:lnSpc>
              <a:buNone/>
            </a:pPr>
            <a:r>
              <a:rPr lang="en-US" sz="850" b="1" spc="100" kern="0" dirty="0">
                <a:solidFill>
                  <a:srgbClr val="5E6B64"/>
                </a:solidFill>
                <a:latin typeface="Calibri" pitchFamily="34" charset="0"/>
                <a:ea typeface="Calibri" pitchFamily="34" charset="-122"/>
                <a:cs typeface="Calibri" pitchFamily="34" charset="-120"/>
              </a:rPr>
              <a:t>FEASIBILITY  →</a:t>
            </a:r>
            <a:endParaRPr lang="en-US" sz="850" dirty="0"/>
          </a:p>
        </p:txBody>
      </p:sp>
      <p:sp>
        <p:nvSpPr>
          <p:cNvPr id="9" name="Shape 7"/>
          <p:cNvSpPr/>
          <p:nvPr/>
        </p:nvSpPr>
        <p:spPr>
          <a:xfrm>
            <a:off x="5190134" y="4845588"/>
            <a:ext cx="310896" cy="310896"/>
          </a:xfrm>
          <a:prstGeom prst="ellipse">
            <a:avLst/>
          </a:prstGeom>
          <a:solidFill>
            <a:srgbClr val="1E7A4C"/>
          </a:solidFill>
          <a:ln w="15875">
            <a:solidFill>
              <a:srgbClr val="FFFFFF"/>
            </a:solidFill>
            <a:prstDash val="solid"/>
          </a:ln>
        </p:spPr>
      </p:sp>
      <p:sp>
        <p:nvSpPr>
          <p:cNvPr id="10" name="Text 8"/>
          <p:cNvSpPr txBox="1"/>
          <p:nvPr/>
        </p:nvSpPr>
        <p:spPr>
          <a:xfrm>
            <a:off x="5190134" y="4845588"/>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Shape 9"/>
          <p:cNvSpPr/>
          <p:nvPr/>
        </p:nvSpPr>
        <p:spPr>
          <a:xfrm>
            <a:off x="3781044" y="2952780"/>
            <a:ext cx="310896" cy="310896"/>
          </a:xfrm>
          <a:prstGeom prst="ellipse">
            <a:avLst/>
          </a:prstGeom>
          <a:solidFill>
            <a:srgbClr val="1E7A4C"/>
          </a:solidFill>
          <a:ln w="15875">
            <a:solidFill>
              <a:srgbClr val="FFFFFF"/>
            </a:solidFill>
            <a:prstDash val="solid"/>
          </a:ln>
        </p:spPr>
      </p:sp>
      <p:sp>
        <p:nvSpPr>
          <p:cNvPr id="12" name="Text 10"/>
          <p:cNvSpPr txBox="1"/>
          <p:nvPr/>
        </p:nvSpPr>
        <p:spPr>
          <a:xfrm>
            <a:off x="3781044" y="2952780"/>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Shape 11"/>
          <p:cNvSpPr/>
          <p:nvPr/>
        </p:nvSpPr>
        <p:spPr>
          <a:xfrm>
            <a:off x="5312664" y="3596335"/>
            <a:ext cx="310896" cy="310896"/>
          </a:xfrm>
          <a:prstGeom prst="ellipse">
            <a:avLst/>
          </a:prstGeom>
          <a:solidFill>
            <a:srgbClr val="1E7A4C"/>
          </a:solidFill>
          <a:ln w="15875">
            <a:solidFill>
              <a:srgbClr val="FFFFFF"/>
            </a:solidFill>
            <a:prstDash val="solid"/>
          </a:ln>
        </p:spPr>
      </p:sp>
      <p:sp>
        <p:nvSpPr>
          <p:cNvPr id="14" name="Text 12"/>
          <p:cNvSpPr txBox="1"/>
          <p:nvPr/>
        </p:nvSpPr>
        <p:spPr>
          <a:xfrm>
            <a:off x="5312664" y="3596335"/>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Shape 13"/>
          <p:cNvSpPr/>
          <p:nvPr/>
        </p:nvSpPr>
        <p:spPr>
          <a:xfrm>
            <a:off x="4454957" y="4012753"/>
            <a:ext cx="310896" cy="310896"/>
          </a:xfrm>
          <a:prstGeom prst="ellipse">
            <a:avLst/>
          </a:prstGeom>
          <a:solidFill>
            <a:srgbClr val="1E7A4C"/>
          </a:solidFill>
          <a:ln w="15875">
            <a:solidFill>
              <a:srgbClr val="FFFFFF"/>
            </a:solidFill>
            <a:prstDash val="solid"/>
          </a:ln>
        </p:spPr>
      </p:sp>
      <p:sp>
        <p:nvSpPr>
          <p:cNvPr id="16" name="Text 14"/>
          <p:cNvSpPr txBox="1"/>
          <p:nvPr/>
        </p:nvSpPr>
        <p:spPr>
          <a:xfrm>
            <a:off x="4454957" y="4012753"/>
            <a:ext cx="310896"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Shape 15"/>
          <p:cNvSpPr/>
          <p:nvPr/>
        </p:nvSpPr>
        <p:spPr>
          <a:xfrm>
            <a:off x="2286000" y="2686507"/>
            <a:ext cx="237744" cy="237744"/>
          </a:xfrm>
          <a:prstGeom prst="ellipse">
            <a:avLst/>
          </a:prstGeom>
          <a:solidFill>
            <a:srgbClr val="9AA8A1"/>
          </a:solidFill>
          <a:ln w="15875">
            <a:solidFill>
              <a:srgbClr val="FFFFFF"/>
            </a:solidFill>
            <a:prstDash val="solid"/>
          </a:ln>
        </p:spPr>
      </p:sp>
      <p:sp>
        <p:nvSpPr>
          <p:cNvPr id="18" name="Text 16"/>
          <p:cNvSpPr txBox="1"/>
          <p:nvPr/>
        </p:nvSpPr>
        <p:spPr>
          <a:xfrm>
            <a:off x="2286000" y="2686507"/>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a:t>
            </a:r>
            <a:endParaRPr lang="en-US" sz="800" dirty="0"/>
          </a:p>
        </p:txBody>
      </p:sp>
      <p:sp>
        <p:nvSpPr>
          <p:cNvPr id="19" name="Shape 17"/>
          <p:cNvSpPr/>
          <p:nvPr/>
        </p:nvSpPr>
        <p:spPr>
          <a:xfrm>
            <a:off x="1918411" y="4427891"/>
            <a:ext cx="237744" cy="237744"/>
          </a:xfrm>
          <a:prstGeom prst="ellipse">
            <a:avLst/>
          </a:prstGeom>
          <a:solidFill>
            <a:srgbClr val="9AA8A1"/>
          </a:solidFill>
          <a:ln w="15875">
            <a:solidFill>
              <a:srgbClr val="FFFFFF"/>
            </a:solidFill>
            <a:prstDash val="solid"/>
          </a:ln>
        </p:spPr>
      </p:sp>
      <p:sp>
        <p:nvSpPr>
          <p:cNvPr id="20" name="Text 18"/>
          <p:cNvSpPr txBox="1"/>
          <p:nvPr/>
        </p:nvSpPr>
        <p:spPr>
          <a:xfrm>
            <a:off x="1918411" y="4427891"/>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t>
            </a:r>
            <a:endParaRPr lang="en-US" sz="800" dirty="0"/>
          </a:p>
        </p:txBody>
      </p:sp>
      <p:sp>
        <p:nvSpPr>
          <p:cNvPr id="21" name="Shape 19"/>
          <p:cNvSpPr/>
          <p:nvPr/>
        </p:nvSpPr>
        <p:spPr>
          <a:xfrm>
            <a:off x="3021178" y="2383658"/>
            <a:ext cx="237744" cy="237744"/>
          </a:xfrm>
          <a:prstGeom prst="ellipse">
            <a:avLst/>
          </a:prstGeom>
          <a:solidFill>
            <a:srgbClr val="9AA8A1"/>
          </a:solidFill>
          <a:ln w="15875">
            <a:solidFill>
              <a:srgbClr val="FFFFFF"/>
            </a:solidFill>
            <a:prstDash val="solid"/>
          </a:ln>
        </p:spPr>
      </p:sp>
      <p:sp>
        <p:nvSpPr>
          <p:cNvPr id="22" name="Text 20"/>
          <p:cNvSpPr txBox="1"/>
          <p:nvPr/>
        </p:nvSpPr>
        <p:spPr>
          <a:xfrm>
            <a:off x="3021178" y="2383658"/>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a:t>
            </a:r>
            <a:endParaRPr lang="en-US" sz="800" dirty="0"/>
          </a:p>
        </p:txBody>
      </p:sp>
      <p:sp>
        <p:nvSpPr>
          <p:cNvPr id="23" name="Shape 21"/>
          <p:cNvSpPr/>
          <p:nvPr/>
        </p:nvSpPr>
        <p:spPr>
          <a:xfrm>
            <a:off x="5716829" y="2459370"/>
            <a:ext cx="237744" cy="237744"/>
          </a:xfrm>
          <a:prstGeom prst="ellipse">
            <a:avLst/>
          </a:prstGeom>
          <a:solidFill>
            <a:srgbClr val="9AA8A1"/>
          </a:solidFill>
          <a:ln w="15875">
            <a:solidFill>
              <a:srgbClr val="FFFFFF"/>
            </a:solidFill>
            <a:prstDash val="solid"/>
          </a:ln>
        </p:spPr>
      </p:sp>
      <p:sp>
        <p:nvSpPr>
          <p:cNvPr id="24" name="Text 22"/>
          <p:cNvSpPr txBox="1"/>
          <p:nvPr/>
        </p:nvSpPr>
        <p:spPr>
          <a:xfrm>
            <a:off x="5716829" y="2459370"/>
            <a:ext cx="237744"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
            </a:r>
            <a:endParaRPr lang="en-US" sz="800" dirty="0"/>
          </a:p>
        </p:txBody>
      </p:sp>
      <p:sp>
        <p:nvSpPr>
          <p:cNvPr id="25" name="Text 23"/>
          <p:cNvSpPr txBox="1"/>
          <p:nvPr/>
        </p:nvSpPr>
        <p:spPr>
          <a:xfrm>
            <a:off x="7040880" y="1828800"/>
            <a:ext cx="4583887"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TAKEN FORWARD</a:t>
            </a:r>
            <a:endParaRPr lang="en-US" sz="850" dirty="0"/>
          </a:p>
        </p:txBody>
      </p:sp>
      <p:sp>
        <p:nvSpPr>
          <p:cNvPr id="26" name="Text 24"/>
          <p:cNvSpPr txBox="1"/>
          <p:nvPr/>
        </p:nvSpPr>
        <p:spPr>
          <a:xfrm>
            <a:off x="7040880" y="2103120"/>
            <a:ext cx="4583887" cy="914400"/>
          </a:xfrm>
          <a:prstGeom prst="rect">
            <a:avLst/>
          </a:prstGeom>
          <a:noFill/>
          <a:ln/>
        </p:spPr>
        <p:txBody>
          <a:bodyPr wrap="square" lIns="0" tIns="0" rIns="0" bIns="0" rtlCol="0" anchor="t"/>
          <a:lstStyle/>
          <a:p>
            <a:pPr indent="0" marL="0">
              <a:lnSpc>
                <a:spcPts val="1500"/>
              </a:lnSpc>
              <a:buNone/>
            </a:pPr>
            <a:r>
              <a:rPr lang="en-US" sz="1050" dirty="0">
                <a:solidFill>
                  <a:srgbClr val="15251D"/>
                </a:solidFill>
                <a:latin typeface="Calibri" pitchFamily="34" charset="0"/>
                <a:ea typeface="Calibri" pitchFamily="34" charset="-122"/>
                <a:cs typeface="Calibri" pitchFamily="34" charset="-120"/>
              </a:rPr>
              <a:t>1  Stock and production data capture at the counter</a:t>
            </a:r>
            <a:endParaRPr lang="en-US" sz="1050" dirty="0"/>
          </a:p>
          <a:p>
            <a:pPr indent="0" marL="0">
              <a:lnSpc>
                <a:spcPts val="1500"/>
              </a:lnSpc>
              <a:buNone/>
            </a:pPr>
            <a:r>
              <a:rPr lang="en-US" sz="1050" dirty="0">
                <a:solidFill>
                  <a:srgbClr val="15251D"/>
                </a:solidFill>
                <a:latin typeface="Calibri" pitchFamily="34" charset="0"/>
                <a:ea typeface="Calibri" pitchFamily="34" charset="-122"/>
                <a:cs typeface="Calibri" pitchFamily="34" charset="-120"/>
              </a:rPr>
              <a:t>2  Tiered made-to-order Market Street counter</a:t>
            </a:r>
            <a:endParaRPr lang="en-US" sz="1050" dirty="0"/>
          </a:p>
          <a:p>
            <a:pPr indent="0" marL="0">
              <a:lnSpc>
                <a:spcPts val="1500"/>
              </a:lnSpc>
              <a:buNone/>
            </a:pPr>
            <a:r>
              <a:rPr lang="en-US" sz="1050" dirty="0">
                <a:solidFill>
                  <a:srgbClr val="15251D"/>
                </a:solidFill>
                <a:latin typeface="Calibri" pitchFamily="34" charset="0"/>
                <a:ea typeface="Calibri" pitchFamily="34" charset="-122"/>
                <a:cs typeface="Calibri" pitchFamily="34" charset="-120"/>
              </a:rPr>
              <a:t>3  Automated reductions and counter tasks on phones</a:t>
            </a:r>
            <a:endParaRPr lang="en-US" sz="1050" dirty="0"/>
          </a:p>
          <a:p>
            <a:pPr indent="0" marL="0">
              <a:lnSpc>
                <a:spcPts val="1500"/>
              </a:lnSpc>
              <a:buNone/>
            </a:pPr>
            <a:r>
              <a:rPr lang="en-US" sz="1050" dirty="0">
                <a:solidFill>
                  <a:srgbClr val="15251D"/>
                </a:solidFill>
                <a:latin typeface="Calibri" pitchFamily="34" charset="0"/>
                <a:ea typeface="Calibri" pitchFamily="34" charset="-122"/>
                <a:cs typeface="Calibri" pitchFamily="34" charset="-120"/>
              </a:rPr>
              <a:t>4  Store-level counter format framework</a:t>
            </a:r>
            <a:endParaRPr lang="en-US" sz="1050" dirty="0"/>
          </a:p>
        </p:txBody>
      </p:sp>
      <p:sp>
        <p:nvSpPr>
          <p:cNvPr id="27" name="Text 25"/>
          <p:cNvSpPr txBox="1"/>
          <p:nvPr/>
        </p:nvSpPr>
        <p:spPr>
          <a:xfrm>
            <a:off x="7040880" y="3054096"/>
            <a:ext cx="4583887"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5E6B64"/>
                </a:solidFill>
                <a:latin typeface="Calibri" pitchFamily="34" charset="0"/>
                <a:ea typeface="Calibri" pitchFamily="34" charset="-122"/>
                <a:cs typeface="Calibri" pitchFamily="34" charset="-120"/>
              </a:rPr>
              <a:t>CONSIDERED, NOT PRIORITISED</a:t>
            </a:r>
            <a:endParaRPr lang="en-US" sz="850" dirty="0"/>
          </a:p>
        </p:txBody>
      </p:sp>
      <p:sp>
        <p:nvSpPr>
          <p:cNvPr id="28" name="Text 26"/>
          <p:cNvSpPr txBox="1"/>
          <p:nvPr/>
        </p:nvSpPr>
        <p:spPr>
          <a:xfrm>
            <a:off x="7040880" y="3328416"/>
            <a:ext cx="4583887" cy="914400"/>
          </a:xfrm>
          <a:prstGeom prst="rect">
            <a:avLst/>
          </a:prstGeom>
          <a:noFill/>
          <a:ln/>
        </p:spPr>
        <p:txBody>
          <a:bodyPr wrap="square" lIns="0" tIns="0" rIns="0" bIns="0" rtlCol="0" anchor="t"/>
          <a:lstStyle/>
          <a:p>
            <a:pPr indent="0" marL="0">
              <a:lnSpc>
                <a:spcPts val="1500"/>
              </a:lnSpc>
              <a:buNone/>
            </a:pPr>
            <a:r>
              <a:rPr lang="en-US" sz="1050" dirty="0">
                <a:solidFill>
                  <a:srgbClr val="5E6B64"/>
                </a:solidFill>
                <a:latin typeface="Calibri" pitchFamily="34" charset="0"/>
                <a:ea typeface="Calibri" pitchFamily="34" charset="-122"/>
                <a:cs typeface="Calibri" pitchFamily="34" charset="-120"/>
              </a:rPr>
              <a:t>a  Replace counters wholesale with concessions</a:t>
            </a:r>
            <a:endParaRPr lang="en-US" sz="1050" dirty="0"/>
          </a:p>
          <a:p>
            <a:pPr indent="0" marL="0">
              <a:lnSpc>
                <a:spcPts val="1500"/>
              </a:lnSpc>
              <a:buNone/>
            </a:pPr>
            <a:r>
              <a:rPr lang="en-US" sz="1050" dirty="0">
                <a:solidFill>
                  <a:srgbClr val="5E6B64"/>
                </a:solidFill>
                <a:latin typeface="Calibri" pitchFamily="34" charset="0"/>
                <a:ea typeface="Calibri" pitchFamily="34" charset="-122"/>
                <a:cs typeface="Calibri" pitchFamily="34" charset="-120"/>
              </a:rPr>
              <a:t>b  Extend counter range and premium tiers</a:t>
            </a:r>
            <a:endParaRPr lang="en-US" sz="1050" dirty="0"/>
          </a:p>
          <a:p>
            <a:pPr indent="0" marL="0">
              <a:lnSpc>
                <a:spcPts val="1500"/>
              </a:lnSpc>
              <a:buNone/>
            </a:pPr>
            <a:r>
              <a:rPr lang="en-US" sz="1050" dirty="0">
                <a:solidFill>
                  <a:srgbClr val="5E6B64"/>
                </a:solidFill>
                <a:latin typeface="Calibri" pitchFamily="34" charset="0"/>
                <a:ea typeface="Calibri" pitchFamily="34" charset="-122"/>
                <a:cs typeface="Calibri" pitchFamily="34" charset="-120"/>
              </a:rPr>
              <a:t>c  Target counter offers through More Card</a:t>
            </a:r>
            <a:endParaRPr lang="en-US" sz="1050" dirty="0"/>
          </a:p>
          <a:p>
            <a:pPr indent="0" marL="0">
              <a:lnSpc>
                <a:spcPts val="1500"/>
              </a:lnSpc>
              <a:buNone/>
            </a:pPr>
            <a:r>
              <a:rPr lang="en-US" sz="1050" dirty="0">
                <a:solidFill>
                  <a:srgbClr val="5E6B64"/>
                </a:solidFill>
                <a:latin typeface="Calibri" pitchFamily="34" charset="0"/>
                <a:ea typeface="Calibri" pitchFamily="34" charset="-122"/>
                <a:cs typeface="Calibri" pitchFamily="34" charset="-120"/>
              </a:rPr>
              <a:t>d  Publish a counter yield metric (folded into 1)</a:t>
            </a:r>
            <a:endParaRPr lang="en-US" sz="1050" dirty="0"/>
          </a:p>
        </p:txBody>
      </p:sp>
      <p:sp>
        <p:nvSpPr>
          <p:cNvPr id="29" name="Shape 27"/>
          <p:cNvSpPr/>
          <p:nvPr/>
        </p:nvSpPr>
        <p:spPr>
          <a:xfrm>
            <a:off x="7040880" y="4352544"/>
            <a:ext cx="4583887" cy="1700784"/>
          </a:xfrm>
          <a:prstGeom prst="roundRect">
            <a:avLst>
              <a:gd name="adj" fmla="val 3226"/>
            </a:avLst>
          </a:prstGeom>
          <a:solidFill>
            <a:srgbClr val="F5E7E4"/>
          </a:solidFill>
          <a:ln w="9525">
            <a:solidFill>
              <a:srgbClr val="F5E7E4"/>
            </a:solidFill>
            <a:prstDash val="solid"/>
          </a:ln>
        </p:spPr>
      </p:sp>
      <p:sp>
        <p:nvSpPr>
          <p:cNvPr id="30" name="Text 28"/>
          <p:cNvSpPr txBox="1"/>
          <p:nvPr/>
        </p:nvSpPr>
        <p:spPr>
          <a:xfrm>
            <a:off x="7223760" y="4498848"/>
            <a:ext cx="4218127"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96382C"/>
                </a:solidFill>
                <a:latin typeface="Calibri" pitchFamily="34" charset="0"/>
                <a:ea typeface="Calibri" pitchFamily="34" charset="-122"/>
                <a:cs typeface="Calibri" pitchFamily="34" charset="-120"/>
              </a:rPr>
              <a:t>SCREENED OUT — ALREADY SOLVED</a:t>
            </a:r>
            <a:endParaRPr lang="en-US" sz="850" dirty="0"/>
          </a:p>
        </p:txBody>
      </p:sp>
      <p:sp>
        <p:nvSpPr>
          <p:cNvPr id="31" name="Text 29"/>
          <p:cNvSpPr txBox="1"/>
          <p:nvPr/>
        </p:nvSpPr>
        <p:spPr>
          <a:xfrm>
            <a:off x="7278624" y="4773168"/>
            <a:ext cx="4108399" cy="1188720"/>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Digital food safety and checks: already in ~500 stores and 70,000 colleagues</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Ordering and replenishment: Blue Yonder across the estate since 2016</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Shelf availability monitoring: Focal Systems already in place</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Surplus redistribution: Too Good To Go, 800+ tonnes in 2024</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Substitution lookup: too small to matter, since substitutes already resolve most availability failures</a:t>
            </a:r>
            <a:endParaRPr lang="en-US" sz="900" dirty="0"/>
          </a:p>
        </p:txBody>
      </p:sp>
      <p:sp>
        <p:nvSpPr>
          <p:cNvPr id="32" name="Text 30"/>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Analysis. Screening evidence: YOOBIC; Blue Yonder; Focal Systems; Too Good To Go; Retail Economics &amp; DHL (2026). Scores structure judgement; they are not a mathematically objective ranking.</a:t>
            </a:r>
            <a:endParaRPr lang="en-US" sz="800" dirty="0"/>
          </a:p>
        </p:txBody>
      </p:sp>
      <p:sp>
        <p:nvSpPr>
          <p:cNvPr id="33" name="Text 31"/>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RECOMMENDATION 1</a:t>
            </a:r>
            <a:endParaRPr lang="en-US" sz="1000" dirty="0"/>
          </a:p>
        </p:txBody>
      </p:sp>
      <p:sp>
        <p:nvSpPr>
          <p:cNvPr id="3" name="Text 1"/>
          <p:cNvSpPr txBox="1"/>
          <p:nvPr/>
        </p:nvSpPr>
        <p:spPr>
          <a:xfrm>
            <a:off x="566928" y="640080"/>
            <a:ext cx="996055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Close the two data gaps under every counter decision: what is left in the freezer, and what was made and sold</a:t>
            </a:r>
            <a:endParaRPr lang="en-US" sz="2100" dirty="0"/>
          </a:p>
        </p:txBody>
      </p:sp>
      <p:sp>
        <p:nvSpPr>
          <p:cNvPr id="4" name="Shape 2"/>
          <p:cNvSpPr/>
          <p:nvPr/>
        </p:nvSpPr>
        <p:spPr>
          <a:xfrm>
            <a:off x="10838383" y="548640"/>
            <a:ext cx="713232" cy="713232"/>
          </a:xfrm>
          <a:prstGeom prst="ellipse">
            <a:avLst/>
          </a:prstGeom>
          <a:solidFill>
            <a:srgbClr val="1E7A4C"/>
          </a:solidFill>
          <a:ln w="12700">
            <a:solidFill>
              <a:srgbClr val="1E7A4C"/>
            </a:solidFill>
            <a:prstDash val="solid"/>
          </a:ln>
        </p:spPr>
      </p:sp>
      <p:sp>
        <p:nvSpPr>
          <p:cNvPr id="5" name="Text 3"/>
          <p:cNvSpPr txBox="1"/>
          <p:nvPr/>
        </p:nvSpPr>
        <p:spPr>
          <a:xfrm>
            <a:off x="10838383" y="548640"/>
            <a:ext cx="713232" cy="7132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566928" y="1773936"/>
            <a:ext cx="11057839" cy="786384"/>
          </a:xfrm>
          <a:prstGeom prst="roundRect">
            <a:avLst>
              <a:gd name="adj" fmla="val 6977"/>
            </a:avLst>
          </a:prstGeom>
          <a:solidFill>
            <a:srgbClr val="E5EFE9"/>
          </a:solidFill>
          <a:ln w="9525">
            <a:solidFill>
              <a:srgbClr val="E5EFE9"/>
            </a:solidFill>
            <a:prstDash val="solid"/>
          </a:ln>
        </p:spPr>
      </p:sp>
      <p:sp>
        <p:nvSpPr>
          <p:cNvPr id="7" name="Shape 5"/>
          <p:cNvSpPr/>
          <p:nvPr/>
        </p:nvSpPr>
        <p:spPr>
          <a:xfrm>
            <a:off x="786384" y="1901952"/>
            <a:ext cx="1271016" cy="219456"/>
          </a:xfrm>
          <a:prstGeom prst="roundRect">
            <a:avLst>
              <a:gd name="adj" fmla="val 50000"/>
            </a:avLst>
          </a:prstGeom>
          <a:solidFill>
            <a:srgbClr val="E5EFE9"/>
          </a:solidFill>
          <a:ln w="12700">
            <a:solidFill>
              <a:srgbClr val="E5EFE9"/>
            </a:solidFill>
            <a:prstDash val="solid"/>
          </a:ln>
        </p:spPr>
      </p:sp>
      <p:sp>
        <p:nvSpPr>
          <p:cNvPr id="8" name="Text 6"/>
          <p:cNvSpPr txBox="1"/>
          <p:nvPr/>
        </p:nvSpPr>
        <p:spPr>
          <a:xfrm>
            <a:off x="786384" y="1901952"/>
            <a:ext cx="1271016" cy="219456"/>
          </a:xfrm>
          <a:prstGeom prst="rect">
            <a:avLst/>
          </a:prstGeom>
          <a:noFill/>
          <a:ln/>
        </p:spPr>
        <p:txBody>
          <a:bodyPr wrap="square" lIns="0" tIns="0" rIns="0" bIns="0" rtlCol="0" anchor="ctr"/>
          <a:lstStyle/>
          <a:p>
            <a:pPr algn="ctr" indent="0" marL="0">
              <a:buNone/>
            </a:pPr>
            <a:r>
              <a:rPr lang="en-US" sz="750" b="1" spc="80" kern="0" dirty="0">
                <a:solidFill>
                  <a:srgbClr val="1E7A4C"/>
                </a:solidFill>
                <a:latin typeface="Calibri" pitchFamily="34" charset="0"/>
                <a:ea typeface="Calibri" pitchFamily="34" charset="-122"/>
                <a:cs typeface="Calibri" pitchFamily="34" charset="-120"/>
              </a:rPr>
              <a:t>RECOMMENDATION</a:t>
            </a:r>
            <a:endParaRPr lang="en-US" sz="750" dirty="0"/>
          </a:p>
        </p:txBody>
      </p:sp>
      <p:sp>
        <p:nvSpPr>
          <p:cNvPr id="9" name="Text 7"/>
          <p:cNvSpPr txBox="1"/>
          <p:nvPr/>
        </p:nvSpPr>
        <p:spPr>
          <a:xfrm>
            <a:off x="2395728" y="1901952"/>
            <a:ext cx="8954719" cy="566928"/>
          </a:xfrm>
          <a:prstGeom prst="rect">
            <a:avLst/>
          </a:prstGeom>
          <a:noFill/>
          <a:ln/>
        </p:spPr>
        <p:txBody>
          <a:bodyPr wrap="square" lIns="0" tIns="0" rIns="0" bIns="0" rtlCol="0" anchor="t"/>
          <a:lstStyle/>
          <a:p>
            <a:pPr indent="0" marL="0">
              <a:lnSpc>
                <a:spcPts val="1450"/>
              </a:lnSpc>
              <a:buNone/>
            </a:pPr>
            <a:r>
              <a:rPr lang="en-US" sz="1100" dirty="0">
                <a:solidFill>
                  <a:srgbClr val="15251D"/>
                </a:solidFill>
                <a:latin typeface="Calibri" pitchFamily="34" charset="0"/>
                <a:ea typeface="Calibri" pitchFamily="34" charset="-122"/>
                <a:cs typeface="Calibri" pitchFamily="34" charset="-120"/>
              </a:rPr>
              <a:t>Two captures, both taken where the colleague is already standing. First, scan a box out of the freezer as it is opened. That gives a running count without anyone walking the freezers, and a weekly consumption rate to order against. Second, log production and sales digitally rather than on paper, so tomorrow’s plan comes from yesterday’s demand instead of from memory.</a:t>
            </a:r>
            <a:endParaRPr lang="en-US" sz="1100" dirty="0"/>
          </a:p>
        </p:txBody>
      </p:sp>
      <p:sp>
        <p:nvSpPr>
          <p:cNvPr id="10" name="Shape 8"/>
          <p:cNvSpPr/>
          <p:nvPr/>
        </p:nvSpPr>
        <p:spPr>
          <a:xfrm>
            <a:off x="566928" y="2724912"/>
            <a:ext cx="3515258" cy="2157984"/>
          </a:xfrm>
          <a:prstGeom prst="roundRect">
            <a:avLst>
              <a:gd name="adj" fmla="val 2542"/>
            </a:avLst>
          </a:prstGeom>
          <a:solidFill>
            <a:srgbClr val="FFFFFF"/>
          </a:solidFill>
          <a:ln w="9525">
            <a:solidFill>
              <a:srgbClr val="D9DFDB"/>
            </a:solidFill>
            <a:prstDash val="solid"/>
          </a:ln>
        </p:spPr>
      </p:sp>
      <p:sp>
        <p:nvSpPr>
          <p:cNvPr id="11" name="Text 9"/>
          <p:cNvSpPr txBox="1"/>
          <p:nvPr/>
        </p:nvSpPr>
        <p:spPr>
          <a:xfrm>
            <a:off x="768096"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WHY IT HOLDS</a:t>
            </a:r>
            <a:endParaRPr lang="en-US" sz="850" dirty="0"/>
          </a:p>
        </p:txBody>
      </p:sp>
      <p:sp>
        <p:nvSpPr>
          <p:cNvPr id="12" name="Text 10"/>
          <p:cNvSpPr txBox="1"/>
          <p:nvPr/>
        </p:nvSpPr>
        <p:spPr>
          <a:xfrm>
            <a:off x="804672"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The two decisions a counter makes daily, and neither has a system behind it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Batch size against demand and shelf life explains 42% of fresh waste variance (peer-reviewed)</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Everything later in this pack depends on this data existing, including the format framework</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Once consumption is known, ordering can run automatically instead of by hand, removing both the errand and the error</a:t>
            </a:r>
            <a:endParaRPr lang="en-US" sz="900" dirty="0"/>
          </a:p>
        </p:txBody>
      </p:sp>
      <p:sp>
        <p:nvSpPr>
          <p:cNvPr id="13" name="Shape 11"/>
          <p:cNvSpPr/>
          <p:nvPr/>
        </p:nvSpPr>
        <p:spPr>
          <a:xfrm>
            <a:off x="4338218" y="2724912"/>
            <a:ext cx="3515258" cy="2157984"/>
          </a:xfrm>
          <a:prstGeom prst="roundRect">
            <a:avLst>
              <a:gd name="adj" fmla="val 2542"/>
            </a:avLst>
          </a:prstGeom>
          <a:solidFill>
            <a:srgbClr val="FFFFFF"/>
          </a:solidFill>
          <a:ln w="9525">
            <a:solidFill>
              <a:srgbClr val="D9DFDB"/>
            </a:solidFill>
            <a:prstDash val="solid"/>
          </a:ln>
        </p:spPr>
      </p:sp>
      <p:sp>
        <p:nvSpPr>
          <p:cNvPr id="14" name="Text 12"/>
          <p:cNvSpPr txBox="1"/>
          <p:nvPr/>
        </p:nvSpPr>
        <p:spPr>
          <a:xfrm>
            <a:off x="4539386"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5251D"/>
                </a:solidFill>
                <a:latin typeface="Calibri" pitchFamily="34" charset="0"/>
                <a:ea typeface="Calibri" pitchFamily="34" charset="-122"/>
                <a:cs typeface="Calibri" pitchFamily="34" charset="-120"/>
              </a:rPr>
              <a:t>WHAT CHANGES OPERATIONALLY</a:t>
            </a:r>
            <a:endParaRPr lang="en-US" sz="850" dirty="0"/>
          </a:p>
        </p:txBody>
      </p:sp>
      <p:sp>
        <p:nvSpPr>
          <p:cNvPr id="15" name="Text 13"/>
          <p:cNvSpPr txBox="1"/>
          <p:nvPr/>
        </p:nvSpPr>
        <p:spPr>
          <a:xfrm>
            <a:off x="4575962"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Ordering moves from reactive to consumption-based, then automatic, using the engine already placing 13m retail orders a day</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Freezers run leaner and stock can be found across several units</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Production plans get corrected against what actually sold, up as well as down</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A counter yield metric exists for the first time and can be reported</a:t>
            </a:r>
            <a:endParaRPr lang="en-US" sz="900" dirty="0"/>
          </a:p>
        </p:txBody>
      </p:sp>
      <p:sp>
        <p:nvSpPr>
          <p:cNvPr id="16" name="Shape 14"/>
          <p:cNvSpPr/>
          <p:nvPr/>
        </p:nvSpPr>
        <p:spPr>
          <a:xfrm>
            <a:off x="8109509" y="2724912"/>
            <a:ext cx="3515258" cy="2157984"/>
          </a:xfrm>
          <a:prstGeom prst="roundRect">
            <a:avLst>
              <a:gd name="adj" fmla="val 2542"/>
            </a:avLst>
          </a:prstGeom>
          <a:solidFill>
            <a:srgbClr val="FFFFFF"/>
          </a:solidFill>
          <a:ln w="9525">
            <a:solidFill>
              <a:srgbClr val="D9DFDB"/>
            </a:solidFill>
            <a:prstDash val="solid"/>
          </a:ln>
        </p:spPr>
      </p:sp>
      <p:sp>
        <p:nvSpPr>
          <p:cNvPr id="17" name="Text 15"/>
          <p:cNvSpPr txBox="1"/>
          <p:nvPr/>
        </p:nvSpPr>
        <p:spPr>
          <a:xfrm>
            <a:off x="8310677"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96382C"/>
                </a:solidFill>
                <a:latin typeface="Calibri" pitchFamily="34" charset="0"/>
                <a:ea typeface="Calibri" pitchFamily="34" charset="-122"/>
                <a:cs typeface="Calibri" pitchFamily="34" charset="-120"/>
              </a:rPr>
              <a:t>WHAT COULD GO WRONG</a:t>
            </a:r>
            <a:endParaRPr lang="en-US" sz="850" dirty="0"/>
          </a:p>
        </p:txBody>
      </p:sp>
      <p:sp>
        <p:nvSpPr>
          <p:cNvPr id="18" name="Text 16"/>
          <p:cNvSpPr txBox="1"/>
          <p:nvPr/>
        </p:nvSpPr>
        <p:spPr>
          <a:xfrm>
            <a:off x="8347253"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Logging discipline is the whole risk. If boxes go unscanned the count drifts and nobody trusts it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It has to take seconds. Anything longer will not survive a busy shift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Needs a weekly physical reconciliation to catch drift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Build, buy or extend is still open. RELEX and Cybake sell this, but neither names a UK grocery counter customer publicly</a:t>
            </a:r>
            <a:endParaRPr lang="en-US" sz="900" dirty="0"/>
          </a:p>
        </p:txBody>
      </p:sp>
      <p:sp>
        <p:nvSpPr>
          <p:cNvPr id="19" name="Shape 17"/>
          <p:cNvSpPr/>
          <p:nvPr/>
        </p:nvSpPr>
        <p:spPr>
          <a:xfrm>
            <a:off x="566928" y="5175504"/>
            <a:ext cx="5400904" cy="1060704"/>
          </a:xfrm>
          <a:prstGeom prst="roundRect">
            <a:avLst>
              <a:gd name="adj" fmla="val 5172"/>
            </a:avLst>
          </a:prstGeom>
          <a:solidFill>
            <a:srgbClr val="F4F6F4"/>
          </a:solidFill>
          <a:ln w="9525">
            <a:solidFill>
              <a:srgbClr val="F4F6F4"/>
            </a:solidFill>
            <a:prstDash val="solid"/>
          </a:ln>
        </p:spPr>
      </p:sp>
      <p:sp>
        <p:nvSpPr>
          <p:cNvPr id="20" name="Text 18"/>
          <p:cNvSpPr txBox="1"/>
          <p:nvPr/>
        </p:nvSpPr>
        <p:spPr>
          <a:xfrm>
            <a:off x="768096" y="5303520"/>
            <a:ext cx="4998568" cy="201168"/>
          </a:xfrm>
          <a:prstGeom prst="rect">
            <a:avLst/>
          </a:prstGeom>
          <a:noFill/>
          <a:ln/>
        </p:spPr>
        <p:txBody>
          <a:bodyPr wrap="square" lIns="0" tIns="0" rIns="0" bIns="0" rtlCol="0" anchor="t"/>
          <a:lstStyle/>
          <a:p>
            <a:pPr indent="0" marL="0">
              <a:lnSpc>
                <a:spcPts val="1500"/>
              </a:lnSpc>
              <a:buNone/>
            </a:pPr>
            <a:r>
              <a:rPr lang="en-US" sz="800" b="1" spc="100" kern="0" dirty="0">
                <a:solidFill>
                  <a:srgbClr val="15251D"/>
                </a:solidFill>
                <a:latin typeface="Calibri" pitchFamily="34" charset="0"/>
                <a:ea typeface="Calibri" pitchFamily="34" charset="-122"/>
                <a:cs typeface="Calibri" pitchFamily="34" charset="-120"/>
              </a:rPr>
              <a:t>HOW MORRISONS WOULD TEST IT</a:t>
            </a:r>
            <a:endParaRPr lang="en-US" sz="800" dirty="0"/>
          </a:p>
        </p:txBody>
      </p:sp>
      <p:sp>
        <p:nvSpPr>
          <p:cNvPr id="21" name="Text 19"/>
          <p:cNvSpPr txBox="1"/>
          <p:nvPr/>
        </p:nvSpPr>
        <p:spPr>
          <a:xfrm>
            <a:off x="768096" y="5522976"/>
            <a:ext cx="4998568" cy="640080"/>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Three stores of differing catchment and counter performance, one trading quarter, against three matched controls. Baseline a physical freezer count first, then measure how far the running count drifts from it.</a:t>
            </a:r>
            <a:endParaRPr lang="en-US" sz="950" dirty="0"/>
          </a:p>
        </p:txBody>
      </p:sp>
      <p:sp>
        <p:nvSpPr>
          <p:cNvPr id="22" name="Shape 20"/>
          <p:cNvSpPr/>
          <p:nvPr/>
        </p:nvSpPr>
        <p:spPr>
          <a:xfrm>
            <a:off x="6223864" y="5175504"/>
            <a:ext cx="5400904" cy="1060704"/>
          </a:xfrm>
          <a:prstGeom prst="roundRect">
            <a:avLst>
              <a:gd name="adj" fmla="val 5172"/>
            </a:avLst>
          </a:prstGeom>
          <a:solidFill>
            <a:srgbClr val="F4F6F4"/>
          </a:solidFill>
          <a:ln w="9525">
            <a:solidFill>
              <a:srgbClr val="F4F6F4"/>
            </a:solidFill>
            <a:prstDash val="solid"/>
          </a:ln>
        </p:spPr>
      </p:sp>
      <p:sp>
        <p:nvSpPr>
          <p:cNvPr id="23" name="Text 21"/>
          <p:cNvSpPr txBox="1"/>
          <p:nvPr/>
        </p:nvSpPr>
        <p:spPr>
          <a:xfrm>
            <a:off x="6425032" y="5303520"/>
            <a:ext cx="4998568" cy="201168"/>
          </a:xfrm>
          <a:prstGeom prst="rect">
            <a:avLst/>
          </a:prstGeom>
          <a:noFill/>
          <a:ln/>
        </p:spPr>
        <p:txBody>
          <a:bodyPr wrap="square" lIns="0" tIns="0" rIns="0" bIns="0" rtlCol="0" anchor="t"/>
          <a:lstStyle/>
          <a:p>
            <a:pPr indent="0" marL="0">
              <a:lnSpc>
                <a:spcPts val="1500"/>
              </a:lnSpc>
              <a:buNone/>
            </a:pPr>
            <a:r>
              <a:rPr lang="en-US" sz="800" b="1" spc="100" kern="0" dirty="0">
                <a:solidFill>
                  <a:srgbClr val="15251D"/>
                </a:solidFill>
                <a:latin typeface="Calibri" pitchFamily="34" charset="0"/>
                <a:ea typeface="Calibri" pitchFamily="34" charset="-122"/>
                <a:cs typeface="Calibri" pitchFamily="34" charset="-120"/>
              </a:rPr>
              <a:t>WHAT TO MEASURE</a:t>
            </a:r>
            <a:endParaRPr lang="en-US" sz="800" dirty="0"/>
          </a:p>
        </p:txBody>
      </p:sp>
      <p:sp>
        <p:nvSpPr>
          <p:cNvPr id="24" name="Text 22"/>
          <p:cNvSpPr txBox="1"/>
          <p:nvPr/>
        </p:nvSpPr>
        <p:spPr>
          <a:xfrm>
            <a:off x="6425032" y="5522976"/>
            <a:ext cx="4998568" cy="640080"/>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Stock-record accuracy against physical count · scan compliance rate · boxes held in freezer · order frequency and size · counter stock-outs and end-of-day availability · production plan accuracy against actual sales · waste yield and markdown · colleague time spent locating stock</a:t>
            </a:r>
            <a:endParaRPr lang="en-US" sz="950" dirty="0"/>
          </a:p>
        </p:txBody>
      </p:sp>
      <p:sp>
        <p:nvSpPr>
          <p:cNvPr id="25" name="Text 23"/>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ECR Retail Loss / Eindhoven; Retail Economics &amp; DHL (2026); RELEX; Cybake; Afresh; Invafresh; Blue Yonder. First-hand observation informs the process description. Vendor performance claims are unaudited and labelled in the source register.</a:t>
            </a:r>
            <a:endParaRPr lang="en-US" sz="800" dirty="0"/>
          </a:p>
        </p:txBody>
      </p:sp>
      <p:sp>
        <p:nvSpPr>
          <p:cNvPr id="26" name="Text 24"/>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RECOMMENDATION 2</a:t>
            </a:r>
            <a:endParaRPr lang="en-US" sz="1000" dirty="0"/>
          </a:p>
        </p:txBody>
      </p:sp>
      <p:sp>
        <p:nvSpPr>
          <p:cNvPr id="3" name="Text 1"/>
          <p:cNvSpPr txBox="1"/>
          <p:nvPr/>
        </p:nvSpPr>
        <p:spPr>
          <a:xfrm>
            <a:off x="566928" y="640080"/>
            <a:ext cx="996055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Build a tiered made-to-order counter from Market Street ingredients, carved in front of the customer</a:t>
            </a:r>
            <a:endParaRPr lang="en-US" sz="2100" dirty="0"/>
          </a:p>
        </p:txBody>
      </p:sp>
      <p:sp>
        <p:nvSpPr>
          <p:cNvPr id="4" name="Shape 2"/>
          <p:cNvSpPr/>
          <p:nvPr/>
        </p:nvSpPr>
        <p:spPr>
          <a:xfrm>
            <a:off x="10838383" y="548640"/>
            <a:ext cx="713232" cy="713232"/>
          </a:xfrm>
          <a:prstGeom prst="ellipse">
            <a:avLst/>
          </a:prstGeom>
          <a:solidFill>
            <a:srgbClr val="1E7A4C"/>
          </a:solidFill>
          <a:ln w="12700">
            <a:solidFill>
              <a:srgbClr val="1E7A4C"/>
            </a:solidFill>
            <a:prstDash val="solid"/>
          </a:ln>
        </p:spPr>
      </p:sp>
      <p:sp>
        <p:nvSpPr>
          <p:cNvPr id="5" name="Text 3"/>
          <p:cNvSpPr txBox="1"/>
          <p:nvPr/>
        </p:nvSpPr>
        <p:spPr>
          <a:xfrm>
            <a:off x="10838383" y="548640"/>
            <a:ext cx="713232" cy="7132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6" name="Shape 4"/>
          <p:cNvSpPr/>
          <p:nvPr/>
        </p:nvSpPr>
        <p:spPr>
          <a:xfrm>
            <a:off x="566928" y="1773936"/>
            <a:ext cx="11057839" cy="786384"/>
          </a:xfrm>
          <a:prstGeom prst="roundRect">
            <a:avLst>
              <a:gd name="adj" fmla="val 6977"/>
            </a:avLst>
          </a:prstGeom>
          <a:solidFill>
            <a:srgbClr val="E5EFE9"/>
          </a:solidFill>
          <a:ln w="9525">
            <a:solidFill>
              <a:srgbClr val="E5EFE9"/>
            </a:solidFill>
            <a:prstDash val="solid"/>
          </a:ln>
        </p:spPr>
      </p:sp>
      <p:sp>
        <p:nvSpPr>
          <p:cNvPr id="7" name="Shape 5"/>
          <p:cNvSpPr/>
          <p:nvPr/>
        </p:nvSpPr>
        <p:spPr>
          <a:xfrm>
            <a:off x="786384" y="1901952"/>
            <a:ext cx="1271016" cy="219456"/>
          </a:xfrm>
          <a:prstGeom prst="roundRect">
            <a:avLst>
              <a:gd name="adj" fmla="val 50000"/>
            </a:avLst>
          </a:prstGeom>
          <a:solidFill>
            <a:srgbClr val="E5EFE9"/>
          </a:solidFill>
          <a:ln w="12700">
            <a:solidFill>
              <a:srgbClr val="E5EFE9"/>
            </a:solidFill>
            <a:prstDash val="solid"/>
          </a:ln>
        </p:spPr>
      </p:sp>
      <p:sp>
        <p:nvSpPr>
          <p:cNvPr id="8" name="Text 6"/>
          <p:cNvSpPr txBox="1"/>
          <p:nvPr/>
        </p:nvSpPr>
        <p:spPr>
          <a:xfrm>
            <a:off x="786384" y="1901952"/>
            <a:ext cx="1271016" cy="219456"/>
          </a:xfrm>
          <a:prstGeom prst="rect">
            <a:avLst/>
          </a:prstGeom>
          <a:noFill/>
          <a:ln/>
        </p:spPr>
        <p:txBody>
          <a:bodyPr wrap="square" lIns="0" tIns="0" rIns="0" bIns="0" rtlCol="0" anchor="ctr"/>
          <a:lstStyle/>
          <a:p>
            <a:pPr algn="ctr" indent="0" marL="0">
              <a:buNone/>
            </a:pPr>
            <a:r>
              <a:rPr lang="en-US" sz="750" b="1" spc="80" kern="0" dirty="0">
                <a:solidFill>
                  <a:srgbClr val="1E7A4C"/>
                </a:solidFill>
                <a:latin typeface="Calibri" pitchFamily="34" charset="0"/>
                <a:ea typeface="Calibri" pitchFamily="34" charset="-122"/>
                <a:cs typeface="Calibri" pitchFamily="34" charset="-120"/>
              </a:rPr>
              <a:t>RECOMMENDATION</a:t>
            </a:r>
            <a:endParaRPr lang="en-US" sz="750" dirty="0"/>
          </a:p>
        </p:txBody>
      </p:sp>
      <p:sp>
        <p:nvSpPr>
          <p:cNvPr id="9" name="Text 7"/>
          <p:cNvSpPr txBox="1"/>
          <p:nvPr/>
        </p:nvSpPr>
        <p:spPr>
          <a:xfrm>
            <a:off x="2395728" y="1901952"/>
            <a:ext cx="8954719" cy="566928"/>
          </a:xfrm>
          <a:prstGeom prst="rect">
            <a:avLst/>
          </a:prstGeom>
          <a:noFill/>
          <a:ln/>
        </p:spPr>
        <p:txBody>
          <a:bodyPr wrap="square" lIns="0" tIns="0" rIns="0" bIns="0" rtlCol="0" anchor="t"/>
          <a:lstStyle/>
          <a:p>
            <a:pPr indent="0" marL="0">
              <a:lnSpc>
                <a:spcPts val="1450"/>
              </a:lnSpc>
              <a:buNone/>
            </a:pPr>
            <a:r>
              <a:rPr lang="en-US" sz="1100" dirty="0">
                <a:solidFill>
                  <a:srgbClr val="15251D"/>
                </a:solidFill>
                <a:latin typeface="Calibri" pitchFamily="34" charset="0"/>
                <a:ea typeface="Calibri" pitchFamily="34" charset="-122"/>
                <a:cs typeface="Calibri" pitchFamily="34" charset="-120"/>
              </a:rPr>
              <a:t>A tiered build priced by what goes in it: one meat, two meats, add cheese, add salad. Carved to order from the deli joint rather than assembled from pre-packed, on bread baked in store. Bundled as a Market Street meal deal with hot-counter sides instead of crisps. No new kitchen, no new supply chain, no new skill, because colleagues already work across all of these counters.</a:t>
            </a:r>
            <a:endParaRPr lang="en-US" sz="1100" dirty="0"/>
          </a:p>
        </p:txBody>
      </p:sp>
      <p:sp>
        <p:nvSpPr>
          <p:cNvPr id="10" name="Shape 8"/>
          <p:cNvSpPr/>
          <p:nvPr/>
        </p:nvSpPr>
        <p:spPr>
          <a:xfrm>
            <a:off x="566928" y="2724912"/>
            <a:ext cx="3515258" cy="2157984"/>
          </a:xfrm>
          <a:prstGeom prst="roundRect">
            <a:avLst>
              <a:gd name="adj" fmla="val 2542"/>
            </a:avLst>
          </a:prstGeom>
          <a:solidFill>
            <a:srgbClr val="FFFFFF"/>
          </a:solidFill>
          <a:ln w="9525">
            <a:solidFill>
              <a:srgbClr val="D9DFDB"/>
            </a:solidFill>
            <a:prstDash val="solid"/>
          </a:ln>
        </p:spPr>
      </p:sp>
      <p:sp>
        <p:nvSpPr>
          <p:cNvPr id="11" name="Text 9"/>
          <p:cNvSpPr txBox="1"/>
          <p:nvPr/>
        </p:nvSpPr>
        <p:spPr>
          <a:xfrm>
            <a:off x="768096"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WHY IT HOLDS</a:t>
            </a:r>
            <a:endParaRPr lang="en-US" sz="850" dirty="0"/>
          </a:p>
        </p:txBody>
      </p:sp>
      <p:sp>
        <p:nvSpPr>
          <p:cNvPr id="12" name="Text 10"/>
          <p:cNvSpPr txBox="1"/>
          <p:nvPr/>
        </p:nvSpPr>
        <p:spPr>
          <a:xfrm>
            <a:off x="804672"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Every input and every skill is already in the building and already scheduled</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Answers Market Kitchen head on. That was a restaurant. This is an assembly counter</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Quality is the fastest-rising reason customers choose an outlet (+2.3ppt YoY)</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Meat carved to order is the one thing no packaged competitor can copy</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Real price headroom: made-to-order trades at £9+ on the high street against a £3.75 meal deal</a:t>
            </a:r>
            <a:endParaRPr lang="en-US" sz="900" dirty="0"/>
          </a:p>
        </p:txBody>
      </p:sp>
      <p:sp>
        <p:nvSpPr>
          <p:cNvPr id="13" name="Shape 11"/>
          <p:cNvSpPr/>
          <p:nvPr/>
        </p:nvSpPr>
        <p:spPr>
          <a:xfrm>
            <a:off x="4338218" y="2724912"/>
            <a:ext cx="3515258" cy="2157984"/>
          </a:xfrm>
          <a:prstGeom prst="roundRect">
            <a:avLst>
              <a:gd name="adj" fmla="val 2542"/>
            </a:avLst>
          </a:prstGeom>
          <a:solidFill>
            <a:srgbClr val="FFFFFF"/>
          </a:solidFill>
          <a:ln w="9525">
            <a:solidFill>
              <a:srgbClr val="D9DFDB"/>
            </a:solidFill>
            <a:prstDash val="solid"/>
          </a:ln>
        </p:spPr>
      </p:sp>
      <p:sp>
        <p:nvSpPr>
          <p:cNvPr id="14" name="Text 12"/>
          <p:cNvSpPr txBox="1"/>
          <p:nvPr/>
        </p:nvSpPr>
        <p:spPr>
          <a:xfrm>
            <a:off x="4539386"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5251D"/>
                </a:solidFill>
                <a:latin typeface="Calibri" pitchFamily="34" charset="0"/>
                <a:ea typeface="Calibri" pitchFamily="34" charset="-122"/>
                <a:cs typeface="Calibri" pitchFamily="34" charset="-120"/>
              </a:rPr>
              <a:t>WHAT CHANGES OPERATIONALLY</a:t>
            </a:r>
            <a:endParaRPr lang="en-US" sz="850" dirty="0"/>
          </a:p>
        </p:txBody>
      </p:sp>
      <p:sp>
        <p:nvSpPr>
          <p:cNvPr id="15" name="Text 13"/>
          <p:cNvSpPr txBox="1"/>
          <p:nvPr/>
        </p:nvSpPr>
        <p:spPr>
          <a:xfrm>
            <a:off x="4575962"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Tiered pricing by build, so the customer chooses the price point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Digital ordering screens: order on arrival, shop, collect on the way out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Pre-build through the 12 to 2 peak, made to order either side of it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Breakfast fills the 8 to 11 window when counters sit near-idle</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Allergen handling designed in; launch targeted through More Card at known deli buyers</a:t>
            </a:r>
            <a:endParaRPr lang="en-US" sz="900" dirty="0"/>
          </a:p>
        </p:txBody>
      </p:sp>
      <p:sp>
        <p:nvSpPr>
          <p:cNvPr id="16" name="Shape 14"/>
          <p:cNvSpPr/>
          <p:nvPr/>
        </p:nvSpPr>
        <p:spPr>
          <a:xfrm>
            <a:off x="8109509" y="2724912"/>
            <a:ext cx="3515258" cy="2157984"/>
          </a:xfrm>
          <a:prstGeom prst="roundRect">
            <a:avLst>
              <a:gd name="adj" fmla="val 2542"/>
            </a:avLst>
          </a:prstGeom>
          <a:solidFill>
            <a:srgbClr val="FFFFFF"/>
          </a:solidFill>
          <a:ln w="9525">
            <a:solidFill>
              <a:srgbClr val="D9DFDB"/>
            </a:solidFill>
            <a:prstDash val="solid"/>
          </a:ln>
        </p:spPr>
      </p:sp>
      <p:sp>
        <p:nvSpPr>
          <p:cNvPr id="17" name="Text 15"/>
          <p:cNvSpPr txBox="1"/>
          <p:nvPr/>
        </p:nvSpPr>
        <p:spPr>
          <a:xfrm>
            <a:off x="8310677"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96382C"/>
                </a:solidFill>
                <a:latin typeface="Calibri" pitchFamily="34" charset="0"/>
                <a:ea typeface="Calibri" pitchFamily="34" charset="-122"/>
                <a:cs typeface="Calibri" pitchFamily="34" charset="-120"/>
              </a:rPr>
              <a:t>WHAT COULD GO WRONG</a:t>
            </a:r>
            <a:endParaRPr lang="en-US" sz="850" dirty="0"/>
          </a:p>
        </p:txBody>
      </p:sp>
      <p:sp>
        <p:nvSpPr>
          <p:cNvPr id="18" name="Text 16"/>
          <p:cNvSpPr txBox="1"/>
          <p:nvPr/>
        </p:nvSpPr>
        <p:spPr>
          <a:xfrm>
            <a:off x="8347253"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It cannibalises packaged food-to-go if it recruits the wrong customer</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Throughput and queueing at peak, which is why counters were closed before</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Allergen risk is materially higher on made-to-order than on packaged</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No credible UK evidence on willingness to pay a premium over pre-packed</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Asda launched a £4 hot counter meal deal in August 2026, so a direct peer is already here</a:t>
            </a:r>
            <a:endParaRPr lang="en-US" sz="900" dirty="0"/>
          </a:p>
        </p:txBody>
      </p:sp>
      <p:sp>
        <p:nvSpPr>
          <p:cNvPr id="19" name="Shape 17"/>
          <p:cNvSpPr/>
          <p:nvPr/>
        </p:nvSpPr>
        <p:spPr>
          <a:xfrm>
            <a:off x="566928" y="5175504"/>
            <a:ext cx="5400904" cy="1060704"/>
          </a:xfrm>
          <a:prstGeom prst="roundRect">
            <a:avLst>
              <a:gd name="adj" fmla="val 5172"/>
            </a:avLst>
          </a:prstGeom>
          <a:solidFill>
            <a:srgbClr val="F4F6F4"/>
          </a:solidFill>
          <a:ln w="9525">
            <a:solidFill>
              <a:srgbClr val="F4F6F4"/>
            </a:solidFill>
            <a:prstDash val="solid"/>
          </a:ln>
        </p:spPr>
      </p:sp>
      <p:sp>
        <p:nvSpPr>
          <p:cNvPr id="20" name="Text 18"/>
          <p:cNvSpPr txBox="1"/>
          <p:nvPr/>
        </p:nvSpPr>
        <p:spPr>
          <a:xfrm>
            <a:off x="768096" y="5303520"/>
            <a:ext cx="4998568" cy="201168"/>
          </a:xfrm>
          <a:prstGeom prst="rect">
            <a:avLst/>
          </a:prstGeom>
          <a:noFill/>
          <a:ln/>
        </p:spPr>
        <p:txBody>
          <a:bodyPr wrap="square" lIns="0" tIns="0" rIns="0" bIns="0" rtlCol="0" anchor="t"/>
          <a:lstStyle/>
          <a:p>
            <a:pPr indent="0" marL="0">
              <a:lnSpc>
                <a:spcPts val="1500"/>
              </a:lnSpc>
              <a:buNone/>
            </a:pPr>
            <a:r>
              <a:rPr lang="en-US" sz="800" b="1" spc="100" kern="0" dirty="0">
                <a:solidFill>
                  <a:srgbClr val="15251D"/>
                </a:solidFill>
                <a:latin typeface="Calibri" pitchFamily="34" charset="0"/>
                <a:ea typeface="Calibri" pitchFamily="34" charset="-122"/>
                <a:cs typeface="Calibri" pitchFamily="34" charset="-120"/>
              </a:rPr>
              <a:t>HOW MORRISONS WOULD TEST IT</a:t>
            </a:r>
            <a:endParaRPr lang="en-US" sz="800" dirty="0"/>
          </a:p>
        </p:txBody>
      </p:sp>
      <p:sp>
        <p:nvSpPr>
          <p:cNvPr id="21" name="Text 19"/>
          <p:cNvSpPr txBox="1"/>
          <p:nvPr/>
        </p:nvSpPr>
        <p:spPr>
          <a:xfrm>
            <a:off x="768096" y="5522976"/>
            <a:ext cx="4998568" cy="640080"/>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Three stores with contrasting catchments, one quarter. Price-test the tier ladder rather than assuming it, because the gap between tiers is the commercial question. Measure which customer switched, not just the sale made. Cannibalisation is the number that decides this.</a:t>
            </a:r>
            <a:endParaRPr lang="en-US" sz="950" dirty="0"/>
          </a:p>
        </p:txBody>
      </p:sp>
      <p:sp>
        <p:nvSpPr>
          <p:cNvPr id="22" name="Shape 20"/>
          <p:cNvSpPr/>
          <p:nvPr/>
        </p:nvSpPr>
        <p:spPr>
          <a:xfrm>
            <a:off x="6223864" y="5175504"/>
            <a:ext cx="5400904" cy="1060704"/>
          </a:xfrm>
          <a:prstGeom prst="roundRect">
            <a:avLst>
              <a:gd name="adj" fmla="val 5172"/>
            </a:avLst>
          </a:prstGeom>
          <a:solidFill>
            <a:srgbClr val="F4F6F4"/>
          </a:solidFill>
          <a:ln w="9525">
            <a:solidFill>
              <a:srgbClr val="F4F6F4"/>
            </a:solidFill>
            <a:prstDash val="solid"/>
          </a:ln>
        </p:spPr>
      </p:sp>
      <p:sp>
        <p:nvSpPr>
          <p:cNvPr id="23" name="Text 21"/>
          <p:cNvSpPr txBox="1"/>
          <p:nvPr/>
        </p:nvSpPr>
        <p:spPr>
          <a:xfrm>
            <a:off x="6425032" y="5303520"/>
            <a:ext cx="4998568" cy="201168"/>
          </a:xfrm>
          <a:prstGeom prst="rect">
            <a:avLst/>
          </a:prstGeom>
          <a:noFill/>
          <a:ln/>
        </p:spPr>
        <p:txBody>
          <a:bodyPr wrap="square" lIns="0" tIns="0" rIns="0" bIns="0" rtlCol="0" anchor="t"/>
          <a:lstStyle/>
          <a:p>
            <a:pPr indent="0" marL="0">
              <a:lnSpc>
                <a:spcPts val="1500"/>
              </a:lnSpc>
              <a:buNone/>
            </a:pPr>
            <a:r>
              <a:rPr lang="en-US" sz="800" b="1" spc="100" kern="0" dirty="0">
                <a:solidFill>
                  <a:srgbClr val="15251D"/>
                </a:solidFill>
                <a:latin typeface="Calibri" pitchFamily="34" charset="0"/>
                <a:ea typeface="Calibri" pitchFamily="34" charset="-122"/>
                <a:cs typeface="Calibri" pitchFamily="34" charset="-120"/>
              </a:rPr>
              <a:t>WHAT TO MEASURE</a:t>
            </a:r>
            <a:endParaRPr lang="en-US" sz="800" dirty="0"/>
          </a:p>
        </p:txBody>
      </p:sp>
      <p:sp>
        <p:nvSpPr>
          <p:cNvPr id="24" name="Text 22"/>
          <p:cNvSpPr txBox="1"/>
          <p:nvPr/>
        </p:nvSpPr>
        <p:spPr>
          <a:xfrm>
            <a:off x="6425032" y="5522976"/>
            <a:ext cx="4998568" cy="640080"/>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Units and sales per day, and mix across tiers · basket value of transactions containing a made-to-order item vs control · source of switching · repeat purchase · service and wait time at peak · counter markdown displaced · colleague hours per unit · customer satisfaction</a:t>
            </a:r>
            <a:endParaRPr lang="en-US" sz="950" dirty="0"/>
          </a:p>
        </p:txBody>
      </p:sp>
      <p:sp>
        <p:nvSpPr>
          <p:cNvPr id="25" name="Text 23"/>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Morrisons Corporate (Market Kitchen closure Mar 2025; Pizza Counter Jun 2025); Lumina Intelligence 2026; IGD 2026–31; The Grocer (Greggs, May 2026); Grocery Gazette and Retail Times (Asda hot meal deal, Aug 2026); ACS (NLW, Nov 2025); FMI (Oct 2025)</a:t>
            </a:r>
            <a:endParaRPr lang="en-US" sz="800" dirty="0"/>
          </a:p>
        </p:txBody>
      </p:sp>
      <p:sp>
        <p:nvSpPr>
          <p:cNvPr id="26" name="Text 24"/>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RECOMMENDATION 3</a:t>
            </a:r>
            <a:endParaRPr lang="en-US" sz="1000" dirty="0"/>
          </a:p>
        </p:txBody>
      </p:sp>
      <p:sp>
        <p:nvSpPr>
          <p:cNvPr id="3" name="Text 1"/>
          <p:cNvSpPr txBox="1"/>
          <p:nvPr/>
        </p:nvSpPr>
        <p:spPr>
          <a:xfrm>
            <a:off x="566928" y="640080"/>
            <a:ext cx="996055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Automate reductions and move counter tasks onto phones. A markdown round costs sales, not just hours</a:t>
            </a:r>
            <a:endParaRPr lang="en-US" sz="2100" dirty="0"/>
          </a:p>
        </p:txBody>
      </p:sp>
      <p:sp>
        <p:nvSpPr>
          <p:cNvPr id="4" name="Shape 2"/>
          <p:cNvSpPr/>
          <p:nvPr/>
        </p:nvSpPr>
        <p:spPr>
          <a:xfrm>
            <a:off x="10838383" y="548640"/>
            <a:ext cx="713232" cy="713232"/>
          </a:xfrm>
          <a:prstGeom prst="ellipse">
            <a:avLst/>
          </a:prstGeom>
          <a:solidFill>
            <a:srgbClr val="1E7A4C"/>
          </a:solidFill>
          <a:ln w="12700">
            <a:solidFill>
              <a:srgbClr val="1E7A4C"/>
            </a:solidFill>
            <a:prstDash val="solid"/>
          </a:ln>
        </p:spPr>
      </p:sp>
      <p:sp>
        <p:nvSpPr>
          <p:cNvPr id="5" name="Text 3"/>
          <p:cNvSpPr txBox="1"/>
          <p:nvPr/>
        </p:nvSpPr>
        <p:spPr>
          <a:xfrm>
            <a:off x="10838383" y="548640"/>
            <a:ext cx="713232" cy="7132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6" name="Shape 4"/>
          <p:cNvSpPr/>
          <p:nvPr/>
        </p:nvSpPr>
        <p:spPr>
          <a:xfrm>
            <a:off x="566928" y="1773936"/>
            <a:ext cx="11057839" cy="786384"/>
          </a:xfrm>
          <a:prstGeom prst="roundRect">
            <a:avLst>
              <a:gd name="adj" fmla="val 6977"/>
            </a:avLst>
          </a:prstGeom>
          <a:solidFill>
            <a:srgbClr val="E5EFE9"/>
          </a:solidFill>
          <a:ln w="9525">
            <a:solidFill>
              <a:srgbClr val="E5EFE9"/>
            </a:solidFill>
            <a:prstDash val="solid"/>
          </a:ln>
        </p:spPr>
      </p:sp>
      <p:sp>
        <p:nvSpPr>
          <p:cNvPr id="7" name="Shape 5"/>
          <p:cNvSpPr/>
          <p:nvPr/>
        </p:nvSpPr>
        <p:spPr>
          <a:xfrm>
            <a:off x="786384" y="1901952"/>
            <a:ext cx="1271016" cy="219456"/>
          </a:xfrm>
          <a:prstGeom prst="roundRect">
            <a:avLst>
              <a:gd name="adj" fmla="val 50000"/>
            </a:avLst>
          </a:prstGeom>
          <a:solidFill>
            <a:srgbClr val="E5EFE9"/>
          </a:solidFill>
          <a:ln w="12700">
            <a:solidFill>
              <a:srgbClr val="E5EFE9"/>
            </a:solidFill>
            <a:prstDash val="solid"/>
          </a:ln>
        </p:spPr>
      </p:sp>
      <p:sp>
        <p:nvSpPr>
          <p:cNvPr id="8" name="Text 6"/>
          <p:cNvSpPr txBox="1"/>
          <p:nvPr/>
        </p:nvSpPr>
        <p:spPr>
          <a:xfrm>
            <a:off x="786384" y="1901952"/>
            <a:ext cx="1271016" cy="219456"/>
          </a:xfrm>
          <a:prstGeom prst="rect">
            <a:avLst/>
          </a:prstGeom>
          <a:noFill/>
          <a:ln/>
        </p:spPr>
        <p:txBody>
          <a:bodyPr wrap="square" lIns="0" tIns="0" rIns="0" bIns="0" rtlCol="0" anchor="ctr"/>
          <a:lstStyle/>
          <a:p>
            <a:pPr algn="ctr" indent="0" marL="0">
              <a:buNone/>
            </a:pPr>
            <a:r>
              <a:rPr lang="en-US" sz="750" b="1" spc="80" kern="0" dirty="0">
                <a:solidFill>
                  <a:srgbClr val="1E7A4C"/>
                </a:solidFill>
                <a:latin typeface="Calibri" pitchFamily="34" charset="0"/>
                <a:ea typeface="Calibri" pitchFamily="34" charset="-122"/>
                <a:cs typeface="Calibri" pitchFamily="34" charset="-120"/>
              </a:rPr>
              <a:t>RECOMMENDATION</a:t>
            </a:r>
            <a:endParaRPr lang="en-US" sz="750" dirty="0"/>
          </a:p>
        </p:txBody>
      </p:sp>
      <p:sp>
        <p:nvSpPr>
          <p:cNvPr id="9" name="Text 7"/>
          <p:cNvSpPr txBox="1"/>
          <p:nvPr/>
        </p:nvSpPr>
        <p:spPr>
          <a:xfrm>
            <a:off x="2395728" y="1901952"/>
            <a:ext cx="8954719" cy="566928"/>
          </a:xfrm>
          <a:prstGeom prst="rect">
            <a:avLst/>
          </a:prstGeom>
          <a:noFill/>
          <a:ln/>
        </p:spPr>
        <p:txBody>
          <a:bodyPr wrap="square" lIns="0" tIns="0" rIns="0" bIns="0" rtlCol="0" anchor="t"/>
          <a:lstStyle/>
          <a:p>
            <a:pPr indent="0" marL="0">
              <a:lnSpc>
                <a:spcPts val="1450"/>
              </a:lnSpc>
              <a:buNone/>
            </a:pPr>
            <a:r>
              <a:rPr lang="en-US" sz="1100" dirty="0">
                <a:solidFill>
                  <a:srgbClr val="15251D"/>
                </a:solidFill>
                <a:latin typeface="Calibri" pitchFamily="34" charset="0"/>
                <a:ea typeface="Calibri" pitchFamily="34" charset="-122"/>
                <a:cs typeface="Calibri" pitchFamily="34" charset="-120"/>
              </a:rPr>
              <a:t>Two linked moves. Adopt markdown optimisation on the supermarket estate, so reductions are proposed by system and confirmed by the colleague rather than done by hand under time pressure. Then extend the phone-based execution model Morrisons already runs across ~500 stores to cover counter production, stock logging and markdown, so the handheld fleet shrinks instead of growing.</a:t>
            </a:r>
            <a:endParaRPr lang="en-US" sz="1100" dirty="0"/>
          </a:p>
        </p:txBody>
      </p:sp>
      <p:sp>
        <p:nvSpPr>
          <p:cNvPr id="10" name="Shape 8"/>
          <p:cNvSpPr/>
          <p:nvPr/>
        </p:nvSpPr>
        <p:spPr>
          <a:xfrm>
            <a:off x="566928" y="2724912"/>
            <a:ext cx="3515258" cy="2157984"/>
          </a:xfrm>
          <a:prstGeom prst="roundRect">
            <a:avLst>
              <a:gd name="adj" fmla="val 2542"/>
            </a:avLst>
          </a:prstGeom>
          <a:solidFill>
            <a:srgbClr val="FFFFFF"/>
          </a:solidFill>
          <a:ln w="9525">
            <a:solidFill>
              <a:srgbClr val="D9DFDB"/>
            </a:solidFill>
            <a:prstDash val="solid"/>
          </a:ln>
        </p:spPr>
      </p:sp>
      <p:sp>
        <p:nvSpPr>
          <p:cNvPr id="11" name="Text 9"/>
          <p:cNvSpPr txBox="1"/>
          <p:nvPr/>
        </p:nvSpPr>
        <p:spPr>
          <a:xfrm>
            <a:off x="768096"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WHY IT HOLDS</a:t>
            </a:r>
            <a:endParaRPr lang="en-US" sz="850" dirty="0"/>
          </a:p>
        </p:txBody>
      </p:sp>
      <p:sp>
        <p:nvSpPr>
          <p:cNvPr id="12" name="Text 10"/>
          <p:cNvSpPr txBox="1"/>
          <p:nvPr/>
        </p:nvSpPr>
        <p:spPr>
          <a:xfrm>
            <a:off x="804672"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A markdown round pulls a colleague off the counter for hours. Production stops, the sale goes, and the cost lands on the sales line</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Morrisons has approved markdown technology for its franchise convenience estate but nothing equivalent runs on the supermarkets</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M&amp;S has run markdown optimisation with the same class of vendor since 2021 and renewed it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Morrisons already runs store execution on colleague personal devices, at scale, with voluntary opt-in</a:t>
            </a:r>
            <a:endParaRPr lang="en-US" sz="900" dirty="0"/>
          </a:p>
        </p:txBody>
      </p:sp>
      <p:sp>
        <p:nvSpPr>
          <p:cNvPr id="13" name="Shape 11"/>
          <p:cNvSpPr/>
          <p:nvPr/>
        </p:nvSpPr>
        <p:spPr>
          <a:xfrm>
            <a:off x="4338218" y="2724912"/>
            <a:ext cx="3515258" cy="2157984"/>
          </a:xfrm>
          <a:prstGeom prst="roundRect">
            <a:avLst>
              <a:gd name="adj" fmla="val 2542"/>
            </a:avLst>
          </a:prstGeom>
          <a:solidFill>
            <a:srgbClr val="FFFFFF"/>
          </a:solidFill>
          <a:ln w="9525">
            <a:solidFill>
              <a:srgbClr val="D9DFDB"/>
            </a:solidFill>
            <a:prstDash val="solid"/>
          </a:ln>
        </p:spPr>
      </p:sp>
      <p:sp>
        <p:nvSpPr>
          <p:cNvPr id="14" name="Text 12"/>
          <p:cNvSpPr txBox="1"/>
          <p:nvPr/>
        </p:nvSpPr>
        <p:spPr>
          <a:xfrm>
            <a:off x="4539386"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5251D"/>
                </a:solidFill>
                <a:latin typeface="Calibri" pitchFamily="34" charset="0"/>
                <a:ea typeface="Calibri" pitchFamily="34" charset="-122"/>
                <a:cs typeface="Calibri" pitchFamily="34" charset="-120"/>
              </a:rPr>
              <a:t>WHAT CHANGES OPERATIONALLY</a:t>
            </a:r>
            <a:endParaRPr lang="en-US" sz="850" dirty="0"/>
          </a:p>
        </p:txBody>
      </p:sp>
      <p:sp>
        <p:nvSpPr>
          <p:cNvPr id="15" name="Text 13"/>
          <p:cNvSpPr txBox="1"/>
          <p:nvPr/>
        </p:nvSpPr>
        <p:spPr>
          <a:xfrm>
            <a:off x="4575962"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Reductions proposed by system on shelf life and residual demand; colleague confirms</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Markdown timing and depth become consistent between stores and shifts</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Counter production, stock logging and markdown routed to whoever owns them, with alerts configured in the existing platform rather than a new tool</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The handheld fleet shrinks as phone coverage widens, so fewer devices to buy, break and share</a:t>
            </a:r>
            <a:endParaRPr lang="en-US" sz="900" dirty="0"/>
          </a:p>
        </p:txBody>
      </p:sp>
      <p:sp>
        <p:nvSpPr>
          <p:cNvPr id="16" name="Shape 14"/>
          <p:cNvSpPr/>
          <p:nvPr/>
        </p:nvSpPr>
        <p:spPr>
          <a:xfrm>
            <a:off x="8109509" y="2724912"/>
            <a:ext cx="3515258" cy="2157984"/>
          </a:xfrm>
          <a:prstGeom prst="roundRect">
            <a:avLst>
              <a:gd name="adj" fmla="val 2542"/>
            </a:avLst>
          </a:prstGeom>
          <a:solidFill>
            <a:srgbClr val="FFFFFF"/>
          </a:solidFill>
          <a:ln w="9525">
            <a:solidFill>
              <a:srgbClr val="D9DFDB"/>
            </a:solidFill>
            <a:prstDash val="solid"/>
          </a:ln>
        </p:spPr>
      </p:sp>
      <p:sp>
        <p:nvSpPr>
          <p:cNvPr id="17" name="Text 15"/>
          <p:cNvSpPr txBox="1"/>
          <p:nvPr/>
        </p:nvSpPr>
        <p:spPr>
          <a:xfrm>
            <a:off x="8310677"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96382C"/>
                </a:solidFill>
                <a:latin typeface="Calibri" pitchFamily="34" charset="0"/>
                <a:ea typeface="Calibri" pitchFamily="34" charset="-122"/>
                <a:cs typeface="Calibri" pitchFamily="34" charset="-120"/>
              </a:rPr>
              <a:t>WHAT COULD GO WRONG</a:t>
            </a:r>
            <a:endParaRPr lang="en-US" sz="850" dirty="0"/>
          </a:p>
        </p:txBody>
      </p:sp>
      <p:sp>
        <p:nvSpPr>
          <p:cNvPr id="18" name="Text 16"/>
          <p:cNvSpPr txBox="1"/>
          <p:nvPr/>
        </p:nvSpPr>
        <p:spPr>
          <a:xfrm>
            <a:off x="8347253"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Moving pricing decisions into a system is a controls and governance change, not just a new tool</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Nobody can be made to use their own phone, so some shared devices always remain. The fleet shrinks, it does not go</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Statutory food-safety records must stay auditable in the system of record; alerting must not route them into email or chat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Whether counter tasks are already in scope of the existing rollout is not public</a:t>
            </a:r>
            <a:endParaRPr lang="en-US" sz="900" dirty="0"/>
          </a:p>
        </p:txBody>
      </p:sp>
      <p:sp>
        <p:nvSpPr>
          <p:cNvPr id="19" name="Shape 17"/>
          <p:cNvSpPr/>
          <p:nvPr/>
        </p:nvSpPr>
        <p:spPr>
          <a:xfrm>
            <a:off x="566928" y="5175504"/>
            <a:ext cx="5400904" cy="1060704"/>
          </a:xfrm>
          <a:prstGeom prst="roundRect">
            <a:avLst>
              <a:gd name="adj" fmla="val 5172"/>
            </a:avLst>
          </a:prstGeom>
          <a:solidFill>
            <a:srgbClr val="F4F6F4"/>
          </a:solidFill>
          <a:ln w="9525">
            <a:solidFill>
              <a:srgbClr val="F4F6F4"/>
            </a:solidFill>
            <a:prstDash val="solid"/>
          </a:ln>
        </p:spPr>
      </p:sp>
      <p:sp>
        <p:nvSpPr>
          <p:cNvPr id="20" name="Text 18"/>
          <p:cNvSpPr txBox="1"/>
          <p:nvPr/>
        </p:nvSpPr>
        <p:spPr>
          <a:xfrm>
            <a:off x="768096" y="5303520"/>
            <a:ext cx="4998568" cy="201168"/>
          </a:xfrm>
          <a:prstGeom prst="rect">
            <a:avLst/>
          </a:prstGeom>
          <a:noFill/>
          <a:ln/>
        </p:spPr>
        <p:txBody>
          <a:bodyPr wrap="square" lIns="0" tIns="0" rIns="0" bIns="0" rtlCol="0" anchor="t"/>
          <a:lstStyle/>
          <a:p>
            <a:pPr indent="0" marL="0">
              <a:lnSpc>
                <a:spcPts val="1500"/>
              </a:lnSpc>
              <a:buNone/>
            </a:pPr>
            <a:r>
              <a:rPr lang="en-US" sz="800" b="1" spc="100" kern="0" dirty="0">
                <a:solidFill>
                  <a:srgbClr val="15251D"/>
                </a:solidFill>
                <a:latin typeface="Calibri" pitchFamily="34" charset="0"/>
                <a:ea typeface="Calibri" pitchFamily="34" charset="-122"/>
                <a:cs typeface="Calibri" pitchFamily="34" charset="-120"/>
              </a:rPr>
              <a:t>HOW MORRISONS WOULD TEST IT</a:t>
            </a:r>
            <a:endParaRPr lang="en-US" sz="800" dirty="0"/>
          </a:p>
        </p:txBody>
      </p:sp>
      <p:sp>
        <p:nvSpPr>
          <p:cNvPr id="21" name="Text 19"/>
          <p:cNvSpPr txBox="1"/>
          <p:nvPr/>
        </p:nvSpPr>
        <p:spPr>
          <a:xfrm>
            <a:off x="768096" y="5522976"/>
            <a:ext cx="4998568" cy="640080"/>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Run in the same three stores as Recommendation 1 so the production, stock and markdown effects can be read together rather than confounded. Baseline colleague hours and counter cover by time-and-motion before switching anything on.</a:t>
            </a:r>
            <a:endParaRPr lang="en-US" sz="950" dirty="0"/>
          </a:p>
        </p:txBody>
      </p:sp>
      <p:sp>
        <p:nvSpPr>
          <p:cNvPr id="22" name="Shape 20"/>
          <p:cNvSpPr/>
          <p:nvPr/>
        </p:nvSpPr>
        <p:spPr>
          <a:xfrm>
            <a:off x="6223864" y="5175504"/>
            <a:ext cx="5400904" cy="1060704"/>
          </a:xfrm>
          <a:prstGeom prst="roundRect">
            <a:avLst>
              <a:gd name="adj" fmla="val 5172"/>
            </a:avLst>
          </a:prstGeom>
          <a:solidFill>
            <a:srgbClr val="F4F6F4"/>
          </a:solidFill>
          <a:ln w="9525">
            <a:solidFill>
              <a:srgbClr val="F4F6F4"/>
            </a:solidFill>
            <a:prstDash val="solid"/>
          </a:ln>
        </p:spPr>
      </p:sp>
      <p:sp>
        <p:nvSpPr>
          <p:cNvPr id="23" name="Text 21"/>
          <p:cNvSpPr txBox="1"/>
          <p:nvPr/>
        </p:nvSpPr>
        <p:spPr>
          <a:xfrm>
            <a:off x="6425032" y="5303520"/>
            <a:ext cx="4998568" cy="201168"/>
          </a:xfrm>
          <a:prstGeom prst="rect">
            <a:avLst/>
          </a:prstGeom>
          <a:noFill/>
          <a:ln/>
        </p:spPr>
        <p:txBody>
          <a:bodyPr wrap="square" lIns="0" tIns="0" rIns="0" bIns="0" rtlCol="0" anchor="t"/>
          <a:lstStyle/>
          <a:p>
            <a:pPr indent="0" marL="0">
              <a:lnSpc>
                <a:spcPts val="1500"/>
              </a:lnSpc>
              <a:buNone/>
            </a:pPr>
            <a:r>
              <a:rPr lang="en-US" sz="800" b="1" spc="100" kern="0" dirty="0">
                <a:solidFill>
                  <a:srgbClr val="15251D"/>
                </a:solidFill>
                <a:latin typeface="Calibri" pitchFamily="34" charset="0"/>
                <a:ea typeface="Calibri" pitchFamily="34" charset="-122"/>
                <a:cs typeface="Calibri" pitchFamily="34" charset="-120"/>
              </a:rPr>
              <a:t>WHAT TO MEASURE</a:t>
            </a:r>
            <a:endParaRPr lang="en-US" sz="800" dirty="0"/>
          </a:p>
        </p:txBody>
      </p:sp>
      <p:sp>
        <p:nvSpPr>
          <p:cNvPr id="24" name="Text 22"/>
          <p:cNvSpPr txBox="1"/>
          <p:nvPr/>
        </p:nvSpPr>
        <p:spPr>
          <a:xfrm>
            <a:off x="6425032" y="5522976"/>
            <a:ext cx="4998568" cy="640080"/>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Counter hours lost to markdown rounds · production volume and sales during markdown windows · markdown recovery rate and sell-through · consistency of markdown timing between stores · handheld devices required per store · BYOD opt-in rate · task completion and on-time rate</a:t>
            </a:r>
            <a:endParaRPr lang="en-US" sz="950" dirty="0"/>
          </a:p>
        </p:txBody>
      </p:sp>
      <p:sp>
        <p:nvSpPr>
          <p:cNvPr id="25" name="Text 23"/>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The Grocer and Talking Retail (Gander, Feb 2026); Retail Tech Innovation Hub (M&amp;S / Retail Insight, Nov 2024); YOOBIC (Apr 2026); Food Standards Agency (record-keeping); ECR Retail Loss</a:t>
            </a:r>
            <a:endParaRPr lang="en-US" sz="800" dirty="0"/>
          </a:p>
        </p:txBody>
      </p:sp>
      <p:sp>
        <p:nvSpPr>
          <p:cNvPr id="26" name="Text 24"/>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RECOMMENDATION 4</a:t>
            </a:r>
            <a:endParaRPr lang="en-US" sz="1000" dirty="0"/>
          </a:p>
        </p:txBody>
      </p:sp>
      <p:sp>
        <p:nvSpPr>
          <p:cNvPr id="3" name="Text 1"/>
          <p:cNvSpPr txBox="1"/>
          <p:nvPr/>
        </p:nvSpPr>
        <p:spPr>
          <a:xfrm>
            <a:off x="566928" y="640080"/>
            <a:ext cx="996055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Decide counter format store by store, on criteria Morrisons publishes and reviews</a:t>
            </a:r>
            <a:endParaRPr lang="en-US" sz="2100" dirty="0"/>
          </a:p>
        </p:txBody>
      </p:sp>
      <p:sp>
        <p:nvSpPr>
          <p:cNvPr id="4" name="Shape 2"/>
          <p:cNvSpPr/>
          <p:nvPr/>
        </p:nvSpPr>
        <p:spPr>
          <a:xfrm>
            <a:off x="10838383" y="548640"/>
            <a:ext cx="713232" cy="713232"/>
          </a:xfrm>
          <a:prstGeom prst="ellipse">
            <a:avLst/>
          </a:prstGeom>
          <a:solidFill>
            <a:srgbClr val="1E7A4C"/>
          </a:solidFill>
          <a:ln w="12700">
            <a:solidFill>
              <a:srgbClr val="1E7A4C"/>
            </a:solidFill>
            <a:prstDash val="solid"/>
          </a:ln>
        </p:spPr>
      </p:sp>
      <p:sp>
        <p:nvSpPr>
          <p:cNvPr id="5" name="Text 3"/>
          <p:cNvSpPr txBox="1"/>
          <p:nvPr/>
        </p:nvSpPr>
        <p:spPr>
          <a:xfrm>
            <a:off x="10838383" y="548640"/>
            <a:ext cx="713232" cy="7132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6" name="Shape 4"/>
          <p:cNvSpPr/>
          <p:nvPr/>
        </p:nvSpPr>
        <p:spPr>
          <a:xfrm>
            <a:off x="566928" y="1773936"/>
            <a:ext cx="11057839" cy="786384"/>
          </a:xfrm>
          <a:prstGeom prst="roundRect">
            <a:avLst>
              <a:gd name="adj" fmla="val 6977"/>
            </a:avLst>
          </a:prstGeom>
          <a:solidFill>
            <a:srgbClr val="E5EFE9"/>
          </a:solidFill>
          <a:ln w="9525">
            <a:solidFill>
              <a:srgbClr val="E5EFE9"/>
            </a:solidFill>
            <a:prstDash val="solid"/>
          </a:ln>
        </p:spPr>
      </p:sp>
      <p:sp>
        <p:nvSpPr>
          <p:cNvPr id="7" name="Shape 5"/>
          <p:cNvSpPr/>
          <p:nvPr/>
        </p:nvSpPr>
        <p:spPr>
          <a:xfrm>
            <a:off x="786384" y="1901952"/>
            <a:ext cx="1271016" cy="219456"/>
          </a:xfrm>
          <a:prstGeom prst="roundRect">
            <a:avLst>
              <a:gd name="adj" fmla="val 50000"/>
            </a:avLst>
          </a:prstGeom>
          <a:solidFill>
            <a:srgbClr val="E5EFE9"/>
          </a:solidFill>
          <a:ln w="12700">
            <a:solidFill>
              <a:srgbClr val="E5EFE9"/>
            </a:solidFill>
            <a:prstDash val="solid"/>
          </a:ln>
        </p:spPr>
      </p:sp>
      <p:sp>
        <p:nvSpPr>
          <p:cNvPr id="8" name="Text 6"/>
          <p:cNvSpPr txBox="1"/>
          <p:nvPr/>
        </p:nvSpPr>
        <p:spPr>
          <a:xfrm>
            <a:off x="786384" y="1901952"/>
            <a:ext cx="1271016" cy="219456"/>
          </a:xfrm>
          <a:prstGeom prst="rect">
            <a:avLst/>
          </a:prstGeom>
          <a:noFill/>
          <a:ln/>
        </p:spPr>
        <p:txBody>
          <a:bodyPr wrap="square" lIns="0" tIns="0" rIns="0" bIns="0" rtlCol="0" anchor="ctr"/>
          <a:lstStyle/>
          <a:p>
            <a:pPr algn="ctr" indent="0" marL="0">
              <a:buNone/>
            </a:pPr>
            <a:r>
              <a:rPr lang="en-US" sz="750" b="1" spc="80" kern="0" dirty="0">
                <a:solidFill>
                  <a:srgbClr val="1E7A4C"/>
                </a:solidFill>
                <a:latin typeface="Calibri" pitchFamily="34" charset="0"/>
                <a:ea typeface="Calibri" pitchFamily="34" charset="-122"/>
                <a:cs typeface="Calibri" pitchFamily="34" charset="-120"/>
              </a:rPr>
              <a:t>RECOMMENDATION</a:t>
            </a:r>
            <a:endParaRPr lang="en-US" sz="750" dirty="0"/>
          </a:p>
        </p:txBody>
      </p:sp>
      <p:sp>
        <p:nvSpPr>
          <p:cNvPr id="9" name="Text 7"/>
          <p:cNvSpPr txBox="1"/>
          <p:nvPr/>
        </p:nvSpPr>
        <p:spPr>
          <a:xfrm>
            <a:off x="2395728" y="1901952"/>
            <a:ext cx="8954719" cy="566928"/>
          </a:xfrm>
          <a:prstGeom prst="rect">
            <a:avLst/>
          </a:prstGeom>
          <a:noFill/>
          <a:ln/>
        </p:spPr>
        <p:txBody>
          <a:bodyPr wrap="square" lIns="0" tIns="0" rIns="0" bIns="0" rtlCol="0" anchor="t"/>
          <a:lstStyle/>
          <a:p>
            <a:pPr indent="0" marL="0">
              <a:lnSpc>
                <a:spcPts val="1450"/>
              </a:lnSpc>
              <a:buNone/>
            </a:pPr>
            <a:r>
              <a:rPr lang="en-US" sz="1100" dirty="0">
                <a:solidFill>
                  <a:srgbClr val="15251D"/>
                </a:solidFill>
                <a:latin typeface="Calibri" pitchFamily="34" charset="0"/>
                <a:ea typeface="Calibri" pitchFamily="34" charset="-122"/>
                <a:cs typeface="Calibri" pitchFamily="34" charset="-120"/>
              </a:rPr>
              <a:t>A counter format framework applied store by store: full service, hybrid service with grab-and-go, or concession. Scored on catchment and demographic, footfall profile, measured counter yield, local competition and whether the craft skill is available. Reviewed every year rather than decided once.</a:t>
            </a:r>
            <a:endParaRPr lang="en-US" sz="1100" dirty="0"/>
          </a:p>
        </p:txBody>
      </p:sp>
      <p:sp>
        <p:nvSpPr>
          <p:cNvPr id="10" name="Shape 8"/>
          <p:cNvSpPr/>
          <p:nvPr/>
        </p:nvSpPr>
        <p:spPr>
          <a:xfrm>
            <a:off x="566928" y="2724912"/>
            <a:ext cx="3515258" cy="2157984"/>
          </a:xfrm>
          <a:prstGeom prst="roundRect">
            <a:avLst>
              <a:gd name="adj" fmla="val 2542"/>
            </a:avLst>
          </a:prstGeom>
          <a:solidFill>
            <a:srgbClr val="FFFFFF"/>
          </a:solidFill>
          <a:ln w="9525">
            <a:solidFill>
              <a:srgbClr val="D9DFDB"/>
            </a:solidFill>
            <a:prstDash val="solid"/>
          </a:ln>
        </p:spPr>
      </p:sp>
      <p:sp>
        <p:nvSpPr>
          <p:cNvPr id="11" name="Text 9"/>
          <p:cNvSpPr txBox="1"/>
          <p:nvPr/>
        </p:nvSpPr>
        <p:spPr>
          <a:xfrm>
            <a:off x="768096"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WHY IT HOLDS</a:t>
            </a:r>
            <a:endParaRPr lang="en-US" sz="850" dirty="0"/>
          </a:p>
        </p:txBody>
      </p:sp>
      <p:sp>
        <p:nvSpPr>
          <p:cNvPr id="12" name="Text 10"/>
          <p:cNvSpPr txBox="1"/>
          <p:nvPr/>
        </p:nvSpPr>
        <p:spPr>
          <a:xfrm>
            <a:off x="804672"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Morrisons’ own CEO describes counter performance as varying sharply store by store</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Two estate-wide decisions in sixteen months, in opposite directions, cost money both times</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Fresh performance is driven by store-specific demand-to-batch ratios</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It turns Market Street from a sentiment argument into a productivity one</a:t>
            </a:r>
            <a:endParaRPr lang="en-US" sz="900" dirty="0"/>
          </a:p>
        </p:txBody>
      </p:sp>
      <p:sp>
        <p:nvSpPr>
          <p:cNvPr id="13" name="Shape 11"/>
          <p:cNvSpPr/>
          <p:nvPr/>
        </p:nvSpPr>
        <p:spPr>
          <a:xfrm>
            <a:off x="4338218" y="2724912"/>
            <a:ext cx="3515258" cy="2157984"/>
          </a:xfrm>
          <a:prstGeom prst="roundRect">
            <a:avLst>
              <a:gd name="adj" fmla="val 2542"/>
            </a:avLst>
          </a:prstGeom>
          <a:solidFill>
            <a:srgbClr val="FFFFFF"/>
          </a:solidFill>
          <a:ln w="9525">
            <a:solidFill>
              <a:srgbClr val="D9DFDB"/>
            </a:solidFill>
            <a:prstDash val="solid"/>
          </a:ln>
        </p:spPr>
      </p:sp>
      <p:sp>
        <p:nvSpPr>
          <p:cNvPr id="14" name="Text 12"/>
          <p:cNvSpPr txBox="1"/>
          <p:nvPr/>
        </p:nvSpPr>
        <p:spPr>
          <a:xfrm>
            <a:off x="4539386"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5251D"/>
                </a:solidFill>
                <a:latin typeface="Calibri" pitchFamily="34" charset="0"/>
                <a:ea typeface="Calibri" pitchFamily="34" charset="-122"/>
                <a:cs typeface="Calibri" pitchFamily="34" charset="-120"/>
              </a:rPr>
              <a:t>WHAT CHANGES OPERATIONALLY</a:t>
            </a:r>
            <a:endParaRPr lang="en-US" sz="850" dirty="0"/>
          </a:p>
        </p:txBody>
      </p:sp>
      <p:sp>
        <p:nvSpPr>
          <p:cNvPr id="15" name="Text 13"/>
          <p:cNvSpPr txBox="1"/>
          <p:nvPr/>
        </p:nvSpPr>
        <p:spPr>
          <a:xfrm>
            <a:off x="4575962"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Format becomes a reviewed decision with an owner, not a one-off capital event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Requires the counter yield metric from Recommendation 1 to exist first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Concession decisions get a rule. Never concede fresh craft. Concede where a partner’s brand beats ours</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Craft skill supply becomes a planned input, not an afterthought</a:t>
            </a:r>
            <a:endParaRPr lang="en-US" sz="900" dirty="0"/>
          </a:p>
        </p:txBody>
      </p:sp>
      <p:sp>
        <p:nvSpPr>
          <p:cNvPr id="16" name="Shape 14"/>
          <p:cNvSpPr/>
          <p:nvPr/>
        </p:nvSpPr>
        <p:spPr>
          <a:xfrm>
            <a:off x="8109509" y="2724912"/>
            <a:ext cx="3515258" cy="2157984"/>
          </a:xfrm>
          <a:prstGeom prst="roundRect">
            <a:avLst>
              <a:gd name="adj" fmla="val 2542"/>
            </a:avLst>
          </a:prstGeom>
          <a:solidFill>
            <a:srgbClr val="FFFFFF"/>
          </a:solidFill>
          <a:ln w="9525">
            <a:solidFill>
              <a:srgbClr val="D9DFDB"/>
            </a:solidFill>
            <a:prstDash val="solid"/>
          </a:ln>
        </p:spPr>
      </p:sp>
      <p:sp>
        <p:nvSpPr>
          <p:cNvPr id="17" name="Text 15"/>
          <p:cNvSpPr txBox="1"/>
          <p:nvPr/>
        </p:nvSpPr>
        <p:spPr>
          <a:xfrm>
            <a:off x="8310677" y="2871216"/>
            <a:ext cx="3112922"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96382C"/>
                </a:solidFill>
                <a:latin typeface="Calibri" pitchFamily="34" charset="0"/>
                <a:ea typeface="Calibri" pitchFamily="34" charset="-122"/>
                <a:cs typeface="Calibri" pitchFamily="34" charset="-120"/>
              </a:rPr>
              <a:t>WHAT COULD GO WRONG</a:t>
            </a:r>
            <a:endParaRPr lang="en-US" sz="850" dirty="0"/>
          </a:p>
        </p:txBody>
      </p:sp>
      <p:sp>
        <p:nvSpPr>
          <p:cNvPr id="18" name="Text 16"/>
          <p:cNvSpPr txBox="1"/>
          <p:nvPr/>
        </p:nvSpPr>
        <p:spPr>
          <a:xfrm>
            <a:off x="8347253" y="3108960"/>
            <a:ext cx="3058058" cy="1700784"/>
          </a:xfrm>
          <a:prstGeom prst="rect">
            <a:avLst/>
          </a:prstGeom>
          <a:noFill/>
          <a:ln/>
        </p:spPr>
        <p:txBody>
          <a:bodyPr wrap="square" lIns="0" tIns="0" rIns="0" bIns="0" rtlCol="0" anchor="t"/>
          <a:lstStyle/>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A framework is only as good as the yield data behind it, and that does not exist yet</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Store-level differentiation adds operational complexity and range fragmentation</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Risks reading as a justification for further closures if published badly</a:t>
            </a:r>
            <a:endParaRPr lang="en-US" sz="900" dirty="0"/>
          </a:p>
          <a:p>
            <a:pPr marL="139700" indent="-139700">
              <a:lnSpc>
                <a:spcPts val="1150"/>
              </a:lnSpc>
              <a:spcAft>
                <a:spcPts val="300"/>
              </a:spcAft>
              <a:buSzPct val="100000"/>
              <a:buChar char="•"/>
            </a:pPr>
            <a:r>
              <a:rPr lang="en-US" sz="900" dirty="0">
                <a:solidFill>
                  <a:srgbClr val="15251D"/>
                </a:solidFill>
                <a:latin typeface="Calibri" pitchFamily="34" charset="0"/>
                <a:ea typeface="Calibri" pitchFamily="34" charset="-122"/>
                <a:cs typeface="Calibri" pitchFamily="34" charset="-120"/>
              </a:rPr>
              <a:t>Skilled butchers are leaving through attrition faster than they are replaced</a:t>
            </a:r>
            <a:endParaRPr lang="en-US" sz="900" dirty="0"/>
          </a:p>
        </p:txBody>
      </p:sp>
      <p:sp>
        <p:nvSpPr>
          <p:cNvPr id="19" name="Shape 17"/>
          <p:cNvSpPr/>
          <p:nvPr/>
        </p:nvSpPr>
        <p:spPr>
          <a:xfrm>
            <a:off x="566928" y="5175504"/>
            <a:ext cx="5400904" cy="1060704"/>
          </a:xfrm>
          <a:prstGeom prst="roundRect">
            <a:avLst>
              <a:gd name="adj" fmla="val 5172"/>
            </a:avLst>
          </a:prstGeom>
          <a:solidFill>
            <a:srgbClr val="F4F6F4"/>
          </a:solidFill>
          <a:ln w="9525">
            <a:solidFill>
              <a:srgbClr val="F4F6F4"/>
            </a:solidFill>
            <a:prstDash val="solid"/>
          </a:ln>
        </p:spPr>
      </p:sp>
      <p:sp>
        <p:nvSpPr>
          <p:cNvPr id="20" name="Text 18"/>
          <p:cNvSpPr txBox="1"/>
          <p:nvPr/>
        </p:nvSpPr>
        <p:spPr>
          <a:xfrm>
            <a:off x="768096" y="5303520"/>
            <a:ext cx="4998568" cy="201168"/>
          </a:xfrm>
          <a:prstGeom prst="rect">
            <a:avLst/>
          </a:prstGeom>
          <a:noFill/>
          <a:ln/>
        </p:spPr>
        <p:txBody>
          <a:bodyPr wrap="square" lIns="0" tIns="0" rIns="0" bIns="0" rtlCol="0" anchor="t"/>
          <a:lstStyle/>
          <a:p>
            <a:pPr indent="0" marL="0">
              <a:lnSpc>
                <a:spcPts val="1500"/>
              </a:lnSpc>
              <a:buNone/>
            </a:pPr>
            <a:r>
              <a:rPr lang="en-US" sz="800" b="1" spc="100" kern="0" dirty="0">
                <a:solidFill>
                  <a:srgbClr val="15251D"/>
                </a:solidFill>
                <a:latin typeface="Calibri" pitchFamily="34" charset="0"/>
                <a:ea typeface="Calibri" pitchFamily="34" charset="-122"/>
                <a:cs typeface="Calibri" pitchFamily="34" charset="-120"/>
              </a:rPr>
              <a:t>HOW MORRISONS WOULD TEST IT</a:t>
            </a:r>
            <a:endParaRPr lang="en-US" sz="800" dirty="0"/>
          </a:p>
        </p:txBody>
      </p:sp>
      <p:sp>
        <p:nvSpPr>
          <p:cNvPr id="21" name="Text 19"/>
          <p:cNvSpPr txBox="1"/>
          <p:nvPr/>
        </p:nvSpPr>
        <p:spPr>
          <a:xfrm>
            <a:off x="768096" y="5522976"/>
            <a:ext cx="4998568" cy="640080"/>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Retrospective first: score the 70 stores that lost counters and the stores that kept them against the framework, and test whether it would have predicted which closures were later reversed. That is a validation Morrisons can run on data it already holds.</a:t>
            </a:r>
            <a:endParaRPr lang="en-US" sz="950" dirty="0"/>
          </a:p>
        </p:txBody>
      </p:sp>
      <p:sp>
        <p:nvSpPr>
          <p:cNvPr id="22" name="Shape 20"/>
          <p:cNvSpPr/>
          <p:nvPr/>
        </p:nvSpPr>
        <p:spPr>
          <a:xfrm>
            <a:off x="6223864" y="5175504"/>
            <a:ext cx="5400904" cy="1060704"/>
          </a:xfrm>
          <a:prstGeom prst="roundRect">
            <a:avLst>
              <a:gd name="adj" fmla="val 5172"/>
            </a:avLst>
          </a:prstGeom>
          <a:solidFill>
            <a:srgbClr val="F4F6F4"/>
          </a:solidFill>
          <a:ln w="9525">
            <a:solidFill>
              <a:srgbClr val="F4F6F4"/>
            </a:solidFill>
            <a:prstDash val="solid"/>
          </a:ln>
        </p:spPr>
      </p:sp>
      <p:sp>
        <p:nvSpPr>
          <p:cNvPr id="23" name="Text 21"/>
          <p:cNvSpPr txBox="1"/>
          <p:nvPr/>
        </p:nvSpPr>
        <p:spPr>
          <a:xfrm>
            <a:off x="6425032" y="5303520"/>
            <a:ext cx="4998568" cy="201168"/>
          </a:xfrm>
          <a:prstGeom prst="rect">
            <a:avLst/>
          </a:prstGeom>
          <a:noFill/>
          <a:ln/>
        </p:spPr>
        <p:txBody>
          <a:bodyPr wrap="square" lIns="0" tIns="0" rIns="0" bIns="0" rtlCol="0" anchor="t"/>
          <a:lstStyle/>
          <a:p>
            <a:pPr indent="0" marL="0">
              <a:lnSpc>
                <a:spcPts val="1500"/>
              </a:lnSpc>
              <a:buNone/>
            </a:pPr>
            <a:r>
              <a:rPr lang="en-US" sz="800" b="1" spc="100" kern="0" dirty="0">
                <a:solidFill>
                  <a:srgbClr val="15251D"/>
                </a:solidFill>
                <a:latin typeface="Calibri" pitchFamily="34" charset="0"/>
                <a:ea typeface="Calibri" pitchFamily="34" charset="-122"/>
                <a:cs typeface="Calibri" pitchFamily="34" charset="-120"/>
              </a:rPr>
              <a:t>WHAT TO MEASURE</a:t>
            </a:r>
            <a:endParaRPr lang="en-US" sz="800" dirty="0"/>
          </a:p>
        </p:txBody>
      </p:sp>
      <p:sp>
        <p:nvSpPr>
          <p:cNvPr id="24" name="Text 22"/>
          <p:cNvSpPr txBox="1"/>
          <p:nvPr/>
        </p:nvSpPr>
        <p:spPr>
          <a:xfrm>
            <a:off x="6425032" y="5522976"/>
            <a:ext cx="4998568" cy="640080"/>
          </a:xfrm>
          <a:prstGeom prst="rect">
            <a:avLst/>
          </a:prstGeom>
          <a:noFill/>
          <a:ln/>
        </p:spPr>
        <p:txBody>
          <a:bodyPr wrap="square" lIns="0" tIns="0" rIns="0" bIns="0" rtlCol="0" anchor="t"/>
          <a:lstStyle/>
          <a:p>
            <a:pPr indent="0" marL="0">
              <a:lnSpc>
                <a:spcPts val="1250"/>
              </a:lnSpc>
              <a:buNone/>
            </a:pPr>
            <a:r>
              <a:rPr lang="en-US" sz="950" dirty="0">
                <a:solidFill>
                  <a:srgbClr val="15251D"/>
                </a:solidFill>
                <a:latin typeface="Calibri" pitchFamily="34" charset="0"/>
                <a:ea typeface="Calibri" pitchFamily="34" charset="-122"/>
                <a:cs typeface="Calibri" pitchFamily="34" charset="-120"/>
              </a:rPr>
              <a:t>Predictive accuracy against the 2025 closure and 2026 reinstatement decisions · counter yield dispersion across the estate · sales and footfall change by format · customer satisfaction by format · craft skill availability by region</a:t>
            </a:r>
            <a:endParaRPr lang="en-US" sz="950" dirty="0"/>
          </a:p>
        </p:txBody>
      </p:sp>
      <p:sp>
        <p:nvSpPr>
          <p:cNvPr id="25" name="Text 23"/>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The Grocer (Baitiéh, Mar 2025); Morrisons Corporate; Retail Gazette (Jul 2026; headcount, Aug 2026); ECR Retail Loss / Eindhoven; Retail Economics &amp; DHL (2026)</a:t>
            </a:r>
            <a:endParaRPr lang="en-US" sz="800" dirty="0"/>
          </a:p>
        </p:txBody>
      </p:sp>
      <p:sp>
        <p:nvSpPr>
          <p:cNvPr id="26" name="Text 24"/>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PILOT DESIGN</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Every recommendation is testable in three stores within one trading quarter, on data Morrisons holds</a:t>
            </a:r>
            <a:endParaRPr lang="en-US" sz="2100" dirty="0"/>
          </a:p>
        </p:txBody>
      </p:sp>
      <p:sp>
        <p:nvSpPr>
          <p:cNvPr id="4" name="Shape 2"/>
          <p:cNvSpPr/>
          <p:nvPr/>
        </p:nvSpPr>
        <p:spPr>
          <a:xfrm>
            <a:off x="566928" y="1810512"/>
            <a:ext cx="2586152" cy="1993392"/>
          </a:xfrm>
          <a:prstGeom prst="roundRect">
            <a:avLst>
              <a:gd name="adj" fmla="val 2752"/>
            </a:avLst>
          </a:prstGeom>
          <a:solidFill>
            <a:srgbClr val="FFFFFF"/>
          </a:solidFill>
          <a:ln w="9525">
            <a:solidFill>
              <a:srgbClr val="D9DFDB"/>
            </a:solidFill>
            <a:prstDash val="solid"/>
          </a:ln>
        </p:spPr>
      </p:sp>
      <p:sp>
        <p:nvSpPr>
          <p:cNvPr id="5" name="Text 3"/>
          <p:cNvSpPr txBox="1"/>
          <p:nvPr/>
        </p:nvSpPr>
        <p:spPr>
          <a:xfrm>
            <a:off x="768096" y="1975104"/>
            <a:ext cx="2183816"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WEEKS 0–4</a:t>
            </a:r>
            <a:endParaRPr lang="en-US" sz="850" dirty="0"/>
          </a:p>
        </p:txBody>
      </p:sp>
      <p:sp>
        <p:nvSpPr>
          <p:cNvPr id="6" name="Text 4"/>
          <p:cNvSpPr txBox="1"/>
          <p:nvPr/>
        </p:nvSpPr>
        <p:spPr>
          <a:xfrm>
            <a:off x="768096" y="2249424"/>
            <a:ext cx="2183816" cy="310896"/>
          </a:xfrm>
          <a:prstGeom prst="rect">
            <a:avLst/>
          </a:prstGeom>
          <a:noFill/>
          <a:ln/>
        </p:spPr>
        <p:txBody>
          <a:bodyPr wrap="square" lIns="0" tIns="0" rIns="0" bIns="0" rtlCol="0" anchor="t"/>
          <a:lstStyle/>
          <a:p>
            <a:pPr indent="0" marL="0">
              <a:lnSpc>
                <a:spcPts val="1500"/>
              </a:lnSpc>
              <a:buNone/>
            </a:pPr>
            <a:r>
              <a:rPr lang="en-US" sz="1600" b="1" dirty="0">
                <a:solidFill>
                  <a:srgbClr val="15251D"/>
                </a:solidFill>
                <a:latin typeface="Cambria" pitchFamily="34" charset="0"/>
                <a:ea typeface="Cambria" pitchFamily="34" charset="-122"/>
                <a:cs typeface="Cambria" pitchFamily="34" charset="-120"/>
              </a:rPr>
              <a:t>Baseline</a:t>
            </a:r>
            <a:endParaRPr lang="en-US" sz="1600" dirty="0"/>
          </a:p>
        </p:txBody>
      </p:sp>
      <p:sp>
        <p:nvSpPr>
          <p:cNvPr id="7" name="Text 5"/>
          <p:cNvSpPr txBox="1"/>
          <p:nvPr/>
        </p:nvSpPr>
        <p:spPr>
          <a:xfrm>
            <a:off x="768096" y="2633472"/>
            <a:ext cx="2183816" cy="1060704"/>
          </a:xfrm>
          <a:prstGeom prst="rect">
            <a:avLst/>
          </a:prstGeom>
          <a:noFill/>
          <a:ln/>
        </p:spPr>
        <p:txBody>
          <a:bodyPr wrap="square" lIns="0" tIns="0" rIns="0" bIns="0" rtlCol="0" anchor="t"/>
          <a:lstStyle/>
          <a:p>
            <a:pPr indent="0" marL="0">
              <a:lnSpc>
                <a:spcPts val="1250"/>
              </a:lnSpc>
              <a:buNone/>
            </a:pPr>
            <a:r>
              <a:rPr lang="en-US" sz="950" dirty="0">
                <a:solidFill>
                  <a:srgbClr val="5E6B64"/>
                </a:solidFill>
                <a:latin typeface="Calibri" pitchFamily="34" charset="0"/>
                <a:ea typeface="Calibri" pitchFamily="34" charset="-122"/>
                <a:cs typeface="Calibri" pitchFamily="34" charset="-120"/>
              </a:rPr>
              <a:t>Physical freezer count, counter yield, markdown volume, colleague hours and end-of-day availability in pilot and control stores. Score the estate on the format framework retrospectively.</a:t>
            </a:r>
            <a:endParaRPr lang="en-US" sz="950" dirty="0"/>
          </a:p>
        </p:txBody>
      </p:sp>
      <p:sp>
        <p:nvSpPr>
          <p:cNvPr id="8" name="Shape 6"/>
          <p:cNvSpPr/>
          <p:nvPr/>
        </p:nvSpPr>
        <p:spPr>
          <a:xfrm>
            <a:off x="3189656" y="2743200"/>
            <a:ext cx="164592" cy="182880"/>
          </a:xfrm>
          <a:prstGeom prst="rightArrow">
            <a:avLst/>
          </a:prstGeom>
          <a:solidFill>
            <a:srgbClr val="C3CCC7"/>
          </a:solidFill>
          <a:ln w="12700">
            <a:solidFill>
              <a:srgbClr val="C3CCC7"/>
            </a:solidFill>
            <a:prstDash val="solid"/>
          </a:ln>
        </p:spPr>
      </p:sp>
      <p:sp>
        <p:nvSpPr>
          <p:cNvPr id="9" name="Shape 7"/>
          <p:cNvSpPr/>
          <p:nvPr/>
        </p:nvSpPr>
        <p:spPr>
          <a:xfrm>
            <a:off x="3390824" y="1810512"/>
            <a:ext cx="2586152" cy="1993392"/>
          </a:xfrm>
          <a:prstGeom prst="roundRect">
            <a:avLst>
              <a:gd name="adj" fmla="val 2752"/>
            </a:avLst>
          </a:prstGeom>
          <a:solidFill>
            <a:srgbClr val="FFFFFF"/>
          </a:solidFill>
          <a:ln w="9525">
            <a:solidFill>
              <a:srgbClr val="D9DFDB"/>
            </a:solidFill>
            <a:prstDash val="solid"/>
          </a:ln>
        </p:spPr>
      </p:sp>
      <p:sp>
        <p:nvSpPr>
          <p:cNvPr id="10" name="Text 8"/>
          <p:cNvSpPr txBox="1"/>
          <p:nvPr/>
        </p:nvSpPr>
        <p:spPr>
          <a:xfrm>
            <a:off x="3591992" y="1975104"/>
            <a:ext cx="2183816"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WEEKS 5–8</a:t>
            </a:r>
            <a:endParaRPr lang="en-US" sz="850" dirty="0"/>
          </a:p>
        </p:txBody>
      </p:sp>
      <p:sp>
        <p:nvSpPr>
          <p:cNvPr id="11" name="Text 9"/>
          <p:cNvSpPr txBox="1"/>
          <p:nvPr/>
        </p:nvSpPr>
        <p:spPr>
          <a:xfrm>
            <a:off x="3591992" y="2249424"/>
            <a:ext cx="2183816" cy="310896"/>
          </a:xfrm>
          <a:prstGeom prst="rect">
            <a:avLst/>
          </a:prstGeom>
          <a:noFill/>
          <a:ln/>
        </p:spPr>
        <p:txBody>
          <a:bodyPr wrap="square" lIns="0" tIns="0" rIns="0" bIns="0" rtlCol="0" anchor="t"/>
          <a:lstStyle/>
          <a:p>
            <a:pPr indent="0" marL="0">
              <a:lnSpc>
                <a:spcPts val="1500"/>
              </a:lnSpc>
              <a:buNone/>
            </a:pPr>
            <a:r>
              <a:rPr lang="en-US" sz="1600" b="1" dirty="0">
                <a:solidFill>
                  <a:srgbClr val="15251D"/>
                </a:solidFill>
                <a:latin typeface="Cambria" pitchFamily="34" charset="0"/>
                <a:ea typeface="Cambria" pitchFamily="34" charset="-122"/>
                <a:cs typeface="Cambria" pitchFamily="34" charset="-120"/>
              </a:rPr>
              <a:t>Switch on</a:t>
            </a:r>
            <a:endParaRPr lang="en-US" sz="1600" dirty="0"/>
          </a:p>
        </p:txBody>
      </p:sp>
      <p:sp>
        <p:nvSpPr>
          <p:cNvPr id="12" name="Text 10"/>
          <p:cNvSpPr txBox="1"/>
          <p:nvPr/>
        </p:nvSpPr>
        <p:spPr>
          <a:xfrm>
            <a:off x="3591992" y="2633472"/>
            <a:ext cx="2183816" cy="1060704"/>
          </a:xfrm>
          <a:prstGeom prst="rect">
            <a:avLst/>
          </a:prstGeom>
          <a:noFill/>
          <a:ln/>
        </p:spPr>
        <p:txBody>
          <a:bodyPr wrap="square" lIns="0" tIns="0" rIns="0" bIns="0" rtlCol="0" anchor="t"/>
          <a:lstStyle/>
          <a:p>
            <a:pPr indent="0" marL="0">
              <a:lnSpc>
                <a:spcPts val="1250"/>
              </a:lnSpc>
              <a:buNone/>
            </a:pPr>
            <a:r>
              <a:rPr lang="en-US" sz="950" dirty="0">
                <a:solidFill>
                  <a:srgbClr val="5E6B64"/>
                </a:solidFill>
                <a:latin typeface="Calibri" pitchFamily="34" charset="0"/>
                <a:ea typeface="Calibri" pitchFamily="34" charset="-122"/>
                <a:cs typeface="Calibri" pitchFamily="34" charset="-120"/>
              </a:rPr>
              <a:t>Stock scanning and digital production logs live in three stores. Markdown optimisation in the same stores. Made-to-order counter built and colleagues trained.</a:t>
            </a:r>
            <a:endParaRPr lang="en-US" sz="950" dirty="0"/>
          </a:p>
        </p:txBody>
      </p:sp>
      <p:sp>
        <p:nvSpPr>
          <p:cNvPr id="13" name="Shape 11"/>
          <p:cNvSpPr/>
          <p:nvPr/>
        </p:nvSpPr>
        <p:spPr>
          <a:xfrm>
            <a:off x="6013552" y="2743200"/>
            <a:ext cx="164592" cy="182880"/>
          </a:xfrm>
          <a:prstGeom prst="rightArrow">
            <a:avLst/>
          </a:prstGeom>
          <a:solidFill>
            <a:srgbClr val="C3CCC7"/>
          </a:solidFill>
          <a:ln w="12700">
            <a:solidFill>
              <a:srgbClr val="C3CCC7"/>
            </a:solidFill>
            <a:prstDash val="solid"/>
          </a:ln>
        </p:spPr>
      </p:sp>
      <p:sp>
        <p:nvSpPr>
          <p:cNvPr id="14" name="Shape 12"/>
          <p:cNvSpPr/>
          <p:nvPr/>
        </p:nvSpPr>
        <p:spPr>
          <a:xfrm>
            <a:off x="6214720" y="1810512"/>
            <a:ext cx="2586152" cy="1993392"/>
          </a:xfrm>
          <a:prstGeom prst="roundRect">
            <a:avLst>
              <a:gd name="adj" fmla="val 2752"/>
            </a:avLst>
          </a:prstGeom>
          <a:solidFill>
            <a:srgbClr val="FFFFFF"/>
          </a:solidFill>
          <a:ln w="9525">
            <a:solidFill>
              <a:srgbClr val="D9DFDB"/>
            </a:solidFill>
            <a:prstDash val="solid"/>
          </a:ln>
        </p:spPr>
      </p:sp>
      <p:sp>
        <p:nvSpPr>
          <p:cNvPr id="15" name="Text 13"/>
          <p:cNvSpPr txBox="1"/>
          <p:nvPr/>
        </p:nvSpPr>
        <p:spPr>
          <a:xfrm>
            <a:off x="6415888" y="1975104"/>
            <a:ext cx="2183816"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WEEKS 9–16</a:t>
            </a:r>
            <a:endParaRPr lang="en-US" sz="850" dirty="0"/>
          </a:p>
        </p:txBody>
      </p:sp>
      <p:sp>
        <p:nvSpPr>
          <p:cNvPr id="16" name="Text 14"/>
          <p:cNvSpPr txBox="1"/>
          <p:nvPr/>
        </p:nvSpPr>
        <p:spPr>
          <a:xfrm>
            <a:off x="6415888" y="2249424"/>
            <a:ext cx="2183816" cy="310896"/>
          </a:xfrm>
          <a:prstGeom prst="rect">
            <a:avLst/>
          </a:prstGeom>
          <a:noFill/>
          <a:ln/>
        </p:spPr>
        <p:txBody>
          <a:bodyPr wrap="square" lIns="0" tIns="0" rIns="0" bIns="0" rtlCol="0" anchor="t"/>
          <a:lstStyle/>
          <a:p>
            <a:pPr indent="0" marL="0">
              <a:lnSpc>
                <a:spcPts val="1500"/>
              </a:lnSpc>
              <a:buNone/>
            </a:pPr>
            <a:r>
              <a:rPr lang="en-US" sz="1600" b="1" dirty="0">
                <a:solidFill>
                  <a:srgbClr val="15251D"/>
                </a:solidFill>
                <a:latin typeface="Cambria" pitchFamily="34" charset="0"/>
                <a:ea typeface="Cambria" pitchFamily="34" charset="-122"/>
                <a:cs typeface="Cambria" pitchFamily="34" charset="-120"/>
              </a:rPr>
              <a:t>Trade</a:t>
            </a:r>
            <a:endParaRPr lang="en-US" sz="1600" dirty="0"/>
          </a:p>
        </p:txBody>
      </p:sp>
      <p:sp>
        <p:nvSpPr>
          <p:cNvPr id="17" name="Text 15"/>
          <p:cNvSpPr txBox="1"/>
          <p:nvPr/>
        </p:nvSpPr>
        <p:spPr>
          <a:xfrm>
            <a:off x="6415888" y="2633472"/>
            <a:ext cx="2183816" cy="1060704"/>
          </a:xfrm>
          <a:prstGeom prst="rect">
            <a:avLst/>
          </a:prstGeom>
          <a:noFill/>
          <a:ln/>
        </p:spPr>
        <p:txBody>
          <a:bodyPr wrap="square" lIns="0" tIns="0" rIns="0" bIns="0" rtlCol="0" anchor="t"/>
          <a:lstStyle/>
          <a:p>
            <a:pPr indent="0" marL="0">
              <a:lnSpc>
                <a:spcPts val="1250"/>
              </a:lnSpc>
              <a:buNone/>
            </a:pPr>
            <a:r>
              <a:rPr lang="en-US" sz="950" dirty="0">
                <a:solidFill>
                  <a:srgbClr val="5E6B64"/>
                </a:solidFill>
                <a:latin typeface="Calibri" pitchFamily="34" charset="0"/>
                <a:ea typeface="Calibri" pitchFamily="34" charset="-122"/>
                <a:cs typeface="Calibri" pitchFamily="34" charset="-120"/>
              </a:rPr>
              <a:t>Food-to-go trades a full quarter including a price test across two tiers. Production and markdown effects read together against matched controls.</a:t>
            </a:r>
            <a:endParaRPr lang="en-US" sz="950" dirty="0"/>
          </a:p>
        </p:txBody>
      </p:sp>
      <p:sp>
        <p:nvSpPr>
          <p:cNvPr id="18" name="Shape 16"/>
          <p:cNvSpPr/>
          <p:nvPr/>
        </p:nvSpPr>
        <p:spPr>
          <a:xfrm>
            <a:off x="8837447" y="2743200"/>
            <a:ext cx="164592" cy="182880"/>
          </a:xfrm>
          <a:prstGeom prst="rightArrow">
            <a:avLst/>
          </a:prstGeom>
          <a:solidFill>
            <a:srgbClr val="C3CCC7"/>
          </a:solidFill>
          <a:ln w="12700">
            <a:solidFill>
              <a:srgbClr val="C3CCC7"/>
            </a:solidFill>
            <a:prstDash val="solid"/>
          </a:ln>
        </p:spPr>
      </p:sp>
      <p:sp>
        <p:nvSpPr>
          <p:cNvPr id="19" name="Shape 17"/>
          <p:cNvSpPr/>
          <p:nvPr/>
        </p:nvSpPr>
        <p:spPr>
          <a:xfrm>
            <a:off x="9038615" y="1810512"/>
            <a:ext cx="2586152" cy="1993392"/>
          </a:xfrm>
          <a:prstGeom prst="roundRect">
            <a:avLst>
              <a:gd name="adj" fmla="val 2752"/>
            </a:avLst>
          </a:prstGeom>
          <a:solidFill>
            <a:srgbClr val="E5EFE9"/>
          </a:solidFill>
          <a:ln w="9525">
            <a:solidFill>
              <a:srgbClr val="1E7A4C"/>
            </a:solidFill>
            <a:prstDash val="solid"/>
          </a:ln>
        </p:spPr>
      </p:sp>
      <p:sp>
        <p:nvSpPr>
          <p:cNvPr id="20" name="Text 18"/>
          <p:cNvSpPr txBox="1"/>
          <p:nvPr/>
        </p:nvSpPr>
        <p:spPr>
          <a:xfrm>
            <a:off x="9239783" y="1975104"/>
            <a:ext cx="2183816"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E7A4C"/>
                </a:solidFill>
                <a:latin typeface="Calibri" pitchFamily="34" charset="0"/>
                <a:ea typeface="Calibri" pitchFamily="34" charset="-122"/>
                <a:cs typeface="Calibri" pitchFamily="34" charset="-120"/>
              </a:rPr>
              <a:t>WEEKS 17–20</a:t>
            </a:r>
            <a:endParaRPr lang="en-US" sz="850" dirty="0"/>
          </a:p>
        </p:txBody>
      </p:sp>
      <p:sp>
        <p:nvSpPr>
          <p:cNvPr id="21" name="Text 19"/>
          <p:cNvSpPr txBox="1"/>
          <p:nvPr/>
        </p:nvSpPr>
        <p:spPr>
          <a:xfrm>
            <a:off x="9239783" y="2249424"/>
            <a:ext cx="2183816" cy="310896"/>
          </a:xfrm>
          <a:prstGeom prst="rect">
            <a:avLst/>
          </a:prstGeom>
          <a:noFill/>
          <a:ln/>
        </p:spPr>
        <p:txBody>
          <a:bodyPr wrap="square" lIns="0" tIns="0" rIns="0" bIns="0" rtlCol="0" anchor="t"/>
          <a:lstStyle/>
          <a:p>
            <a:pPr indent="0" marL="0">
              <a:lnSpc>
                <a:spcPts val="1500"/>
              </a:lnSpc>
              <a:buNone/>
            </a:pPr>
            <a:r>
              <a:rPr lang="en-US" sz="1600" b="1" dirty="0">
                <a:solidFill>
                  <a:srgbClr val="15251D"/>
                </a:solidFill>
                <a:latin typeface="Cambria" pitchFamily="34" charset="0"/>
                <a:ea typeface="Cambria" pitchFamily="34" charset="-122"/>
                <a:cs typeface="Cambria" pitchFamily="34" charset="-120"/>
              </a:rPr>
              <a:t>Decide</a:t>
            </a:r>
            <a:endParaRPr lang="en-US" sz="1600" dirty="0"/>
          </a:p>
        </p:txBody>
      </p:sp>
      <p:sp>
        <p:nvSpPr>
          <p:cNvPr id="22" name="Text 20"/>
          <p:cNvSpPr txBox="1"/>
          <p:nvPr/>
        </p:nvSpPr>
        <p:spPr>
          <a:xfrm>
            <a:off x="9239783" y="2633472"/>
            <a:ext cx="2183816" cy="1060704"/>
          </a:xfrm>
          <a:prstGeom prst="rect">
            <a:avLst/>
          </a:prstGeom>
          <a:noFill/>
          <a:ln/>
        </p:spPr>
        <p:txBody>
          <a:bodyPr wrap="square" lIns="0" tIns="0" rIns="0" bIns="0" rtlCol="0" anchor="t"/>
          <a:lstStyle/>
          <a:p>
            <a:pPr indent="0" marL="0">
              <a:lnSpc>
                <a:spcPts val="1250"/>
              </a:lnSpc>
              <a:buNone/>
            </a:pPr>
            <a:r>
              <a:rPr lang="en-US" sz="950" dirty="0">
                <a:solidFill>
                  <a:srgbClr val="5E6B64"/>
                </a:solidFill>
                <a:latin typeface="Calibri" pitchFamily="34" charset="0"/>
                <a:ea typeface="Calibri" pitchFamily="34" charset="-122"/>
                <a:cs typeface="Calibri" pitchFamily="34" charset="-120"/>
              </a:rPr>
              <a:t>Evaluate against the measures defined before launch. Iterate, stop or extend, one recommendation at a time rather than as a package.</a:t>
            </a:r>
            <a:endParaRPr lang="en-US" sz="950" dirty="0"/>
          </a:p>
        </p:txBody>
      </p:sp>
      <p:sp>
        <p:nvSpPr>
          <p:cNvPr id="23" name="Shape 21"/>
          <p:cNvSpPr/>
          <p:nvPr/>
        </p:nvSpPr>
        <p:spPr>
          <a:xfrm>
            <a:off x="566928" y="4114800"/>
            <a:ext cx="11057839" cy="2121408"/>
          </a:xfrm>
          <a:prstGeom prst="roundRect">
            <a:avLst>
              <a:gd name="adj" fmla="val 2586"/>
            </a:avLst>
          </a:prstGeom>
          <a:solidFill>
            <a:srgbClr val="F4F6F4"/>
          </a:solidFill>
          <a:ln w="9525">
            <a:solidFill>
              <a:srgbClr val="F4F6F4"/>
            </a:solidFill>
            <a:prstDash val="solid"/>
          </a:ln>
        </p:spPr>
      </p:sp>
      <p:sp>
        <p:nvSpPr>
          <p:cNvPr id="24" name="Text 22"/>
          <p:cNvSpPr txBox="1"/>
          <p:nvPr/>
        </p:nvSpPr>
        <p:spPr>
          <a:xfrm>
            <a:off x="786384" y="4315968"/>
            <a:ext cx="10618927"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15251D"/>
                </a:solidFill>
                <a:latin typeface="Calibri" pitchFamily="34" charset="0"/>
                <a:ea typeface="Calibri" pitchFamily="34" charset="-122"/>
                <a:cs typeface="Calibri" pitchFamily="34" charset="-120"/>
              </a:rPr>
              <a:t>DESIGN PRINCIPLES THAT MAKE THE RESULT READABLE</a:t>
            </a:r>
            <a:endParaRPr lang="en-US" sz="850" dirty="0"/>
          </a:p>
        </p:txBody>
      </p:sp>
      <p:sp>
        <p:nvSpPr>
          <p:cNvPr id="25" name="Text 23"/>
          <p:cNvSpPr txBox="1"/>
          <p:nvPr/>
        </p:nvSpPr>
        <p:spPr>
          <a:xfrm>
            <a:off x="786384" y="4645152"/>
            <a:ext cx="2448992" cy="274320"/>
          </a:xfrm>
          <a:prstGeom prst="rect">
            <a:avLst/>
          </a:prstGeom>
          <a:noFill/>
          <a:ln/>
        </p:spPr>
        <p:txBody>
          <a:bodyPr wrap="square" lIns="0" tIns="0" rIns="0" bIns="0" rtlCol="0" anchor="t"/>
          <a:lstStyle/>
          <a:p>
            <a:pPr indent="0" marL="0">
              <a:lnSpc>
                <a:spcPts val="1500"/>
              </a:lnSpc>
              <a:buNone/>
            </a:pPr>
            <a:r>
              <a:rPr lang="en-US" sz="1200" b="1" dirty="0">
                <a:solidFill>
                  <a:srgbClr val="1E7A4C"/>
                </a:solidFill>
                <a:latin typeface="Cambria" pitchFamily="34" charset="0"/>
                <a:ea typeface="Cambria" pitchFamily="34" charset="-122"/>
                <a:cs typeface="Cambria" pitchFamily="34" charset="-120"/>
              </a:rPr>
              <a:t>Matched controls</a:t>
            </a:r>
            <a:endParaRPr lang="en-US" sz="1200" dirty="0"/>
          </a:p>
        </p:txBody>
      </p:sp>
      <p:sp>
        <p:nvSpPr>
          <p:cNvPr id="26" name="Text 24"/>
          <p:cNvSpPr txBox="1"/>
          <p:nvPr/>
        </p:nvSpPr>
        <p:spPr>
          <a:xfrm>
            <a:off x="786384" y="4974336"/>
            <a:ext cx="2448992" cy="1152144"/>
          </a:xfrm>
          <a:prstGeom prst="rect">
            <a:avLst/>
          </a:prstGeom>
          <a:noFill/>
          <a:ln/>
        </p:spPr>
        <p:txBody>
          <a:bodyPr wrap="square" lIns="0" tIns="0" rIns="0" bIns="0" rtlCol="0" anchor="t"/>
          <a:lstStyle/>
          <a:p>
            <a:pPr indent="0" marL="0">
              <a:lnSpc>
                <a:spcPts val="1350"/>
              </a:lnSpc>
              <a:buNone/>
            </a:pPr>
            <a:r>
              <a:rPr lang="en-US" sz="1000" dirty="0">
                <a:solidFill>
                  <a:srgbClr val="15251D"/>
                </a:solidFill>
                <a:latin typeface="Calibri" pitchFamily="34" charset="0"/>
                <a:ea typeface="Calibri" pitchFamily="34" charset="-122"/>
                <a:cs typeface="Calibri" pitchFamily="34" charset="-120"/>
              </a:rPr>
              <a:t>Three control stores paired on catchment, size and counter performance. Without them a trading quarter proves nothing.</a:t>
            </a:r>
            <a:endParaRPr lang="en-US" sz="1000" dirty="0"/>
          </a:p>
        </p:txBody>
      </p:sp>
      <p:sp>
        <p:nvSpPr>
          <p:cNvPr id="27" name="Text 25"/>
          <p:cNvSpPr txBox="1"/>
          <p:nvPr/>
        </p:nvSpPr>
        <p:spPr>
          <a:xfrm>
            <a:off x="3509696" y="4645152"/>
            <a:ext cx="2448992" cy="274320"/>
          </a:xfrm>
          <a:prstGeom prst="rect">
            <a:avLst/>
          </a:prstGeom>
          <a:noFill/>
          <a:ln/>
        </p:spPr>
        <p:txBody>
          <a:bodyPr wrap="square" lIns="0" tIns="0" rIns="0" bIns="0" rtlCol="0" anchor="t"/>
          <a:lstStyle/>
          <a:p>
            <a:pPr indent="0" marL="0">
              <a:lnSpc>
                <a:spcPts val="1500"/>
              </a:lnSpc>
              <a:buNone/>
            </a:pPr>
            <a:r>
              <a:rPr lang="en-US" sz="1200" b="1" dirty="0">
                <a:solidFill>
                  <a:srgbClr val="1E7A4C"/>
                </a:solidFill>
                <a:latin typeface="Cambria" pitchFamily="34" charset="0"/>
                <a:ea typeface="Cambria" pitchFamily="34" charset="-122"/>
                <a:cs typeface="Cambria" pitchFamily="34" charset="-120"/>
              </a:rPr>
              <a:t>Success defined first</a:t>
            </a:r>
            <a:endParaRPr lang="en-US" sz="1200" dirty="0"/>
          </a:p>
        </p:txBody>
      </p:sp>
      <p:sp>
        <p:nvSpPr>
          <p:cNvPr id="28" name="Text 26"/>
          <p:cNvSpPr txBox="1"/>
          <p:nvPr/>
        </p:nvSpPr>
        <p:spPr>
          <a:xfrm>
            <a:off x="3509696" y="4974336"/>
            <a:ext cx="2448992" cy="1152144"/>
          </a:xfrm>
          <a:prstGeom prst="rect">
            <a:avLst/>
          </a:prstGeom>
          <a:noFill/>
          <a:ln/>
        </p:spPr>
        <p:txBody>
          <a:bodyPr wrap="square" lIns="0" tIns="0" rIns="0" bIns="0" rtlCol="0" anchor="t"/>
          <a:lstStyle/>
          <a:p>
            <a:pPr indent="0" marL="0">
              <a:lnSpc>
                <a:spcPts val="1350"/>
              </a:lnSpc>
              <a:buNone/>
            </a:pPr>
            <a:r>
              <a:rPr lang="en-US" sz="1000" dirty="0">
                <a:solidFill>
                  <a:srgbClr val="15251D"/>
                </a:solidFill>
                <a:latin typeface="Calibri" pitchFamily="34" charset="0"/>
                <a:ea typeface="Calibri" pitchFamily="34" charset="-122"/>
                <a:cs typeface="Calibri" pitchFamily="34" charset="-120"/>
              </a:rPr>
              <a:t>Thresholds written down before launch. Set the bar afterwards and a pilot always looks like it worked.</a:t>
            </a:r>
            <a:endParaRPr lang="en-US" sz="1000" dirty="0"/>
          </a:p>
        </p:txBody>
      </p:sp>
      <p:sp>
        <p:nvSpPr>
          <p:cNvPr id="29" name="Text 27"/>
          <p:cNvSpPr txBox="1"/>
          <p:nvPr/>
        </p:nvSpPr>
        <p:spPr>
          <a:xfrm>
            <a:off x="6233008" y="4645152"/>
            <a:ext cx="2448992" cy="274320"/>
          </a:xfrm>
          <a:prstGeom prst="rect">
            <a:avLst/>
          </a:prstGeom>
          <a:noFill/>
          <a:ln/>
        </p:spPr>
        <p:txBody>
          <a:bodyPr wrap="square" lIns="0" tIns="0" rIns="0" bIns="0" rtlCol="0" anchor="t"/>
          <a:lstStyle/>
          <a:p>
            <a:pPr indent="0" marL="0">
              <a:lnSpc>
                <a:spcPts val="1500"/>
              </a:lnSpc>
              <a:buNone/>
            </a:pPr>
            <a:r>
              <a:rPr lang="en-US" sz="1200" b="1" dirty="0">
                <a:solidFill>
                  <a:srgbClr val="1E7A4C"/>
                </a:solidFill>
                <a:latin typeface="Cambria" pitchFamily="34" charset="0"/>
                <a:ea typeface="Cambria" pitchFamily="34" charset="-122"/>
                <a:cs typeface="Cambria" pitchFamily="34" charset="-120"/>
              </a:rPr>
              <a:t>Measure the switch, not the sale</a:t>
            </a:r>
            <a:endParaRPr lang="en-US" sz="1200" dirty="0"/>
          </a:p>
        </p:txBody>
      </p:sp>
      <p:sp>
        <p:nvSpPr>
          <p:cNvPr id="30" name="Text 28"/>
          <p:cNvSpPr txBox="1"/>
          <p:nvPr/>
        </p:nvSpPr>
        <p:spPr>
          <a:xfrm>
            <a:off x="6233008" y="4974336"/>
            <a:ext cx="2448992" cy="1152144"/>
          </a:xfrm>
          <a:prstGeom prst="rect">
            <a:avLst/>
          </a:prstGeom>
          <a:noFill/>
          <a:ln/>
        </p:spPr>
        <p:txBody>
          <a:bodyPr wrap="square" lIns="0" tIns="0" rIns="0" bIns="0" rtlCol="0" anchor="t"/>
          <a:lstStyle/>
          <a:p>
            <a:pPr indent="0" marL="0">
              <a:lnSpc>
                <a:spcPts val="1350"/>
              </a:lnSpc>
              <a:buNone/>
            </a:pPr>
            <a:r>
              <a:rPr lang="en-US" sz="1000" dirty="0">
                <a:solidFill>
                  <a:srgbClr val="15251D"/>
                </a:solidFill>
                <a:latin typeface="Calibri" pitchFamily="34" charset="0"/>
                <a:ea typeface="Calibri" pitchFamily="34" charset="-122"/>
                <a:cs typeface="Calibri" pitchFamily="34" charset="-120"/>
              </a:rPr>
              <a:t>For food-to-go, cannibalisation decides it. Track what the customer would have bought instead.</a:t>
            </a:r>
            <a:endParaRPr lang="en-US" sz="1000" dirty="0"/>
          </a:p>
        </p:txBody>
      </p:sp>
      <p:sp>
        <p:nvSpPr>
          <p:cNvPr id="31" name="Text 29"/>
          <p:cNvSpPr txBox="1"/>
          <p:nvPr/>
        </p:nvSpPr>
        <p:spPr>
          <a:xfrm>
            <a:off x="8956319" y="4645152"/>
            <a:ext cx="2448992" cy="274320"/>
          </a:xfrm>
          <a:prstGeom prst="rect">
            <a:avLst/>
          </a:prstGeom>
          <a:noFill/>
          <a:ln/>
        </p:spPr>
        <p:txBody>
          <a:bodyPr wrap="square" lIns="0" tIns="0" rIns="0" bIns="0" rtlCol="0" anchor="t"/>
          <a:lstStyle/>
          <a:p>
            <a:pPr indent="0" marL="0">
              <a:lnSpc>
                <a:spcPts val="1500"/>
              </a:lnSpc>
              <a:buNone/>
            </a:pPr>
            <a:r>
              <a:rPr lang="en-US" sz="1200" b="1" dirty="0">
                <a:solidFill>
                  <a:srgbClr val="1E7A4C"/>
                </a:solidFill>
                <a:latin typeface="Cambria" pitchFamily="34" charset="0"/>
                <a:ea typeface="Cambria" pitchFamily="34" charset="-122"/>
                <a:cs typeface="Cambria" pitchFamily="34" charset="-120"/>
              </a:rPr>
              <a:t>Decide separately</a:t>
            </a:r>
            <a:endParaRPr lang="en-US" sz="1200" dirty="0"/>
          </a:p>
        </p:txBody>
      </p:sp>
      <p:sp>
        <p:nvSpPr>
          <p:cNvPr id="32" name="Text 30"/>
          <p:cNvSpPr txBox="1"/>
          <p:nvPr/>
        </p:nvSpPr>
        <p:spPr>
          <a:xfrm>
            <a:off x="8956319" y="4974336"/>
            <a:ext cx="2448992" cy="1152144"/>
          </a:xfrm>
          <a:prstGeom prst="rect">
            <a:avLst/>
          </a:prstGeom>
          <a:noFill/>
          <a:ln/>
        </p:spPr>
        <p:txBody>
          <a:bodyPr wrap="square" lIns="0" tIns="0" rIns="0" bIns="0" rtlCol="0" anchor="t"/>
          <a:lstStyle/>
          <a:p>
            <a:pPr indent="0" marL="0">
              <a:lnSpc>
                <a:spcPts val="1350"/>
              </a:lnSpc>
              <a:buNone/>
            </a:pPr>
            <a:r>
              <a:rPr lang="en-US" sz="1000" dirty="0">
                <a:solidFill>
                  <a:srgbClr val="15251D"/>
                </a:solidFill>
                <a:latin typeface="Calibri" pitchFamily="34" charset="0"/>
                <a:ea typeface="Calibri" pitchFamily="34" charset="-122"/>
                <a:cs typeface="Calibri" pitchFamily="34" charset="-120"/>
              </a:rPr>
              <a:t>Four recommendations, four separate decisions. Bundle them and one weak result kills three good ones.</a:t>
            </a:r>
            <a:endParaRPr lang="en-US" sz="1000" dirty="0"/>
          </a:p>
        </p:txBody>
      </p:sp>
      <p:sp>
        <p:nvSpPr>
          <p:cNvPr id="33" name="Text 31"/>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Analysis. Pilot design reflects the standard of evidence required to change a decision that has already been reversed once.</a:t>
            </a:r>
            <a:endParaRPr lang="en-US" sz="800" dirty="0"/>
          </a:p>
        </p:txBody>
      </p:sp>
      <p:sp>
        <p:nvSpPr>
          <p:cNvPr id="34" name="Text 32"/>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1E7A4C"/>
                </a:solidFill>
                <a:latin typeface="Calibri" pitchFamily="34" charset="0"/>
                <a:ea typeface="Calibri" pitchFamily="34" charset="-122"/>
                <a:cs typeface="Calibri" pitchFamily="34" charset="-120"/>
              </a:rPr>
              <a:t>RISKS AND EVIDENCE GAPS</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15251D"/>
                </a:solidFill>
                <a:latin typeface="Cambria" pitchFamily="34" charset="0"/>
                <a:ea typeface="Cambria" pitchFamily="34" charset="-122"/>
                <a:cs typeface="Cambria" pitchFamily="34" charset="-120"/>
              </a:rPr>
              <a:t>Four questions decide whether this analysis is right, and none can be answered from outside Morrisons</a:t>
            </a:r>
            <a:endParaRPr lang="en-US" sz="2100" dirty="0"/>
          </a:p>
        </p:txBody>
      </p:sp>
      <p:sp>
        <p:nvSpPr>
          <p:cNvPr id="4" name="Shape 2"/>
          <p:cNvSpPr/>
          <p:nvPr/>
        </p:nvSpPr>
        <p:spPr>
          <a:xfrm>
            <a:off x="566928" y="1810512"/>
            <a:ext cx="2599868" cy="2962656"/>
          </a:xfrm>
          <a:prstGeom prst="roundRect">
            <a:avLst>
              <a:gd name="adj" fmla="val 2110"/>
            </a:avLst>
          </a:prstGeom>
          <a:solidFill>
            <a:srgbClr val="FFFFFF"/>
          </a:solidFill>
          <a:ln w="9525">
            <a:solidFill>
              <a:srgbClr val="D9DFDB"/>
            </a:solidFill>
            <a:prstDash val="solid"/>
          </a:ln>
        </p:spPr>
      </p:sp>
      <p:sp>
        <p:nvSpPr>
          <p:cNvPr id="5" name="Shape 3"/>
          <p:cNvSpPr/>
          <p:nvPr/>
        </p:nvSpPr>
        <p:spPr>
          <a:xfrm>
            <a:off x="768096" y="1975104"/>
            <a:ext cx="2197532" cy="219456"/>
          </a:xfrm>
          <a:prstGeom prst="roundRect">
            <a:avLst>
              <a:gd name="adj" fmla="val 50000"/>
            </a:avLst>
          </a:prstGeom>
          <a:solidFill>
            <a:srgbClr val="F5E7E4"/>
          </a:solidFill>
          <a:ln w="12700">
            <a:solidFill>
              <a:srgbClr val="F5E7E4"/>
            </a:solidFill>
            <a:prstDash val="solid"/>
          </a:ln>
        </p:spPr>
      </p:sp>
      <p:sp>
        <p:nvSpPr>
          <p:cNvPr id="6" name="Text 4"/>
          <p:cNvSpPr txBox="1"/>
          <p:nvPr/>
        </p:nvSpPr>
        <p:spPr>
          <a:xfrm>
            <a:off x="768096" y="1975104"/>
            <a:ext cx="2197532" cy="219456"/>
          </a:xfrm>
          <a:prstGeom prst="rect">
            <a:avLst/>
          </a:prstGeom>
          <a:noFill/>
          <a:ln/>
        </p:spPr>
        <p:txBody>
          <a:bodyPr wrap="square" lIns="0" tIns="0" rIns="0" bIns="0" rtlCol="0" anchor="ctr"/>
          <a:lstStyle/>
          <a:p>
            <a:pPr algn="ctr" indent="0" marL="0">
              <a:buNone/>
            </a:pPr>
            <a:r>
              <a:rPr lang="en-US" sz="750" b="1" spc="80" kern="0" dirty="0">
                <a:solidFill>
                  <a:srgbClr val="96382C"/>
                </a:solidFill>
                <a:latin typeface="Calibri" pitchFamily="34" charset="0"/>
                <a:ea typeface="Calibri" pitchFamily="34" charset="-122"/>
                <a:cs typeface="Calibri" pitchFamily="34" charset="-120"/>
              </a:rPr>
              <a:t>INTERNAL VALIDATION REQUIRED</a:t>
            </a:r>
            <a:endParaRPr lang="en-US" sz="750" dirty="0"/>
          </a:p>
        </p:txBody>
      </p:sp>
      <p:sp>
        <p:nvSpPr>
          <p:cNvPr id="7" name="Text 5"/>
          <p:cNvSpPr txBox="1"/>
          <p:nvPr/>
        </p:nvSpPr>
        <p:spPr>
          <a:xfrm>
            <a:off x="768096" y="2340864"/>
            <a:ext cx="2197532" cy="731520"/>
          </a:xfrm>
          <a:prstGeom prst="rect">
            <a:avLst/>
          </a:prstGeom>
          <a:noFill/>
          <a:ln/>
        </p:spPr>
        <p:txBody>
          <a:bodyPr wrap="square" lIns="0" tIns="0" rIns="0" bIns="0" rtlCol="0" anchor="t"/>
          <a:lstStyle/>
          <a:p>
            <a:pPr indent="0" marL="0">
              <a:lnSpc>
                <a:spcPts val="1700"/>
              </a:lnSpc>
              <a:buNone/>
            </a:pPr>
            <a:r>
              <a:rPr lang="en-US" sz="1300" b="1" dirty="0">
                <a:solidFill>
                  <a:srgbClr val="15251D"/>
                </a:solidFill>
                <a:latin typeface="Cambria" pitchFamily="34" charset="0"/>
                <a:ea typeface="Cambria" pitchFamily="34" charset="-122"/>
                <a:cs typeface="Cambria" pitchFamily="34" charset="-120"/>
              </a:rPr>
              <a:t>What does a counter actually yield?</a:t>
            </a:r>
            <a:endParaRPr lang="en-US" sz="1300" dirty="0"/>
          </a:p>
        </p:txBody>
      </p:sp>
      <p:sp>
        <p:nvSpPr>
          <p:cNvPr id="8" name="Text 6"/>
          <p:cNvSpPr txBox="1"/>
          <p:nvPr/>
        </p:nvSpPr>
        <p:spPr>
          <a:xfrm>
            <a:off x="768096" y="3108960"/>
            <a:ext cx="2197532" cy="1133856"/>
          </a:xfrm>
          <a:prstGeom prst="rect">
            <a:avLst/>
          </a:prstGeom>
          <a:noFill/>
          <a:ln/>
        </p:spPr>
        <p:txBody>
          <a:bodyPr wrap="square" lIns="0" tIns="0" rIns="0" bIns="0" rtlCol="0" anchor="t"/>
          <a:lstStyle/>
          <a:p>
            <a:pPr indent="0" marL="0">
              <a:lnSpc>
                <a:spcPts val="1250"/>
              </a:lnSpc>
              <a:buNone/>
            </a:pPr>
            <a:r>
              <a:rPr lang="en-US" sz="950" dirty="0">
                <a:solidFill>
                  <a:srgbClr val="5E6B64"/>
                </a:solidFill>
                <a:latin typeface="Calibri" pitchFamily="34" charset="0"/>
                <a:ea typeface="Calibri" pitchFamily="34" charset="-122"/>
                <a:cs typeface="Calibri" pitchFamily="34" charset="-120"/>
              </a:rPr>
              <a:t>No UK retailer publishes counter or service-department waste rates. Morrisons reports a food waste reduction with no denominator. Tesco publishes tonnage and percentage of food handled.</a:t>
            </a:r>
            <a:endParaRPr lang="en-US" sz="950" dirty="0"/>
          </a:p>
        </p:txBody>
      </p:sp>
      <p:sp>
        <p:nvSpPr>
          <p:cNvPr id="9" name="Shape 7"/>
          <p:cNvSpPr/>
          <p:nvPr/>
        </p:nvSpPr>
        <p:spPr>
          <a:xfrm>
            <a:off x="768096" y="4206240"/>
            <a:ext cx="2197532" cy="457200"/>
          </a:xfrm>
          <a:prstGeom prst="roundRect">
            <a:avLst>
              <a:gd name="adj" fmla="val 12000"/>
            </a:avLst>
          </a:prstGeom>
          <a:solidFill>
            <a:srgbClr val="F4F6F4"/>
          </a:solidFill>
          <a:ln w="9525">
            <a:solidFill>
              <a:srgbClr val="F4F6F4"/>
            </a:solidFill>
            <a:prstDash val="solid"/>
          </a:ln>
        </p:spPr>
      </p:sp>
      <p:sp>
        <p:nvSpPr>
          <p:cNvPr id="10" name="Text 8"/>
          <p:cNvSpPr txBox="1"/>
          <p:nvPr/>
        </p:nvSpPr>
        <p:spPr>
          <a:xfrm>
            <a:off x="877824" y="4297680"/>
            <a:ext cx="1978076" cy="292608"/>
          </a:xfrm>
          <a:prstGeom prst="rect">
            <a:avLst/>
          </a:prstGeom>
          <a:noFill/>
          <a:ln/>
        </p:spPr>
        <p:txBody>
          <a:bodyPr wrap="square" lIns="0" tIns="0" rIns="0" bIns="0" rtlCol="0" anchor="ctr"/>
          <a:lstStyle/>
          <a:p>
            <a:pPr indent="0" marL="0">
              <a:lnSpc>
                <a:spcPts val="1100"/>
              </a:lnSpc>
              <a:buNone/>
            </a:pPr>
            <a:r>
              <a:rPr lang="en-US" sz="850" b="1" dirty="0">
                <a:solidFill>
                  <a:srgbClr val="15251D"/>
                </a:solidFill>
                <a:latin typeface="Calibri" pitchFamily="34" charset="0"/>
                <a:ea typeface="Calibri" pitchFamily="34" charset="-122"/>
                <a:cs typeface="Calibri" pitchFamily="34" charset="-120"/>
              </a:rPr>
              <a:t>Counter waste yield, markdown and sales by store</a:t>
            </a:r>
            <a:endParaRPr lang="en-US" sz="850" dirty="0"/>
          </a:p>
        </p:txBody>
      </p:sp>
      <p:sp>
        <p:nvSpPr>
          <p:cNvPr id="11" name="Shape 9"/>
          <p:cNvSpPr/>
          <p:nvPr/>
        </p:nvSpPr>
        <p:spPr>
          <a:xfrm>
            <a:off x="3386252" y="1810512"/>
            <a:ext cx="2599868" cy="2962656"/>
          </a:xfrm>
          <a:prstGeom prst="roundRect">
            <a:avLst>
              <a:gd name="adj" fmla="val 2110"/>
            </a:avLst>
          </a:prstGeom>
          <a:solidFill>
            <a:srgbClr val="FFFFFF"/>
          </a:solidFill>
          <a:ln w="9525">
            <a:solidFill>
              <a:srgbClr val="D9DFDB"/>
            </a:solidFill>
            <a:prstDash val="solid"/>
          </a:ln>
        </p:spPr>
      </p:sp>
      <p:sp>
        <p:nvSpPr>
          <p:cNvPr id="12" name="Shape 10"/>
          <p:cNvSpPr/>
          <p:nvPr/>
        </p:nvSpPr>
        <p:spPr>
          <a:xfrm>
            <a:off x="3587420" y="1975104"/>
            <a:ext cx="2197532" cy="219456"/>
          </a:xfrm>
          <a:prstGeom prst="roundRect">
            <a:avLst>
              <a:gd name="adj" fmla="val 50000"/>
            </a:avLst>
          </a:prstGeom>
          <a:solidFill>
            <a:srgbClr val="F5E7E4"/>
          </a:solidFill>
          <a:ln w="12700">
            <a:solidFill>
              <a:srgbClr val="F5E7E4"/>
            </a:solidFill>
            <a:prstDash val="solid"/>
          </a:ln>
        </p:spPr>
      </p:sp>
      <p:sp>
        <p:nvSpPr>
          <p:cNvPr id="13" name="Text 11"/>
          <p:cNvSpPr txBox="1"/>
          <p:nvPr/>
        </p:nvSpPr>
        <p:spPr>
          <a:xfrm>
            <a:off x="3587420" y="1975104"/>
            <a:ext cx="2197532" cy="219456"/>
          </a:xfrm>
          <a:prstGeom prst="rect">
            <a:avLst/>
          </a:prstGeom>
          <a:noFill/>
          <a:ln/>
        </p:spPr>
        <p:txBody>
          <a:bodyPr wrap="square" lIns="0" tIns="0" rIns="0" bIns="0" rtlCol="0" anchor="ctr"/>
          <a:lstStyle/>
          <a:p>
            <a:pPr algn="ctr" indent="0" marL="0">
              <a:buNone/>
            </a:pPr>
            <a:r>
              <a:rPr lang="en-US" sz="750" b="1" spc="80" kern="0" dirty="0">
                <a:solidFill>
                  <a:srgbClr val="96382C"/>
                </a:solidFill>
                <a:latin typeface="Calibri" pitchFamily="34" charset="0"/>
                <a:ea typeface="Calibri" pitchFamily="34" charset="-122"/>
                <a:cs typeface="Calibri" pitchFamily="34" charset="-120"/>
              </a:rPr>
              <a:t>INTERNAL VALIDATION REQUIRED</a:t>
            </a:r>
            <a:endParaRPr lang="en-US" sz="750" dirty="0"/>
          </a:p>
        </p:txBody>
      </p:sp>
      <p:sp>
        <p:nvSpPr>
          <p:cNvPr id="14" name="Text 12"/>
          <p:cNvSpPr txBox="1"/>
          <p:nvPr/>
        </p:nvSpPr>
        <p:spPr>
          <a:xfrm>
            <a:off x="3587420" y="2340864"/>
            <a:ext cx="2197532" cy="731520"/>
          </a:xfrm>
          <a:prstGeom prst="rect">
            <a:avLst/>
          </a:prstGeom>
          <a:noFill/>
          <a:ln/>
        </p:spPr>
        <p:txBody>
          <a:bodyPr wrap="square" lIns="0" tIns="0" rIns="0" bIns="0" rtlCol="0" anchor="t"/>
          <a:lstStyle/>
          <a:p>
            <a:pPr indent="0" marL="0">
              <a:lnSpc>
                <a:spcPts val="1700"/>
              </a:lnSpc>
              <a:buNone/>
            </a:pPr>
            <a:r>
              <a:rPr lang="en-US" sz="1300" b="1" dirty="0">
                <a:solidFill>
                  <a:srgbClr val="15251D"/>
                </a:solidFill>
                <a:latin typeface="Cambria" pitchFamily="34" charset="0"/>
                <a:ea typeface="Cambria" pitchFamily="34" charset="-122"/>
                <a:cs typeface="Cambria" pitchFamily="34" charset="-120"/>
              </a:rPr>
              <a:t>What is counter labour productivity?</a:t>
            </a:r>
            <a:endParaRPr lang="en-US" sz="1300" dirty="0"/>
          </a:p>
        </p:txBody>
      </p:sp>
      <p:sp>
        <p:nvSpPr>
          <p:cNvPr id="15" name="Text 13"/>
          <p:cNvSpPr txBox="1"/>
          <p:nvPr/>
        </p:nvSpPr>
        <p:spPr>
          <a:xfrm>
            <a:off x="3587420" y="3108960"/>
            <a:ext cx="2197532" cy="1133856"/>
          </a:xfrm>
          <a:prstGeom prst="rect">
            <a:avLst/>
          </a:prstGeom>
          <a:noFill/>
          <a:ln/>
        </p:spPr>
        <p:txBody>
          <a:bodyPr wrap="square" lIns="0" tIns="0" rIns="0" bIns="0" rtlCol="0" anchor="t"/>
          <a:lstStyle/>
          <a:p>
            <a:pPr indent="0" marL="0">
              <a:lnSpc>
                <a:spcPts val="1250"/>
              </a:lnSpc>
              <a:buNone/>
            </a:pPr>
            <a:r>
              <a:rPr lang="en-US" sz="950" dirty="0">
                <a:solidFill>
                  <a:srgbClr val="5E6B64"/>
                </a:solidFill>
                <a:latin typeface="Calibri" pitchFamily="34" charset="0"/>
                <a:ea typeface="Calibri" pitchFamily="34" charset="-122"/>
                <a:cs typeface="Calibri" pitchFamily="34" charset="-120"/>
              </a:rPr>
              <a:t>Nothing is published on counter utilisation, transactions per counter hour or service-department labour productivity anywhere in UK grocery. The biggest gap in the pack.</a:t>
            </a:r>
            <a:endParaRPr lang="en-US" sz="950" dirty="0"/>
          </a:p>
        </p:txBody>
      </p:sp>
      <p:sp>
        <p:nvSpPr>
          <p:cNvPr id="16" name="Shape 14"/>
          <p:cNvSpPr/>
          <p:nvPr/>
        </p:nvSpPr>
        <p:spPr>
          <a:xfrm>
            <a:off x="3587420" y="4206240"/>
            <a:ext cx="2197532" cy="457200"/>
          </a:xfrm>
          <a:prstGeom prst="roundRect">
            <a:avLst>
              <a:gd name="adj" fmla="val 12000"/>
            </a:avLst>
          </a:prstGeom>
          <a:solidFill>
            <a:srgbClr val="F4F6F4"/>
          </a:solidFill>
          <a:ln w="9525">
            <a:solidFill>
              <a:srgbClr val="F4F6F4"/>
            </a:solidFill>
            <a:prstDash val="solid"/>
          </a:ln>
        </p:spPr>
      </p:sp>
      <p:sp>
        <p:nvSpPr>
          <p:cNvPr id="17" name="Text 15"/>
          <p:cNvSpPr txBox="1"/>
          <p:nvPr/>
        </p:nvSpPr>
        <p:spPr>
          <a:xfrm>
            <a:off x="3697148" y="4297680"/>
            <a:ext cx="1978076" cy="292608"/>
          </a:xfrm>
          <a:prstGeom prst="rect">
            <a:avLst/>
          </a:prstGeom>
          <a:noFill/>
          <a:ln/>
        </p:spPr>
        <p:txBody>
          <a:bodyPr wrap="square" lIns="0" tIns="0" rIns="0" bIns="0" rtlCol="0" anchor="ctr"/>
          <a:lstStyle/>
          <a:p>
            <a:pPr indent="0" marL="0">
              <a:lnSpc>
                <a:spcPts val="1100"/>
              </a:lnSpc>
              <a:buNone/>
            </a:pPr>
            <a:r>
              <a:rPr lang="en-US" sz="850" b="1" dirty="0">
                <a:solidFill>
                  <a:srgbClr val="15251D"/>
                </a:solidFill>
                <a:latin typeface="Calibri" pitchFamily="34" charset="0"/>
                <a:ea typeface="Calibri" pitchFamily="34" charset="-122"/>
                <a:cs typeface="Calibri" pitchFamily="34" charset="-120"/>
              </a:rPr>
              <a:t>Counter hours, transactions and throughput by daypart</a:t>
            </a:r>
            <a:endParaRPr lang="en-US" sz="850" dirty="0"/>
          </a:p>
        </p:txBody>
      </p:sp>
      <p:sp>
        <p:nvSpPr>
          <p:cNvPr id="18" name="Shape 16"/>
          <p:cNvSpPr/>
          <p:nvPr/>
        </p:nvSpPr>
        <p:spPr>
          <a:xfrm>
            <a:off x="6205576" y="1810512"/>
            <a:ext cx="2599868" cy="2962656"/>
          </a:xfrm>
          <a:prstGeom prst="roundRect">
            <a:avLst>
              <a:gd name="adj" fmla="val 2110"/>
            </a:avLst>
          </a:prstGeom>
          <a:solidFill>
            <a:srgbClr val="FFFFFF"/>
          </a:solidFill>
          <a:ln w="9525">
            <a:solidFill>
              <a:srgbClr val="D9DFDB"/>
            </a:solidFill>
            <a:prstDash val="solid"/>
          </a:ln>
        </p:spPr>
      </p:sp>
      <p:sp>
        <p:nvSpPr>
          <p:cNvPr id="19" name="Shape 17"/>
          <p:cNvSpPr/>
          <p:nvPr/>
        </p:nvSpPr>
        <p:spPr>
          <a:xfrm>
            <a:off x="6406744" y="1975104"/>
            <a:ext cx="2197532" cy="219456"/>
          </a:xfrm>
          <a:prstGeom prst="roundRect">
            <a:avLst>
              <a:gd name="adj" fmla="val 50000"/>
            </a:avLst>
          </a:prstGeom>
          <a:solidFill>
            <a:srgbClr val="F5E7E4"/>
          </a:solidFill>
          <a:ln w="12700">
            <a:solidFill>
              <a:srgbClr val="F5E7E4"/>
            </a:solidFill>
            <a:prstDash val="solid"/>
          </a:ln>
        </p:spPr>
      </p:sp>
      <p:sp>
        <p:nvSpPr>
          <p:cNvPr id="20" name="Text 18"/>
          <p:cNvSpPr txBox="1"/>
          <p:nvPr/>
        </p:nvSpPr>
        <p:spPr>
          <a:xfrm>
            <a:off x="6406744" y="1975104"/>
            <a:ext cx="2197532" cy="219456"/>
          </a:xfrm>
          <a:prstGeom prst="rect">
            <a:avLst/>
          </a:prstGeom>
          <a:noFill/>
          <a:ln/>
        </p:spPr>
        <p:txBody>
          <a:bodyPr wrap="square" lIns="0" tIns="0" rIns="0" bIns="0" rtlCol="0" anchor="ctr"/>
          <a:lstStyle/>
          <a:p>
            <a:pPr algn="ctr" indent="0" marL="0">
              <a:buNone/>
            </a:pPr>
            <a:r>
              <a:rPr lang="en-US" sz="750" b="1" spc="80" kern="0" dirty="0">
                <a:solidFill>
                  <a:srgbClr val="96382C"/>
                </a:solidFill>
                <a:latin typeface="Calibri" pitchFamily="34" charset="0"/>
                <a:ea typeface="Calibri" pitchFamily="34" charset="-122"/>
                <a:cs typeface="Calibri" pitchFamily="34" charset="-120"/>
              </a:rPr>
              <a:t>INTERNAL VALIDATION REQUIRED</a:t>
            </a:r>
            <a:endParaRPr lang="en-US" sz="750" dirty="0"/>
          </a:p>
        </p:txBody>
      </p:sp>
      <p:sp>
        <p:nvSpPr>
          <p:cNvPr id="21" name="Text 19"/>
          <p:cNvSpPr txBox="1"/>
          <p:nvPr/>
        </p:nvSpPr>
        <p:spPr>
          <a:xfrm>
            <a:off x="6406744" y="2340864"/>
            <a:ext cx="2197532" cy="731520"/>
          </a:xfrm>
          <a:prstGeom prst="rect">
            <a:avLst/>
          </a:prstGeom>
          <a:noFill/>
          <a:ln/>
        </p:spPr>
        <p:txBody>
          <a:bodyPr wrap="square" lIns="0" tIns="0" rIns="0" bIns="0" rtlCol="0" anchor="t"/>
          <a:lstStyle/>
          <a:p>
            <a:pPr indent="0" marL="0">
              <a:lnSpc>
                <a:spcPts val="1700"/>
              </a:lnSpc>
              <a:buNone/>
            </a:pPr>
            <a:r>
              <a:rPr lang="en-US" sz="1300" b="1" dirty="0">
                <a:solidFill>
                  <a:srgbClr val="15251D"/>
                </a:solidFill>
                <a:latin typeface="Cambria" pitchFamily="34" charset="0"/>
                <a:ea typeface="Cambria" pitchFamily="34" charset="-122"/>
                <a:cs typeface="Cambria" pitchFamily="34" charset="-120"/>
              </a:rPr>
              <a:t>Why did Market Kitchen actually fail?</a:t>
            </a:r>
            <a:endParaRPr lang="en-US" sz="1300" dirty="0"/>
          </a:p>
        </p:txBody>
      </p:sp>
      <p:sp>
        <p:nvSpPr>
          <p:cNvPr id="22" name="Text 20"/>
          <p:cNvSpPr txBox="1"/>
          <p:nvPr/>
        </p:nvSpPr>
        <p:spPr>
          <a:xfrm>
            <a:off x="6406744" y="3108960"/>
            <a:ext cx="2197532" cy="1133856"/>
          </a:xfrm>
          <a:prstGeom prst="rect">
            <a:avLst/>
          </a:prstGeom>
          <a:noFill/>
          <a:ln/>
        </p:spPr>
        <p:txBody>
          <a:bodyPr wrap="square" lIns="0" tIns="0" rIns="0" bIns="0" rtlCol="0" anchor="t"/>
          <a:lstStyle/>
          <a:p>
            <a:pPr indent="0" marL="0">
              <a:lnSpc>
                <a:spcPts val="1250"/>
              </a:lnSpc>
              <a:buNone/>
            </a:pPr>
            <a:r>
              <a:rPr lang="en-US" sz="950" dirty="0">
                <a:solidFill>
                  <a:srgbClr val="5E6B64"/>
                </a:solidFill>
                <a:latin typeface="Calibri" pitchFamily="34" charset="0"/>
                <a:ea typeface="Calibri" pitchFamily="34" charset="-122"/>
                <a:cs typeface="Calibri" pitchFamily="34" charset="-120"/>
              </a:rPr>
              <a:t>There is no public post-mortem. Traffic, labour, capex payback or format, nobody outside knows. It is also the closest precedent to Recommendation 2.</a:t>
            </a:r>
            <a:endParaRPr lang="en-US" sz="950" dirty="0"/>
          </a:p>
        </p:txBody>
      </p:sp>
      <p:sp>
        <p:nvSpPr>
          <p:cNvPr id="23" name="Shape 21"/>
          <p:cNvSpPr/>
          <p:nvPr/>
        </p:nvSpPr>
        <p:spPr>
          <a:xfrm>
            <a:off x="6406744" y="4206240"/>
            <a:ext cx="2197532" cy="457200"/>
          </a:xfrm>
          <a:prstGeom prst="roundRect">
            <a:avLst>
              <a:gd name="adj" fmla="val 12000"/>
            </a:avLst>
          </a:prstGeom>
          <a:solidFill>
            <a:srgbClr val="F4F6F4"/>
          </a:solidFill>
          <a:ln w="9525">
            <a:solidFill>
              <a:srgbClr val="F4F6F4"/>
            </a:solidFill>
            <a:prstDash val="solid"/>
          </a:ln>
        </p:spPr>
      </p:sp>
      <p:sp>
        <p:nvSpPr>
          <p:cNvPr id="24" name="Text 22"/>
          <p:cNvSpPr txBox="1"/>
          <p:nvPr/>
        </p:nvSpPr>
        <p:spPr>
          <a:xfrm>
            <a:off x="6516472" y="4297680"/>
            <a:ext cx="1978076" cy="292608"/>
          </a:xfrm>
          <a:prstGeom prst="rect">
            <a:avLst/>
          </a:prstGeom>
          <a:noFill/>
          <a:ln/>
        </p:spPr>
        <p:txBody>
          <a:bodyPr wrap="square" lIns="0" tIns="0" rIns="0" bIns="0" rtlCol="0" anchor="ctr"/>
          <a:lstStyle/>
          <a:p>
            <a:pPr indent="0" marL="0">
              <a:lnSpc>
                <a:spcPts val="1100"/>
              </a:lnSpc>
              <a:buNone/>
            </a:pPr>
            <a:r>
              <a:rPr lang="en-US" sz="850" b="1" dirty="0">
                <a:solidFill>
                  <a:srgbClr val="15251D"/>
                </a:solidFill>
                <a:latin typeface="Calibri" pitchFamily="34" charset="0"/>
                <a:ea typeface="Calibri" pitchFamily="34" charset="-122"/>
                <a:cs typeface="Calibri" pitchFamily="34" charset="-120"/>
              </a:rPr>
              <a:t>The internal Market Kitchen closure review</a:t>
            </a:r>
            <a:endParaRPr lang="en-US" sz="850" dirty="0"/>
          </a:p>
        </p:txBody>
      </p:sp>
      <p:sp>
        <p:nvSpPr>
          <p:cNvPr id="25" name="Shape 23"/>
          <p:cNvSpPr/>
          <p:nvPr/>
        </p:nvSpPr>
        <p:spPr>
          <a:xfrm>
            <a:off x="9024899" y="1810512"/>
            <a:ext cx="2599868" cy="2962656"/>
          </a:xfrm>
          <a:prstGeom prst="roundRect">
            <a:avLst>
              <a:gd name="adj" fmla="val 2110"/>
            </a:avLst>
          </a:prstGeom>
          <a:solidFill>
            <a:srgbClr val="FFFFFF"/>
          </a:solidFill>
          <a:ln w="9525">
            <a:solidFill>
              <a:srgbClr val="D9DFDB"/>
            </a:solidFill>
            <a:prstDash val="solid"/>
          </a:ln>
        </p:spPr>
      </p:sp>
      <p:sp>
        <p:nvSpPr>
          <p:cNvPr id="26" name="Shape 24"/>
          <p:cNvSpPr/>
          <p:nvPr/>
        </p:nvSpPr>
        <p:spPr>
          <a:xfrm>
            <a:off x="9226067" y="1975104"/>
            <a:ext cx="2197532" cy="219456"/>
          </a:xfrm>
          <a:prstGeom prst="roundRect">
            <a:avLst>
              <a:gd name="adj" fmla="val 50000"/>
            </a:avLst>
          </a:prstGeom>
          <a:solidFill>
            <a:srgbClr val="F5E7E4"/>
          </a:solidFill>
          <a:ln w="12700">
            <a:solidFill>
              <a:srgbClr val="F5E7E4"/>
            </a:solidFill>
            <a:prstDash val="solid"/>
          </a:ln>
        </p:spPr>
      </p:sp>
      <p:sp>
        <p:nvSpPr>
          <p:cNvPr id="27" name="Text 25"/>
          <p:cNvSpPr txBox="1"/>
          <p:nvPr/>
        </p:nvSpPr>
        <p:spPr>
          <a:xfrm>
            <a:off x="9226067" y="1975104"/>
            <a:ext cx="2197532" cy="219456"/>
          </a:xfrm>
          <a:prstGeom prst="rect">
            <a:avLst/>
          </a:prstGeom>
          <a:noFill/>
          <a:ln/>
        </p:spPr>
        <p:txBody>
          <a:bodyPr wrap="square" lIns="0" tIns="0" rIns="0" bIns="0" rtlCol="0" anchor="ctr"/>
          <a:lstStyle/>
          <a:p>
            <a:pPr algn="ctr" indent="0" marL="0">
              <a:buNone/>
            </a:pPr>
            <a:r>
              <a:rPr lang="en-US" sz="750" b="1" spc="80" kern="0" dirty="0">
                <a:solidFill>
                  <a:srgbClr val="96382C"/>
                </a:solidFill>
                <a:latin typeface="Calibri" pitchFamily="34" charset="0"/>
                <a:ea typeface="Calibri" pitchFamily="34" charset="-122"/>
                <a:cs typeface="Calibri" pitchFamily="34" charset="-120"/>
              </a:rPr>
              <a:t>INTERNAL VALIDATION REQUIRED</a:t>
            </a:r>
            <a:endParaRPr lang="en-US" sz="750" dirty="0"/>
          </a:p>
        </p:txBody>
      </p:sp>
      <p:sp>
        <p:nvSpPr>
          <p:cNvPr id="28" name="Text 26"/>
          <p:cNvSpPr txBox="1"/>
          <p:nvPr/>
        </p:nvSpPr>
        <p:spPr>
          <a:xfrm>
            <a:off x="9226067" y="2340864"/>
            <a:ext cx="2197532" cy="731520"/>
          </a:xfrm>
          <a:prstGeom prst="rect">
            <a:avLst/>
          </a:prstGeom>
          <a:noFill/>
          <a:ln/>
        </p:spPr>
        <p:txBody>
          <a:bodyPr wrap="square" lIns="0" tIns="0" rIns="0" bIns="0" rtlCol="0" anchor="t"/>
          <a:lstStyle/>
          <a:p>
            <a:pPr indent="0" marL="0">
              <a:lnSpc>
                <a:spcPts val="1700"/>
              </a:lnSpc>
              <a:buNone/>
            </a:pPr>
            <a:r>
              <a:rPr lang="en-US" sz="1300" b="1" dirty="0">
                <a:solidFill>
                  <a:srgbClr val="15251D"/>
                </a:solidFill>
                <a:latin typeface="Cambria" pitchFamily="34" charset="0"/>
                <a:ea typeface="Cambria" pitchFamily="34" charset="-122"/>
                <a:cs typeface="Cambria" pitchFamily="34" charset="-120"/>
              </a:rPr>
              <a:t>Will customers pay for made-to-order?</a:t>
            </a:r>
            <a:endParaRPr lang="en-US" sz="1300" dirty="0"/>
          </a:p>
        </p:txBody>
      </p:sp>
      <p:sp>
        <p:nvSpPr>
          <p:cNvPr id="29" name="Text 27"/>
          <p:cNvSpPr txBox="1"/>
          <p:nvPr/>
        </p:nvSpPr>
        <p:spPr>
          <a:xfrm>
            <a:off x="9226067" y="3108960"/>
            <a:ext cx="2197532" cy="1133856"/>
          </a:xfrm>
          <a:prstGeom prst="rect">
            <a:avLst/>
          </a:prstGeom>
          <a:noFill/>
          <a:ln/>
        </p:spPr>
        <p:txBody>
          <a:bodyPr wrap="square" lIns="0" tIns="0" rIns="0" bIns="0" rtlCol="0" anchor="t"/>
          <a:lstStyle/>
          <a:p>
            <a:pPr indent="0" marL="0">
              <a:lnSpc>
                <a:spcPts val="1250"/>
              </a:lnSpc>
              <a:buNone/>
            </a:pPr>
            <a:r>
              <a:rPr lang="en-US" sz="950" dirty="0">
                <a:solidFill>
                  <a:srgbClr val="5E6B64"/>
                </a:solidFill>
                <a:latin typeface="Calibri" pitchFamily="34" charset="0"/>
                <a:ea typeface="Calibri" pitchFamily="34" charset="-122"/>
                <a:cs typeface="Calibri" pitchFamily="34" charset="-120"/>
              </a:rPr>
              <a:t>No credible UK data puts a number on willingness to pay over pre-packed. Nearby evidence supports a quality-led play but will not price it.</a:t>
            </a:r>
            <a:endParaRPr lang="en-US" sz="950" dirty="0"/>
          </a:p>
        </p:txBody>
      </p:sp>
      <p:sp>
        <p:nvSpPr>
          <p:cNvPr id="30" name="Shape 28"/>
          <p:cNvSpPr/>
          <p:nvPr/>
        </p:nvSpPr>
        <p:spPr>
          <a:xfrm>
            <a:off x="9226067" y="4206240"/>
            <a:ext cx="2197532" cy="457200"/>
          </a:xfrm>
          <a:prstGeom prst="roundRect">
            <a:avLst>
              <a:gd name="adj" fmla="val 12000"/>
            </a:avLst>
          </a:prstGeom>
          <a:solidFill>
            <a:srgbClr val="F4F6F4"/>
          </a:solidFill>
          <a:ln w="9525">
            <a:solidFill>
              <a:srgbClr val="F4F6F4"/>
            </a:solidFill>
            <a:prstDash val="solid"/>
          </a:ln>
        </p:spPr>
      </p:sp>
      <p:sp>
        <p:nvSpPr>
          <p:cNvPr id="31" name="Text 29"/>
          <p:cNvSpPr txBox="1"/>
          <p:nvPr/>
        </p:nvSpPr>
        <p:spPr>
          <a:xfrm>
            <a:off x="9335795" y="4297680"/>
            <a:ext cx="1978076" cy="292608"/>
          </a:xfrm>
          <a:prstGeom prst="rect">
            <a:avLst/>
          </a:prstGeom>
          <a:noFill/>
          <a:ln/>
        </p:spPr>
        <p:txBody>
          <a:bodyPr wrap="square" lIns="0" tIns="0" rIns="0" bIns="0" rtlCol="0" anchor="ctr"/>
          <a:lstStyle/>
          <a:p>
            <a:pPr indent="0" marL="0">
              <a:lnSpc>
                <a:spcPts val="1100"/>
              </a:lnSpc>
              <a:buNone/>
            </a:pPr>
            <a:r>
              <a:rPr lang="en-US" sz="850" b="1" dirty="0">
                <a:solidFill>
                  <a:srgbClr val="15251D"/>
                </a:solidFill>
                <a:latin typeface="Calibri" pitchFamily="34" charset="0"/>
                <a:ea typeface="Calibri" pitchFamily="34" charset="-122"/>
                <a:cs typeface="Calibri" pitchFamily="34" charset="-120"/>
              </a:rPr>
              <a:t>A live price test; More Card purchase histories</a:t>
            </a:r>
            <a:endParaRPr lang="en-US" sz="850" dirty="0"/>
          </a:p>
        </p:txBody>
      </p:sp>
      <p:sp>
        <p:nvSpPr>
          <p:cNvPr id="32" name="Shape 30"/>
          <p:cNvSpPr/>
          <p:nvPr/>
        </p:nvSpPr>
        <p:spPr>
          <a:xfrm>
            <a:off x="566928" y="5065776"/>
            <a:ext cx="11057839" cy="1170432"/>
          </a:xfrm>
          <a:prstGeom prst="roundRect">
            <a:avLst>
              <a:gd name="adj" fmla="val 4688"/>
            </a:avLst>
          </a:prstGeom>
          <a:solidFill>
            <a:srgbClr val="0E3226"/>
          </a:solidFill>
          <a:ln w="9525">
            <a:solidFill>
              <a:srgbClr val="0E3226"/>
            </a:solidFill>
            <a:prstDash val="solid"/>
          </a:ln>
        </p:spPr>
      </p:sp>
      <p:sp>
        <p:nvSpPr>
          <p:cNvPr id="33" name="Text 31"/>
          <p:cNvSpPr txBox="1"/>
          <p:nvPr/>
        </p:nvSpPr>
        <p:spPr>
          <a:xfrm>
            <a:off x="786384" y="5193792"/>
            <a:ext cx="10618927" cy="219456"/>
          </a:xfrm>
          <a:prstGeom prst="rect">
            <a:avLst/>
          </a:prstGeom>
          <a:noFill/>
          <a:ln/>
        </p:spPr>
        <p:txBody>
          <a:bodyPr wrap="square" lIns="0" tIns="0" rIns="0" bIns="0" rtlCol="0" anchor="t"/>
          <a:lstStyle/>
          <a:p>
            <a:pPr indent="0" marL="0">
              <a:lnSpc>
                <a:spcPts val="1500"/>
              </a:lnSpc>
              <a:buNone/>
            </a:pPr>
            <a:r>
              <a:rPr lang="en-US" sz="850" b="1" spc="100" kern="0" dirty="0">
                <a:solidFill>
                  <a:srgbClr val="8FC4A8"/>
                </a:solidFill>
                <a:latin typeface="Calibri" pitchFamily="34" charset="0"/>
                <a:ea typeface="Calibri" pitchFamily="34" charset="-122"/>
                <a:cs typeface="Calibri" pitchFamily="34" charset="-120"/>
              </a:rPr>
              <a:t>WHAT WOULD CHANGE THE CONCLUSION</a:t>
            </a:r>
            <a:endParaRPr lang="en-US" sz="850" dirty="0"/>
          </a:p>
        </p:txBody>
      </p:sp>
      <p:sp>
        <p:nvSpPr>
          <p:cNvPr id="34" name="Text 32"/>
          <p:cNvSpPr txBox="1"/>
          <p:nvPr/>
        </p:nvSpPr>
        <p:spPr>
          <a:xfrm>
            <a:off x="786384" y="5449824"/>
            <a:ext cx="10618927" cy="658368"/>
          </a:xfrm>
          <a:prstGeom prst="rect">
            <a:avLst/>
          </a:prstGeom>
          <a:noFill/>
          <a:ln/>
        </p:spPr>
        <p:txBody>
          <a:bodyPr wrap="square" lIns="0" tIns="0" rIns="0" bIns="0" rtlCol="0" anchor="t"/>
          <a:lstStyle/>
          <a:p>
            <a:pPr indent="0" marL="0">
              <a:lnSpc>
                <a:spcPts val="1400"/>
              </a:lnSpc>
              <a:buNone/>
            </a:pPr>
            <a:r>
              <a:rPr lang="en-US" sz="1050" dirty="0">
                <a:solidFill>
                  <a:srgbClr val="FFFFFF"/>
                </a:solidFill>
                <a:latin typeface="Calibri" pitchFamily="34" charset="0"/>
                <a:ea typeface="Calibri" pitchFamily="34" charset="-122"/>
                <a:cs typeface="Calibri" pitchFamily="34" charset="-120"/>
              </a:rPr>
              <a:t>If counter yield turns out to be good everywhere, Recommendation 1 is unnecessary and the estate just needs more counters. If it is poor everywhere, the format question outranks the rest and Recommendation 4 goes first. If a price test shows no premium over pre-packed, drop Recommendation 2 rather than re-scope it. And the honest answer is that Morrisons’ own Market Kitchen review would probably settle that faster than a new pilot.</a:t>
            </a:r>
            <a:endParaRPr lang="en-US" sz="1050" dirty="0"/>
          </a:p>
        </p:txBody>
      </p:sp>
      <p:sp>
        <p:nvSpPr>
          <p:cNvPr id="35" name="Text 33"/>
          <p:cNvSpPr txBox="1"/>
          <p:nvPr/>
        </p:nvSpPr>
        <p:spPr>
          <a:xfrm>
            <a:off x="566928" y="6382512"/>
            <a:ext cx="10600639" cy="237744"/>
          </a:xfrm>
          <a:prstGeom prst="rect">
            <a:avLst/>
          </a:prstGeom>
          <a:noFill/>
          <a:ln/>
        </p:spPr>
        <p:txBody>
          <a:bodyPr wrap="square" lIns="0" tIns="0" rIns="0" bIns="0" rtlCol="0" anchor="ctr"/>
          <a:lstStyle/>
          <a:p>
            <a:pPr indent="0" marL="0">
              <a:buNone/>
            </a:pPr>
            <a:r>
              <a:rPr lang="en-US" sz="800" i="1" dirty="0">
                <a:solidFill>
                  <a:srgbClr val="5E6B64"/>
                </a:solidFill>
                <a:latin typeface="Calibri" pitchFamily="34" charset="0"/>
                <a:ea typeface="Calibri" pitchFamily="34" charset="-122"/>
                <a:cs typeface="Calibri" pitchFamily="34" charset="-120"/>
              </a:rPr>
              <a:t>Source: Analysis. Gaps confirmed absent from public sources during Phase 2 research; see source register for the full list of twelve.</a:t>
            </a:r>
            <a:endParaRPr lang="en-US" sz="800" dirty="0"/>
          </a:p>
        </p:txBody>
      </p:sp>
      <p:sp>
        <p:nvSpPr>
          <p:cNvPr id="36" name="Text 34"/>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5E6B64"/>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3226"/>
        </a:solidFill>
      </p:bgPr>
    </p:bg>
    <p:spTree>
      <p:nvGrpSpPr>
        <p:cNvPr id="1" name=""/>
        <p:cNvGrpSpPr/>
        <p:nvPr/>
      </p:nvGrpSpPr>
      <p:grpSpPr>
        <a:xfrm>
          <a:off x="0" y="0"/>
          <a:ext cx="0" cy="0"/>
          <a:chOff x="0" y="0"/>
          <a:chExt cx="0" cy="0"/>
        </a:xfrm>
      </p:grpSpPr>
      <p:sp>
        <p:nvSpPr>
          <p:cNvPr id="2" name="Text 0"/>
          <p:cNvSpPr txBox="1"/>
          <p:nvPr/>
        </p:nvSpPr>
        <p:spPr>
          <a:xfrm>
            <a:off x="566928" y="384048"/>
            <a:ext cx="11057839" cy="219456"/>
          </a:xfrm>
          <a:prstGeom prst="rect">
            <a:avLst/>
          </a:prstGeom>
          <a:noFill/>
          <a:ln/>
        </p:spPr>
        <p:txBody>
          <a:bodyPr wrap="square" lIns="0" tIns="0" rIns="0" bIns="0" rtlCol="0" anchor="ctr"/>
          <a:lstStyle/>
          <a:p>
            <a:pPr indent="0" marL="0">
              <a:buNone/>
            </a:pPr>
            <a:r>
              <a:rPr lang="en-US" sz="1000" b="1" spc="160" kern="0" dirty="0">
                <a:solidFill>
                  <a:srgbClr val="8FC4A8"/>
                </a:solidFill>
                <a:latin typeface="Calibri" pitchFamily="34" charset="0"/>
                <a:ea typeface="Calibri" pitchFamily="34" charset="-122"/>
                <a:cs typeface="Calibri" pitchFamily="34" charset="-120"/>
              </a:rPr>
              <a:t>WHAT HAPPENS FIRST</a:t>
            </a:r>
            <a:endParaRPr lang="en-US" sz="1000" dirty="0"/>
          </a:p>
        </p:txBody>
      </p:sp>
      <p:sp>
        <p:nvSpPr>
          <p:cNvPr id="3" name="Text 1"/>
          <p:cNvSpPr txBox="1"/>
          <p:nvPr/>
        </p:nvSpPr>
        <p:spPr>
          <a:xfrm>
            <a:off x="566928" y="640080"/>
            <a:ext cx="11057839" cy="960120"/>
          </a:xfrm>
          <a:prstGeom prst="rect">
            <a:avLst/>
          </a:prstGeom>
          <a:noFill/>
          <a:ln/>
        </p:spPr>
        <p:txBody>
          <a:bodyPr wrap="square" lIns="0" tIns="0" rIns="0" bIns="0" rtlCol="0" anchor="b"/>
          <a:lstStyle/>
          <a:p>
            <a:pPr indent="0" marL="0">
              <a:lnSpc>
                <a:spcPts val="2400"/>
              </a:lnSpc>
              <a:buNone/>
            </a:pPr>
            <a:r>
              <a:rPr lang="en-US" sz="2100" b="1" dirty="0">
                <a:solidFill>
                  <a:srgbClr val="FFFFFF"/>
                </a:solidFill>
                <a:latin typeface="Cambria" pitchFamily="34" charset="0"/>
                <a:ea typeface="Cambria" pitchFamily="34" charset="-122"/>
                <a:cs typeface="Cambria" pitchFamily="34" charset="-120"/>
              </a:rPr>
              <a:t>Start with the measurement, because every other decision depends on it</a:t>
            </a:r>
            <a:endParaRPr lang="en-US" sz="2100" dirty="0"/>
          </a:p>
        </p:txBody>
      </p:sp>
      <p:sp>
        <p:nvSpPr>
          <p:cNvPr id="4" name="Shape 2"/>
          <p:cNvSpPr/>
          <p:nvPr/>
        </p:nvSpPr>
        <p:spPr>
          <a:xfrm>
            <a:off x="566928" y="1920240"/>
            <a:ext cx="3478682" cy="2084832"/>
          </a:xfrm>
          <a:prstGeom prst="roundRect">
            <a:avLst>
              <a:gd name="adj" fmla="val 2632"/>
            </a:avLst>
          </a:prstGeom>
          <a:solidFill>
            <a:srgbClr val="1B5F47"/>
          </a:solidFill>
          <a:ln w="12700">
            <a:solidFill>
              <a:srgbClr val="3C8A6B"/>
            </a:solidFill>
            <a:prstDash val="solid"/>
          </a:ln>
        </p:spPr>
      </p:sp>
      <p:sp>
        <p:nvSpPr>
          <p:cNvPr id="5" name="Text 3"/>
          <p:cNvSpPr txBox="1"/>
          <p:nvPr/>
        </p:nvSpPr>
        <p:spPr>
          <a:xfrm>
            <a:off x="786384" y="2103120"/>
            <a:ext cx="3039770" cy="219456"/>
          </a:xfrm>
          <a:prstGeom prst="rect">
            <a:avLst/>
          </a:prstGeom>
          <a:noFill/>
          <a:ln/>
        </p:spPr>
        <p:txBody>
          <a:bodyPr wrap="square" lIns="0" tIns="0" rIns="0" bIns="0" rtlCol="0" anchor="ctr"/>
          <a:lstStyle/>
          <a:p>
            <a:pPr indent="0" marL="0">
              <a:buNone/>
            </a:pPr>
            <a:r>
              <a:rPr lang="en-US" sz="850" b="1" spc="120" kern="0" dirty="0">
                <a:solidFill>
                  <a:srgbClr val="AEDCC3"/>
                </a:solidFill>
                <a:latin typeface="Calibri" pitchFamily="34" charset="0"/>
                <a:ea typeface="Calibri" pitchFamily="34" charset="-122"/>
                <a:cs typeface="Calibri" pitchFamily="34" charset="-120"/>
              </a:rPr>
              <a:t>NOW</a:t>
            </a:r>
            <a:endParaRPr lang="en-US" sz="850" dirty="0"/>
          </a:p>
        </p:txBody>
      </p:sp>
      <p:sp>
        <p:nvSpPr>
          <p:cNvPr id="6" name="Text 4"/>
          <p:cNvSpPr txBox="1"/>
          <p:nvPr/>
        </p:nvSpPr>
        <p:spPr>
          <a:xfrm>
            <a:off x="786384" y="2395728"/>
            <a:ext cx="3039770"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Measure</a:t>
            </a:r>
            <a:endParaRPr lang="en-US" sz="2200" dirty="0"/>
          </a:p>
        </p:txBody>
      </p:sp>
      <p:sp>
        <p:nvSpPr>
          <p:cNvPr id="7" name="Text 5"/>
          <p:cNvSpPr txBox="1"/>
          <p:nvPr/>
        </p:nvSpPr>
        <p:spPr>
          <a:xfrm>
            <a:off x="786384" y="2871216"/>
            <a:ext cx="3039770" cy="1024128"/>
          </a:xfrm>
          <a:prstGeom prst="rect">
            <a:avLst/>
          </a:prstGeom>
          <a:noFill/>
          <a:ln/>
        </p:spPr>
        <p:txBody>
          <a:bodyPr wrap="square" lIns="0" tIns="0" rIns="0" bIns="0" rtlCol="0" anchor="t"/>
          <a:lstStyle/>
          <a:p>
            <a:pPr indent="0" marL="0">
              <a:lnSpc>
                <a:spcPts val="1400"/>
              </a:lnSpc>
              <a:buNone/>
            </a:pPr>
            <a:r>
              <a:rPr lang="en-US" sz="1050" dirty="0">
                <a:solidFill>
                  <a:srgbClr val="DCEBE3"/>
                </a:solidFill>
                <a:latin typeface="Calibri" pitchFamily="34" charset="0"/>
                <a:ea typeface="Calibri" pitchFamily="34" charset="-122"/>
                <a:cs typeface="Calibri" pitchFamily="34" charset="-120"/>
              </a:rPr>
              <a:t>Set a counter yield metric and baseline it across the estate. No capital, no vendor, no change in store. It also closes the disclosure gap against Tesco.</a:t>
            </a:r>
            <a:endParaRPr lang="en-US" sz="1050" dirty="0"/>
          </a:p>
        </p:txBody>
      </p:sp>
      <p:sp>
        <p:nvSpPr>
          <p:cNvPr id="8" name="Shape 6"/>
          <p:cNvSpPr/>
          <p:nvPr/>
        </p:nvSpPr>
        <p:spPr>
          <a:xfrm>
            <a:off x="4356506" y="1920240"/>
            <a:ext cx="3478682" cy="2084832"/>
          </a:xfrm>
          <a:prstGeom prst="roundRect">
            <a:avLst>
              <a:gd name="adj" fmla="val 2632"/>
            </a:avLst>
          </a:prstGeom>
          <a:solidFill>
            <a:srgbClr val="1B5F47"/>
          </a:solidFill>
          <a:ln w="12700">
            <a:solidFill>
              <a:srgbClr val="3C8A6B"/>
            </a:solidFill>
            <a:prstDash val="solid"/>
          </a:ln>
        </p:spPr>
      </p:sp>
      <p:sp>
        <p:nvSpPr>
          <p:cNvPr id="9" name="Text 7"/>
          <p:cNvSpPr txBox="1"/>
          <p:nvPr/>
        </p:nvSpPr>
        <p:spPr>
          <a:xfrm>
            <a:off x="4575962" y="2103120"/>
            <a:ext cx="3039770" cy="219456"/>
          </a:xfrm>
          <a:prstGeom prst="rect">
            <a:avLst/>
          </a:prstGeom>
          <a:noFill/>
          <a:ln/>
        </p:spPr>
        <p:txBody>
          <a:bodyPr wrap="square" lIns="0" tIns="0" rIns="0" bIns="0" rtlCol="0" anchor="ctr"/>
          <a:lstStyle/>
          <a:p>
            <a:pPr indent="0" marL="0">
              <a:buNone/>
            </a:pPr>
            <a:r>
              <a:rPr lang="en-US" sz="850" b="1" spc="120" kern="0" dirty="0">
                <a:solidFill>
                  <a:srgbClr val="AEDCC3"/>
                </a:solidFill>
                <a:latin typeface="Calibri" pitchFamily="34" charset="0"/>
                <a:ea typeface="Calibri" pitchFamily="34" charset="-122"/>
                <a:cs typeface="Calibri" pitchFamily="34" charset="-120"/>
              </a:rPr>
              <a:t>NEXT QUARTER</a:t>
            </a:r>
            <a:endParaRPr lang="en-US" sz="850" dirty="0"/>
          </a:p>
        </p:txBody>
      </p:sp>
      <p:sp>
        <p:nvSpPr>
          <p:cNvPr id="10" name="Text 8"/>
          <p:cNvSpPr txBox="1"/>
          <p:nvPr/>
        </p:nvSpPr>
        <p:spPr>
          <a:xfrm>
            <a:off x="4575962" y="2395728"/>
            <a:ext cx="3039770"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Pilot</a:t>
            </a:r>
            <a:endParaRPr lang="en-US" sz="2200" dirty="0"/>
          </a:p>
        </p:txBody>
      </p:sp>
      <p:sp>
        <p:nvSpPr>
          <p:cNvPr id="11" name="Text 9"/>
          <p:cNvSpPr txBox="1"/>
          <p:nvPr/>
        </p:nvSpPr>
        <p:spPr>
          <a:xfrm>
            <a:off x="4575962" y="2871216"/>
            <a:ext cx="3039770" cy="1024128"/>
          </a:xfrm>
          <a:prstGeom prst="rect">
            <a:avLst/>
          </a:prstGeom>
          <a:noFill/>
          <a:ln/>
        </p:spPr>
        <p:txBody>
          <a:bodyPr wrap="square" lIns="0" tIns="0" rIns="0" bIns="0" rtlCol="0" anchor="t"/>
          <a:lstStyle/>
          <a:p>
            <a:pPr indent="0" marL="0">
              <a:lnSpc>
                <a:spcPts val="1400"/>
              </a:lnSpc>
              <a:buNone/>
            </a:pPr>
            <a:r>
              <a:rPr lang="en-US" sz="1050" dirty="0">
                <a:solidFill>
                  <a:srgbClr val="DCEBE3"/>
                </a:solidFill>
                <a:latin typeface="Calibri" pitchFamily="34" charset="0"/>
                <a:ea typeface="Calibri" pitchFamily="34" charset="-122"/>
                <a:cs typeface="Calibri" pitchFamily="34" charset="-120"/>
              </a:rPr>
              <a:t>Stock logging, production planning and markdown optimisation in three stores against matched controls. Food-to-go built and trading in three contrasting catchments.</a:t>
            </a:r>
            <a:endParaRPr lang="en-US" sz="1050" dirty="0"/>
          </a:p>
        </p:txBody>
      </p:sp>
      <p:sp>
        <p:nvSpPr>
          <p:cNvPr id="12" name="Shape 10"/>
          <p:cNvSpPr/>
          <p:nvPr/>
        </p:nvSpPr>
        <p:spPr>
          <a:xfrm>
            <a:off x="8146085" y="1920240"/>
            <a:ext cx="3478682" cy="2084832"/>
          </a:xfrm>
          <a:prstGeom prst="roundRect">
            <a:avLst>
              <a:gd name="adj" fmla="val 2632"/>
            </a:avLst>
          </a:prstGeom>
          <a:solidFill>
            <a:srgbClr val="1B5F47"/>
          </a:solidFill>
          <a:ln w="12700">
            <a:solidFill>
              <a:srgbClr val="3C8A6B"/>
            </a:solidFill>
            <a:prstDash val="solid"/>
          </a:ln>
        </p:spPr>
      </p:sp>
      <p:sp>
        <p:nvSpPr>
          <p:cNvPr id="13" name="Text 11"/>
          <p:cNvSpPr txBox="1"/>
          <p:nvPr/>
        </p:nvSpPr>
        <p:spPr>
          <a:xfrm>
            <a:off x="8365541" y="2103120"/>
            <a:ext cx="3039770" cy="219456"/>
          </a:xfrm>
          <a:prstGeom prst="rect">
            <a:avLst/>
          </a:prstGeom>
          <a:noFill/>
          <a:ln/>
        </p:spPr>
        <p:txBody>
          <a:bodyPr wrap="square" lIns="0" tIns="0" rIns="0" bIns="0" rtlCol="0" anchor="ctr"/>
          <a:lstStyle/>
          <a:p>
            <a:pPr indent="0" marL="0">
              <a:buNone/>
            </a:pPr>
            <a:r>
              <a:rPr lang="en-US" sz="850" b="1" spc="120" kern="0" dirty="0">
                <a:solidFill>
                  <a:srgbClr val="AEDCC3"/>
                </a:solidFill>
                <a:latin typeface="Calibri" pitchFamily="34" charset="0"/>
                <a:ea typeface="Calibri" pitchFamily="34" charset="-122"/>
                <a:cs typeface="Calibri" pitchFamily="34" charset="-120"/>
              </a:rPr>
              <a:t>ON THE RESULT</a:t>
            </a:r>
            <a:endParaRPr lang="en-US" sz="850" dirty="0"/>
          </a:p>
        </p:txBody>
      </p:sp>
      <p:sp>
        <p:nvSpPr>
          <p:cNvPr id="14" name="Text 12"/>
          <p:cNvSpPr txBox="1"/>
          <p:nvPr/>
        </p:nvSpPr>
        <p:spPr>
          <a:xfrm>
            <a:off x="8365541" y="2395728"/>
            <a:ext cx="3039770"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Decide format</a:t>
            </a:r>
            <a:endParaRPr lang="en-US" sz="2200" dirty="0"/>
          </a:p>
        </p:txBody>
      </p:sp>
      <p:sp>
        <p:nvSpPr>
          <p:cNvPr id="15" name="Text 13"/>
          <p:cNvSpPr txBox="1"/>
          <p:nvPr/>
        </p:nvSpPr>
        <p:spPr>
          <a:xfrm>
            <a:off x="8365541" y="2871216"/>
            <a:ext cx="3039770" cy="1024128"/>
          </a:xfrm>
          <a:prstGeom prst="rect">
            <a:avLst/>
          </a:prstGeom>
          <a:noFill/>
          <a:ln/>
        </p:spPr>
        <p:txBody>
          <a:bodyPr wrap="square" lIns="0" tIns="0" rIns="0" bIns="0" rtlCol="0" anchor="t"/>
          <a:lstStyle/>
          <a:p>
            <a:pPr indent="0" marL="0">
              <a:lnSpc>
                <a:spcPts val="1400"/>
              </a:lnSpc>
              <a:buNone/>
            </a:pPr>
            <a:r>
              <a:rPr lang="en-US" sz="1050" dirty="0">
                <a:solidFill>
                  <a:srgbClr val="DCEBE3"/>
                </a:solidFill>
                <a:latin typeface="Calibri" pitchFamily="34" charset="0"/>
                <a:ea typeface="Calibri" pitchFamily="34" charset="-122"/>
                <a:cs typeface="Calibri" pitchFamily="34" charset="-120"/>
              </a:rPr>
              <a:t>Apply the format framework across the estate using real yield data. Test it backwards against the 2025 closures and the 2026 reversal.</a:t>
            </a:r>
            <a:endParaRPr lang="en-US" sz="1050" dirty="0"/>
          </a:p>
        </p:txBody>
      </p:sp>
      <p:sp>
        <p:nvSpPr>
          <p:cNvPr id="16" name="Text 14"/>
          <p:cNvSpPr txBox="1"/>
          <p:nvPr/>
        </p:nvSpPr>
        <p:spPr>
          <a:xfrm>
            <a:off x="566928" y="4389120"/>
            <a:ext cx="9777679" cy="822960"/>
          </a:xfrm>
          <a:prstGeom prst="rect">
            <a:avLst/>
          </a:prstGeom>
          <a:noFill/>
          <a:ln/>
        </p:spPr>
        <p:txBody>
          <a:bodyPr wrap="square" lIns="0" tIns="0" rIns="0" bIns="0" rtlCol="0" anchor="ctr"/>
          <a:lstStyle/>
          <a:p>
            <a:pPr indent="0" marL="0">
              <a:lnSpc>
                <a:spcPts val="2100"/>
              </a:lnSpc>
              <a:buNone/>
            </a:pPr>
            <a:r>
              <a:rPr lang="en-US" sz="1500" i="1" dirty="0">
                <a:solidFill>
                  <a:srgbClr val="FFFFFF"/>
                </a:solidFill>
                <a:latin typeface="Cambria" pitchFamily="34" charset="0"/>
                <a:ea typeface="Cambria" pitchFamily="34" charset="-122"/>
                <a:cs typeface="Cambria" pitchFamily="34" charset="-120"/>
              </a:rPr>
              <a:t>Market Street is the only staffed fresh-counter estate left in mainstream UK grocery, and Morrisons has now said twice that it matters. Whether to keep it is settled. Whether Morrisons can show, store by store, that it works is not, and today it cannot.</a:t>
            </a:r>
            <a:endParaRPr lang="en-US" sz="1500" dirty="0"/>
          </a:p>
        </p:txBody>
      </p:sp>
      <p:sp>
        <p:nvSpPr>
          <p:cNvPr id="17" name="Text 15"/>
          <p:cNvSpPr txBox="1"/>
          <p:nvPr/>
        </p:nvSpPr>
        <p:spPr>
          <a:xfrm>
            <a:off x="566928" y="5797296"/>
            <a:ext cx="8412480" cy="457200"/>
          </a:xfrm>
          <a:prstGeom prst="rect">
            <a:avLst/>
          </a:prstGeom>
          <a:noFill/>
          <a:ln/>
        </p:spPr>
        <p:txBody>
          <a:bodyPr wrap="square" lIns="0" tIns="0" rIns="0" bIns="0" rtlCol="0" anchor="ctr"/>
          <a:lstStyle/>
          <a:p>
            <a:pPr indent="0" marL="0">
              <a:lnSpc>
                <a:spcPts val="1200"/>
              </a:lnSpc>
              <a:buNone/>
            </a:pPr>
            <a:r>
              <a:rPr lang="en-US" sz="850" dirty="0">
                <a:solidFill>
                  <a:srgbClr val="7FA893"/>
                </a:solidFill>
                <a:latin typeface="Calibri" pitchFamily="34" charset="0"/>
                <a:ea typeface="Calibri" pitchFamily="34" charset="-122"/>
                <a:cs typeface="Calibri" pitchFamily="34" charset="-120"/>
              </a:rPr>
              <a:t>Independent analysis. Not affiliated with or endorsed by Wm Morrison Supermarkets Limited. Built from publicly available information and personal professional observations. No confidential company information is used.</a:t>
            </a:r>
            <a:endParaRPr lang="en-US" sz="850" dirty="0"/>
          </a:p>
        </p:txBody>
      </p:sp>
      <p:sp>
        <p:nvSpPr>
          <p:cNvPr id="18" name="Text 16"/>
          <p:cNvSpPr txBox="1"/>
          <p:nvPr/>
        </p:nvSpPr>
        <p:spPr>
          <a:xfrm>
            <a:off x="11259007" y="6382512"/>
            <a:ext cx="365760" cy="237744"/>
          </a:xfrm>
          <a:prstGeom prst="rect">
            <a:avLst/>
          </a:prstGeom>
          <a:noFill/>
          <a:ln/>
        </p:spPr>
        <p:txBody>
          <a:bodyPr wrap="square" lIns="0" tIns="0" rIns="0" bIns="0" rtlCol="0" anchor="ctr"/>
          <a:lstStyle/>
          <a:p>
            <a:pPr algn="r" indent="0" marL="0">
              <a:buNone/>
            </a:pPr>
            <a:r>
              <a:rPr lang="en-US" sz="850" dirty="0">
                <a:solidFill>
                  <a:srgbClr val="7FA893"/>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Morrisons Market Street — Independent Strategy &amp; Operations Review</dc:title>
  <dc:subject>PptxGenJS Presentation</dc:subject>
  <dc:creator>Zak Whatmough</dc:creator>
  <cp:lastModifiedBy>Zak Whatmough</cp:lastModifiedBy>
  <cp:revision>1</cp:revision>
  <dcterms:created xsi:type="dcterms:W3CDTF">2026-08-31T17:18:42Z</dcterms:created>
  <dcterms:modified xsi:type="dcterms:W3CDTF">2026-08-31T17:18:42Z</dcterms:modified>
</cp:coreProperties>
</file>